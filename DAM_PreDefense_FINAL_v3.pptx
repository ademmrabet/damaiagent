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Title (0:00 to 0:40)
Good morning, everyone. My name is Adem Mrabet, and I am a student at Polytech International.
Imagine you are a new employee at the African Development Bank. You need to know who has to approve a mission program. The answer sits in a document of 79 pages. Now imagine you type your question, and two seconds later you get the answer, with its source.
That is what I built during my internship: an AI agent that turns the Bank's Delegation of Authority Matrix into instant, trustworthy answers.
I will follow the six phases of CRISP-DM, and you will see the product live. Let's start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The problem (0:40 to 1:30)
The Delegation of Authority Matrix, or DAM, says for every task who initiates it, who approves it, who checks it, and who must be informed.
[Point to the three cards.]
The questions are simple, but the answers are buried in a dense 79-page table. People scroll, follow footnotes, and ask colleagues, who sometimes guess. And a wrong answer has a price: if someone thinks they can approve something and they cannot, that is a governance and compliance risk.
You may think: why not ChatGPT? Because a generic chatbot invents roles that sound right. In a bank, "sounds right" is not good enough. So the challenge was to build an assistant that never says something the document does not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Objectives (1:30 to 2:05)
Three goals. Precise: every answer traces back to a task in the matrix. Instant: natural language, typos, and four languages, French, Spanish, Portuguese and Arabic. Trusted: if the question is outside the document, the agent says so.
Success means the right role, the right level, the right footnote. Not a demo that sounds smart, but an assistant a Bank employee can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Data understanding (2:05 to 2:55)
The matrix is a PDF. After parsing, it contains 327 nodes: chapters, processes, tasks, child tasks and threshold variants. Add the 132 distinct roles, and the graph has 459 vertices and 2,108 relationships.
It was harder than it looks. In the PDF, a footnote is a small superscript next to a level number. Extract the text normally and the footnote "1" next to the level "2" becomes "21". Nothing warns you. Rows are also split across pages, and tasks point to each other, like "see 1.117.2".
Dirty data in, wrong answer out. Most of the real work was on the data, not on the AI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Data preparation (2:55 to 4:10)
Four steps turn the PDF into a clean knowledge base.
One: I read characters, not words. The library pdfplumber gives the size and position of every character, so I can tell a footnote from a level.
Two: I rebuild the rows and group them into one block per task.
Three: every task is validated with Pydantic, a typed contract between the parser and the rest of the system. Wrong data fails loudly.
Four: I cache the result. On the free hosting tier, parsing the PDF at every start ran out of memory, so I parse once at build time.
Each tool was chosen for one reason, not because it was popular.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Modeling, the graph and retrieval (4:10 to 5:25)
The nodes and roles are stored in a graph with NetworkX. A role is linked to a task, and the link carries the action code and the level. One role can act on a task in several ways, so I use a multi-graph with parallel links.
A question has three possible outcomes. [Point to the cards.]
Exact: an id like 2.126 is resolved with certainty.
Semantic: if you describe the task, TF-IDF finds it. I chose it over embeddings because titles are short and keyword-rich, it needs no GPU and no labelled data, and I can explain every score.
Honest: if the id does not exist, the agent says so.
Typos are corrected by a deterministic method, so it works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Modeling, grounded AI (5:25 to 6:25)
This slide answers: why should we trust it?
The language model never reads the whole document. It receives only the facts of the retrieved task, with a strict prompt and a low temperature: it may rephrase, it may not add a role.
Then a grounding check compares the answer with the facts. If an expected role is missing, I discard the answer and return a deterministic template. So the user always gets a correct answer, even if the model is down.
One honest limit: the check verifies that required roles are present. It does not yet detect an added role. That is my first improvement.
The system is hybrid: Groq in the cloud by default, Ollama locally when data must not leave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Live demo (6:25 to 11:25), one run, 5:00 maximum
## 0:00 to 0:35 Landing and login
[Landing page. Let the animation play two seconds.]
"This is the application. The landing page has two entry points: the Chat, where you ask questions, and the Dashboard, where you see the matrix at a glance."
[Click the Chat card. The login page appears.]
"Both are protected, because this tool is for Bank staff. I can sign in with email, or with Google, or Microsoft."
[Sign in. The chat opens.]
"I am in. Conversations are saved to my account, and the LLM mode is on Auto."
## 0:35 to 1:25 Exact question
[Type `who approves 2.126`, press Enter.]
"First question: who approves task 2.126?"
[Answer appears. Move the cursor over the approver, then over the Check/Verify and informed lines.]
"The agent names the approver. And look: it also tells me who must check and verify, and who must be informed. In the matrix, those steps are mandatory, so the agent shows them every time, even if I only asked about the approver. A new employee is never told half of the obligations."
## 1:25 to 2:00 Natural language
[Type `who needs to be informed for quarterly mission program`.]
"Now I do not give any id. I just describe the task."
[Answer appears.]
"Same task, found from its name. The agent understands what I describe, not only the codes I type."
## 2:00 to 2:30 Typos
[Type `who aproves the qaurterly mision program`.]
"Now with two typos."
[Answer appears.]
"Same correct answer. The correction is deterministic, based on the matrix's own vocabulary, so it works even offline."
## 2:30 to 3:05 French
[Type the French question. Show the language badge and the interface change.]
"And now in French. The answer comes in French, and the whole interface follows the language I write in. The role names are never translated, because they are official titles."
## 3:05 to 3:50 Follow-up and redirect
[Type `who approves of Communication with Co-Financiers of projects`. Then, without naming the subject: `and who are the informed parties?`]
"I ask about another task, and then I ask a follow-up without repeating the subject. The agent remembers what we were talking about, like a person would."
[Type `who initiates 1.117.2`.]
"This task contains only a pointer: 'see 2.120'. The agent follows the reference for me, like flipping to another page in the paper matrix."
## 3:50 to 4:10 Honest refusal
[Type `what happens with 9.999.999`. Pause two seconds on the refusal.]
"Last question: an id that does not exist. The agent refuses. It does not guess. This refusal is a feature, not a failure: every real answer must come from a real row of the matrix."
## 4:10 to 4:35 Sharing and voice
[Click Share, show the QR code. Close it. Click the mic, ask a short question, then click speak-aloud on the answer.]
"The platform is built for a team. I can share a conversation with a colleague through a QR code, and they are notified live. I can also ask by voice and hear the answer."
## 4:35 to 5:00 Dashboard
[Go back to the landing page, click the Dashboard card. If login appears again, sign in. Pick a chapter, then click an action bar.]
"Back to the landing page, now the Dashboard, with the same protection. I filter by chapter, and I click an action code to see which roles perform it most. That is the whole matrix at a glance."
Bridge: "So we have a working product. How do I know it is correct? Let's look at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Evaluation (11:25 to 12:55)
How do I know it works? I have 137 automated tests covering the parser, the graph, the agent, authentication and the API.
But I will be clear: 137 tests measure code quality, not answer accuracy.
What taught me the most were real bugs found by testing real questions. [Point to the table, pick two.] An invalid code was matching an unrelated task, and now it returns an explicit invalid-id result. Questions about action codes were swallowed by my follow-up logic, so I now check the intent first. Every bug became a regression test.
The next step is a benchmark: questions with expected roles, to give a precision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Deployment (12:55 to 13:40)
Everything is containerized with Docker. In the cloud: FastAPI, React, Postgres on Neon, and S3-compatible file storage. Security: hashed passwords, tokens, rate-limited login, Google and Microsoft sign-in.
One honest remark: rate limiting and live notifications work per process today. For several servers, I would move them to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Conclusion (13:40 to 14:25)
What did the Bank get? A live, tested product in four languages. What is missing? A precision benchmark and a stronger grounding check. What comes next? Other Bank matrices, and a scalable setup.
Seconds instead of minutes. Sources instead of guesses.
Thank you for your attention.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B3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DAM AI Agent · technical defense</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098280" y="1508760"/>
            <a:ext cx="1920240" cy="640080"/>
          </a:xfrm>
          <a:prstGeom prst="line">
            <a:avLst/>
          </a:prstGeom>
          <a:noFill/>
          <a:ln w="19050">
            <a:solidFill>
              <a:srgbClr val="2A7F77"/>
            </a:solidFill>
            <a:prstDash val="solid"/>
          </a:ln>
        </p:spPr>
      </p:sp>
      <p:sp>
        <p:nvSpPr>
          <p:cNvPr id="3" name="Shape 1"/>
          <p:cNvSpPr/>
          <p:nvPr/>
        </p:nvSpPr>
        <p:spPr>
          <a:xfrm>
            <a:off x="9098280" y="1508760"/>
            <a:ext cx="822960" cy="2103120"/>
          </a:xfrm>
          <a:prstGeom prst="line">
            <a:avLst/>
          </a:prstGeom>
          <a:noFill/>
          <a:ln w="19050">
            <a:solidFill>
              <a:srgbClr val="2A7F77"/>
            </a:solidFill>
            <a:prstDash val="solid"/>
          </a:ln>
        </p:spPr>
      </p:sp>
      <p:sp>
        <p:nvSpPr>
          <p:cNvPr id="4" name="Shape 2"/>
          <p:cNvSpPr/>
          <p:nvPr/>
        </p:nvSpPr>
        <p:spPr>
          <a:xfrm flipV="1">
            <a:off x="9921240" y="2148840"/>
            <a:ext cx="1097280" cy="1463040"/>
          </a:xfrm>
          <a:prstGeom prst="line">
            <a:avLst/>
          </a:prstGeom>
          <a:noFill/>
          <a:ln w="19050">
            <a:solidFill>
              <a:srgbClr val="2A7F77"/>
            </a:solidFill>
            <a:prstDash val="solid"/>
          </a:ln>
        </p:spPr>
      </p:sp>
      <p:sp>
        <p:nvSpPr>
          <p:cNvPr id="5" name="Shape 3"/>
          <p:cNvSpPr/>
          <p:nvPr/>
        </p:nvSpPr>
        <p:spPr>
          <a:xfrm>
            <a:off x="9921240" y="3611880"/>
            <a:ext cx="1508760" cy="777240"/>
          </a:xfrm>
          <a:prstGeom prst="line">
            <a:avLst/>
          </a:prstGeom>
          <a:noFill/>
          <a:ln w="19050">
            <a:solidFill>
              <a:srgbClr val="2A7F77"/>
            </a:solidFill>
            <a:prstDash val="solid"/>
          </a:ln>
        </p:spPr>
      </p:sp>
      <p:sp>
        <p:nvSpPr>
          <p:cNvPr id="6" name="Shape 4"/>
          <p:cNvSpPr/>
          <p:nvPr/>
        </p:nvSpPr>
        <p:spPr>
          <a:xfrm flipV="1">
            <a:off x="8755380" y="3611880"/>
            <a:ext cx="1165860" cy="1577340"/>
          </a:xfrm>
          <a:prstGeom prst="line">
            <a:avLst/>
          </a:prstGeom>
          <a:noFill/>
          <a:ln w="19050">
            <a:solidFill>
              <a:srgbClr val="2A7F77"/>
            </a:solidFill>
            <a:prstDash val="solid"/>
          </a:ln>
        </p:spPr>
      </p:sp>
      <p:sp>
        <p:nvSpPr>
          <p:cNvPr id="7" name="Shape 5"/>
          <p:cNvSpPr/>
          <p:nvPr/>
        </p:nvSpPr>
        <p:spPr>
          <a:xfrm>
            <a:off x="9921240" y="3611880"/>
            <a:ext cx="754380" cy="2125980"/>
          </a:xfrm>
          <a:prstGeom prst="line">
            <a:avLst/>
          </a:prstGeom>
          <a:noFill/>
          <a:ln w="19050">
            <a:solidFill>
              <a:srgbClr val="2A7F77"/>
            </a:solidFill>
            <a:prstDash val="solid"/>
          </a:ln>
        </p:spPr>
      </p:sp>
      <p:sp>
        <p:nvSpPr>
          <p:cNvPr id="8" name="Shape 6"/>
          <p:cNvSpPr/>
          <p:nvPr/>
        </p:nvSpPr>
        <p:spPr>
          <a:xfrm flipV="1">
            <a:off x="10675620" y="4389120"/>
            <a:ext cx="754380" cy="1348740"/>
          </a:xfrm>
          <a:prstGeom prst="line">
            <a:avLst/>
          </a:prstGeom>
          <a:noFill/>
          <a:ln w="19050">
            <a:solidFill>
              <a:srgbClr val="2A7F77"/>
            </a:solidFill>
            <a:prstDash val="solid"/>
          </a:ln>
        </p:spPr>
      </p:sp>
      <p:sp>
        <p:nvSpPr>
          <p:cNvPr id="9" name="Shape 7"/>
          <p:cNvSpPr/>
          <p:nvPr/>
        </p:nvSpPr>
        <p:spPr>
          <a:xfrm>
            <a:off x="8755380" y="5189220"/>
            <a:ext cx="1920240" cy="548640"/>
          </a:xfrm>
          <a:prstGeom prst="line">
            <a:avLst/>
          </a:prstGeom>
          <a:noFill/>
          <a:ln w="19050">
            <a:solidFill>
              <a:srgbClr val="2A7F77"/>
            </a:solidFill>
            <a:prstDash val="solid"/>
          </a:ln>
        </p:spPr>
      </p:sp>
      <p:sp>
        <p:nvSpPr>
          <p:cNvPr id="10" name="Shape 8"/>
          <p:cNvSpPr/>
          <p:nvPr/>
        </p:nvSpPr>
        <p:spPr>
          <a:xfrm>
            <a:off x="8778240" y="1188720"/>
            <a:ext cx="640080" cy="640080"/>
          </a:xfrm>
          <a:prstGeom prst="ellipse">
            <a:avLst/>
          </a:prstGeom>
          <a:solidFill>
            <a:srgbClr val="E8A33D"/>
          </a:solidFill>
          <a:ln w="12700">
            <a:solidFill>
              <a:srgbClr val="E8A33D"/>
            </a:solidFill>
            <a:prstDash val="solid"/>
          </a:ln>
        </p:spPr>
      </p:sp>
      <p:sp>
        <p:nvSpPr>
          <p:cNvPr id="11" name="Shape 9"/>
          <p:cNvSpPr/>
          <p:nvPr/>
        </p:nvSpPr>
        <p:spPr>
          <a:xfrm>
            <a:off x="10789920" y="1920240"/>
            <a:ext cx="457200" cy="457200"/>
          </a:xfrm>
          <a:prstGeom prst="ellipse">
            <a:avLst/>
          </a:prstGeom>
          <a:solidFill>
            <a:srgbClr val="9DC3BD"/>
          </a:solidFill>
          <a:ln w="12700">
            <a:solidFill>
              <a:srgbClr val="9DC3BD"/>
            </a:solidFill>
            <a:prstDash val="solid"/>
          </a:ln>
        </p:spPr>
      </p:sp>
      <p:sp>
        <p:nvSpPr>
          <p:cNvPr id="12" name="Shape 10"/>
          <p:cNvSpPr/>
          <p:nvPr/>
        </p:nvSpPr>
        <p:spPr>
          <a:xfrm>
            <a:off x="9509760" y="3200400"/>
            <a:ext cx="822960" cy="822960"/>
          </a:xfrm>
          <a:prstGeom prst="ellipse">
            <a:avLst/>
          </a:prstGeom>
          <a:solidFill>
            <a:srgbClr val="2A7F77"/>
          </a:solidFill>
          <a:ln w="12700">
            <a:solidFill>
              <a:srgbClr val="2A7F77"/>
            </a:solidFill>
            <a:prstDash val="solid"/>
          </a:ln>
        </p:spPr>
      </p:sp>
      <p:sp>
        <p:nvSpPr>
          <p:cNvPr id="13" name="Shape 11"/>
          <p:cNvSpPr/>
          <p:nvPr/>
        </p:nvSpPr>
        <p:spPr>
          <a:xfrm>
            <a:off x="11155680" y="4114800"/>
            <a:ext cx="548640" cy="548640"/>
          </a:xfrm>
          <a:prstGeom prst="ellipse">
            <a:avLst/>
          </a:prstGeom>
          <a:solidFill>
            <a:srgbClr val="E8A33D"/>
          </a:solidFill>
          <a:ln w="12700">
            <a:solidFill>
              <a:srgbClr val="E8A33D"/>
            </a:solidFill>
            <a:prstDash val="solid"/>
          </a:ln>
        </p:spPr>
      </p:sp>
      <p:sp>
        <p:nvSpPr>
          <p:cNvPr id="14" name="Shape 12"/>
          <p:cNvSpPr/>
          <p:nvPr/>
        </p:nvSpPr>
        <p:spPr>
          <a:xfrm>
            <a:off x="8503920" y="4937760"/>
            <a:ext cx="502920" cy="502920"/>
          </a:xfrm>
          <a:prstGeom prst="ellipse">
            <a:avLst/>
          </a:prstGeom>
          <a:solidFill>
            <a:srgbClr val="9DC3BD"/>
          </a:solidFill>
          <a:ln w="12700">
            <a:solidFill>
              <a:srgbClr val="9DC3BD"/>
            </a:solidFill>
            <a:prstDash val="solid"/>
          </a:ln>
        </p:spPr>
      </p:sp>
      <p:sp>
        <p:nvSpPr>
          <p:cNvPr id="15" name="Shape 13"/>
          <p:cNvSpPr/>
          <p:nvPr/>
        </p:nvSpPr>
        <p:spPr>
          <a:xfrm>
            <a:off x="10332720" y="5394960"/>
            <a:ext cx="685800" cy="685800"/>
          </a:xfrm>
          <a:prstGeom prst="ellipse">
            <a:avLst/>
          </a:prstGeom>
          <a:solidFill>
            <a:srgbClr val="2A7F77"/>
          </a:solidFill>
          <a:ln w="12700">
            <a:solidFill>
              <a:srgbClr val="2A7F77"/>
            </a:solidFill>
            <a:prstDash val="solid"/>
          </a:ln>
        </p:spPr>
      </p:sp>
      <p:sp>
        <p:nvSpPr>
          <p:cNvPr id="16" name="Text 14"/>
          <p:cNvSpPr txBox="1"/>
          <p:nvPr/>
        </p:nvSpPr>
        <p:spPr>
          <a:xfrm>
            <a:off x="731520" y="914400"/>
            <a:ext cx="6400800" cy="365760"/>
          </a:xfrm>
          <a:prstGeom prst="rect">
            <a:avLst/>
          </a:prstGeom>
          <a:noFill/>
          <a:ln/>
        </p:spPr>
        <p:txBody>
          <a:bodyPr wrap="square" lIns="0" tIns="0" rIns="0" bIns="0" rtlCol="0" anchor="t"/>
          <a:lstStyle/>
          <a:p>
            <a:pPr indent="0" marL="0">
              <a:buNone/>
            </a:pPr>
            <a:r>
              <a:rPr lang="en-US" sz="1400" b="1" spc="400" kern="0" dirty="0">
                <a:solidFill>
                  <a:srgbClr val="E8A33D"/>
                </a:solidFill>
                <a:latin typeface="Calibri" pitchFamily="34" charset="0"/>
                <a:ea typeface="Calibri" pitchFamily="34" charset="-122"/>
                <a:cs typeface="Calibri" pitchFamily="34" charset="-120"/>
              </a:rPr>
              <a:t>PRE-DEFENSE  ·  PFE 2026</a:t>
            </a:r>
            <a:endParaRPr lang="en-US" sz="1400" dirty="0"/>
          </a:p>
        </p:txBody>
      </p:sp>
      <p:sp>
        <p:nvSpPr>
          <p:cNvPr id="17" name="Text 15"/>
          <p:cNvSpPr txBox="1"/>
          <p:nvPr/>
        </p:nvSpPr>
        <p:spPr>
          <a:xfrm>
            <a:off x="731520" y="1554480"/>
            <a:ext cx="7315200" cy="256032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Ask the DAM.</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Get the answer.</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With proof.</a:t>
            </a:r>
            <a:endParaRPr lang="en-US" sz="5400" dirty="0"/>
          </a:p>
        </p:txBody>
      </p:sp>
      <p:sp>
        <p:nvSpPr>
          <p:cNvPr id="18" name="Text 16"/>
          <p:cNvSpPr txBox="1"/>
          <p:nvPr/>
        </p:nvSpPr>
        <p:spPr>
          <a:xfrm>
            <a:off x="731520" y="4297680"/>
            <a:ext cx="6949440" cy="822960"/>
          </a:xfrm>
          <a:prstGeom prst="rect">
            <a:avLst/>
          </a:prstGeom>
          <a:noFill/>
          <a:ln/>
        </p:spPr>
        <p:txBody>
          <a:bodyPr wrap="square" lIns="0" tIns="0" rIns="0" bIns="0" rtlCol="0" anchor="t"/>
          <a:lstStyle/>
          <a:p>
            <a:pPr indent="0" marL="0">
              <a:buNone/>
            </a:pPr>
            <a:r>
              <a:rPr lang="en-US" sz="1800" dirty="0">
                <a:solidFill>
                  <a:srgbClr val="9DC3BD"/>
                </a:solidFill>
                <a:latin typeface="Calibri" pitchFamily="34" charset="0"/>
                <a:ea typeface="Calibri" pitchFamily="34" charset="-122"/>
                <a:cs typeface="Calibri" pitchFamily="34" charset="-120"/>
              </a:rPr>
              <a:t>An AI agent that turns the African Development Bank's Delegation of Authority Matrix into instant, grounded answers</a:t>
            </a:r>
            <a:endParaRPr lang="en-US" sz="1800" dirty="0"/>
          </a:p>
        </p:txBody>
      </p:sp>
      <p:sp>
        <p:nvSpPr>
          <p:cNvPr id="19" name="Text 17"/>
          <p:cNvSpPr txBox="1"/>
          <p:nvPr/>
        </p:nvSpPr>
        <p:spPr>
          <a:xfrm>
            <a:off x="731520" y="5760720"/>
            <a:ext cx="73152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Adem Mrabet  ·  Polytech Intl  ·  Supervisor: [name]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79-page matrix nobody can search</a:t>
            </a:r>
            <a:endParaRPr lang="en-US" sz="3400" dirty="0"/>
          </a:p>
        </p:txBody>
      </p:sp>
      <p:sp>
        <p:nvSpPr>
          <p:cNvPr id="3" name="Shape 1"/>
          <p:cNvSpPr/>
          <p:nvPr/>
        </p:nvSpPr>
        <p:spPr>
          <a:xfrm>
            <a:off x="4572000" y="6373368"/>
            <a:ext cx="1005840" cy="237744"/>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3520440" cy="3566160"/>
          </a:xfrm>
          <a:prstGeom prst="roundRect">
            <a:avLst>
              <a:gd name="adj" fmla="val 2078"/>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16" name="Image 0" descr="preencoded.png">    </p:cNvPr>
          <p:cNvPicPr>
            <a:picLocks noChangeAspect="1"/>
          </p:cNvPicPr>
          <p:nvPr/>
        </p:nvPicPr>
        <p:blipFill>
          <a:blip r:embed="rId1"/>
          <a:stretch>
            <a:fillRect/>
          </a:stretch>
        </p:blipFill>
        <p:spPr>
          <a:xfrm>
            <a:off x="822960" y="1828800"/>
            <a:ext cx="548640" cy="548640"/>
          </a:xfrm>
          <a:prstGeom prst="rect">
            <a:avLst/>
          </a:prstGeom>
        </p:spPr>
      </p:pic>
      <p:sp>
        <p:nvSpPr>
          <p:cNvPr id="17" name="Text 14"/>
          <p:cNvSpPr txBox="1"/>
          <p:nvPr/>
        </p:nvSpPr>
        <p:spPr>
          <a:xfrm>
            <a:off x="82296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Who approves? Who checks? Who must be informed?</a:t>
            </a:r>
            <a:endParaRPr lang="en-US" sz="2100" dirty="0"/>
          </a:p>
        </p:txBody>
      </p:sp>
      <p:sp>
        <p:nvSpPr>
          <p:cNvPr id="18" name="Text 15"/>
          <p:cNvSpPr txBox="1"/>
          <p:nvPr/>
        </p:nvSpPr>
        <p:spPr>
          <a:xfrm>
            <a:off x="82296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Every task in the DAM has an answer, but it is buried in a dense PDF table.</a:t>
            </a:r>
            <a:endParaRPr lang="en-US" sz="1500" dirty="0"/>
          </a:p>
        </p:txBody>
      </p:sp>
      <p:sp>
        <p:nvSpPr>
          <p:cNvPr id="19" name="card"/>
          <p:cNvSpPr/>
          <p:nvPr/>
        </p:nvSpPr>
        <p:spPr>
          <a:xfrm>
            <a:off x="4297680" y="1554480"/>
            <a:ext cx="3520440" cy="3566160"/>
          </a:xfrm>
          <a:prstGeom prst="roundRect">
            <a:avLst>
              <a:gd name="adj" fmla="val 2078"/>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20" name="Image 1" descr="preencoded.png">    </p:cNvPr>
          <p:cNvPicPr>
            <a:picLocks noChangeAspect="1"/>
          </p:cNvPicPr>
          <p:nvPr/>
        </p:nvPicPr>
        <p:blipFill>
          <a:blip r:embed="rId2"/>
          <a:stretch>
            <a:fillRect/>
          </a:stretch>
        </p:blipFill>
        <p:spPr>
          <a:xfrm>
            <a:off x="4572000" y="1828800"/>
            <a:ext cx="548640" cy="548640"/>
          </a:xfrm>
          <a:prstGeom prst="rect">
            <a:avLst/>
          </a:prstGeom>
        </p:spPr>
      </p:pic>
      <p:sp>
        <p:nvSpPr>
          <p:cNvPr id="21" name="Text 17"/>
          <p:cNvSpPr txBox="1"/>
          <p:nvPr/>
        </p:nvSpPr>
        <p:spPr>
          <a:xfrm>
            <a:off x="457200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Minutes lost, every time</a:t>
            </a:r>
            <a:endParaRPr lang="en-US" sz="2100" dirty="0"/>
          </a:p>
        </p:txBody>
      </p:sp>
      <p:sp>
        <p:nvSpPr>
          <p:cNvPr id="22" name="Text 18"/>
          <p:cNvSpPr txBox="1"/>
          <p:nvPr/>
        </p:nvSpPr>
        <p:spPr>
          <a:xfrm>
            <a:off x="457200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Staff scroll, cross-reference footnotes and ask colleagues, who may also guess.</a:t>
            </a:r>
            <a:endParaRPr lang="en-US" sz="1500" dirty="0"/>
          </a:p>
        </p:txBody>
      </p:sp>
      <p:sp>
        <p:nvSpPr>
          <p:cNvPr id="23" name="card"/>
          <p:cNvSpPr/>
          <p:nvPr/>
        </p:nvSpPr>
        <p:spPr>
          <a:xfrm>
            <a:off x="8046720" y="1554480"/>
            <a:ext cx="3520440" cy="3566160"/>
          </a:xfrm>
          <a:prstGeom prst="roundRect">
            <a:avLst>
              <a:gd name="adj" fmla="val 2078"/>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pic>
        <p:nvPicPr>
          <p:cNvPr id="24" name="Image 2" descr="preencoded.png">    </p:cNvPr>
          <p:cNvPicPr>
            <a:picLocks noChangeAspect="1"/>
          </p:cNvPicPr>
          <p:nvPr/>
        </p:nvPicPr>
        <p:blipFill>
          <a:blip r:embed="rId3"/>
          <a:stretch>
            <a:fillRect/>
          </a:stretch>
        </p:blipFill>
        <p:spPr>
          <a:xfrm>
            <a:off x="8321040" y="1828800"/>
            <a:ext cx="548640" cy="548640"/>
          </a:xfrm>
          <a:prstGeom prst="rect">
            <a:avLst/>
          </a:prstGeom>
        </p:spPr>
      </p:pic>
      <p:sp>
        <p:nvSpPr>
          <p:cNvPr id="25" name="Text 20"/>
          <p:cNvSpPr txBox="1"/>
          <p:nvPr/>
        </p:nvSpPr>
        <p:spPr>
          <a:xfrm>
            <a:off x="832104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A wrong answer has a price</a:t>
            </a:r>
            <a:endParaRPr lang="en-US" sz="2100" dirty="0"/>
          </a:p>
        </p:txBody>
      </p:sp>
      <p:sp>
        <p:nvSpPr>
          <p:cNvPr id="26" name="Text 21"/>
          <p:cNvSpPr txBox="1"/>
          <p:nvPr/>
        </p:nvSpPr>
        <p:spPr>
          <a:xfrm>
            <a:off x="832104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An unapproved decision is a governance and compliance risk for a development bank.</a:t>
            </a:r>
            <a:endParaRPr lang="en-US" sz="1500" dirty="0"/>
          </a:p>
        </p:txBody>
      </p:sp>
      <p:sp>
        <p:nvSpPr>
          <p:cNvPr id="27" name="Text 22"/>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800" i="1" dirty="0">
                <a:solidFill>
                  <a:srgbClr val="0F3B36"/>
                </a:solidFill>
                <a:latin typeface="Cambria" pitchFamily="34" charset="0"/>
                <a:ea typeface="Cambria" pitchFamily="34" charset="-122"/>
                <a:cs typeface="Cambria" pitchFamily="34" charset="-120"/>
              </a:rPr>
              <a:t>Generic chatbots cannot be the answer: they invent roles that sound right.</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Our promise, in three measurable goals</a:t>
            </a:r>
            <a:endParaRPr lang="en-US" sz="3400" dirty="0"/>
          </a:p>
        </p:txBody>
      </p:sp>
      <p:sp>
        <p:nvSpPr>
          <p:cNvPr id="3" name="Shape 1"/>
          <p:cNvSpPr/>
          <p:nvPr/>
        </p:nvSpPr>
        <p:spPr>
          <a:xfrm>
            <a:off x="4572000" y="6373368"/>
            <a:ext cx="1005840" cy="237744"/>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16" name="num-1"/>
          <p:cNvSpPr/>
          <p:nvPr/>
        </p:nvSpPr>
        <p:spPr>
          <a:xfrm>
            <a:off x="822960" y="1901952"/>
            <a:ext cx="548640" cy="548640"/>
          </a:xfrm>
          <a:prstGeom prst="ellipse">
            <a:avLst/>
          </a:prstGeom>
          <a:solidFill>
            <a:srgbClr val="2A7F77"/>
          </a:solidFill>
          <a:ln w="12700">
            <a:solidFill>
              <a:srgbClr val="2A7F77"/>
            </a:solidFill>
            <a:prstDash val="solid"/>
          </a:ln>
        </p:spPr>
      </p:sp>
      <p:sp>
        <p:nvSpPr>
          <p:cNvPr id="17" name="Text 15"/>
          <p:cNvSpPr txBox="1"/>
          <p:nvPr/>
        </p:nvSpPr>
        <p:spPr>
          <a:xfrm>
            <a:off x="822960" y="190195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6"/>
          <p:cNvSpPr txBox="1"/>
          <p:nvPr/>
        </p:nvSpPr>
        <p:spPr>
          <a:xfrm>
            <a:off x="1645920" y="171907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Precise</a:t>
            </a:r>
            <a:endParaRPr lang="en-US" sz="2200" dirty="0"/>
          </a:p>
        </p:txBody>
      </p:sp>
      <p:sp>
        <p:nvSpPr>
          <p:cNvPr id="19" name="Text 17"/>
          <p:cNvSpPr txBox="1"/>
          <p:nvPr/>
        </p:nvSpPr>
        <p:spPr>
          <a:xfrm>
            <a:off x="1645920" y="217627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Every answer traces to a node of the DAM. No source, no answer.</a:t>
            </a:r>
            <a:endParaRPr lang="en-US" sz="1500" dirty="0"/>
          </a:p>
        </p:txBody>
      </p:sp>
      <p:sp>
        <p:nvSpPr>
          <p:cNvPr id="20" name="card"/>
          <p:cNvSpPr/>
          <p:nvPr/>
        </p:nvSpPr>
        <p:spPr>
          <a:xfrm>
            <a:off x="548640" y="297180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1" name="num-2"/>
          <p:cNvSpPr/>
          <p:nvPr/>
        </p:nvSpPr>
        <p:spPr>
          <a:xfrm>
            <a:off x="822960" y="3319272"/>
            <a:ext cx="548640" cy="548640"/>
          </a:xfrm>
          <a:prstGeom prst="ellipse">
            <a:avLst/>
          </a:prstGeom>
          <a:solidFill>
            <a:srgbClr val="2A7F77"/>
          </a:solidFill>
          <a:ln w="12700">
            <a:solidFill>
              <a:srgbClr val="2A7F77"/>
            </a:solidFill>
            <a:prstDash val="solid"/>
          </a:ln>
        </p:spPr>
      </p:sp>
      <p:sp>
        <p:nvSpPr>
          <p:cNvPr id="22" name="Text 20"/>
          <p:cNvSpPr txBox="1"/>
          <p:nvPr/>
        </p:nvSpPr>
        <p:spPr>
          <a:xfrm>
            <a:off x="822960" y="331927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3" name="Text 21"/>
          <p:cNvSpPr txBox="1"/>
          <p:nvPr/>
        </p:nvSpPr>
        <p:spPr>
          <a:xfrm>
            <a:off x="1645920" y="313639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Instant</a:t>
            </a:r>
            <a:endParaRPr lang="en-US" sz="2200" dirty="0"/>
          </a:p>
        </p:txBody>
      </p:sp>
      <p:sp>
        <p:nvSpPr>
          <p:cNvPr id="24" name="Text 22"/>
          <p:cNvSpPr txBox="1"/>
          <p:nvPr/>
        </p:nvSpPr>
        <p:spPr>
          <a:xfrm>
            <a:off x="1645920" y="359359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Natural language, typos and four languages: French, Spanish, Portuguese, Arabic.</a:t>
            </a:r>
            <a:endParaRPr lang="en-US" sz="1500" dirty="0"/>
          </a:p>
        </p:txBody>
      </p:sp>
      <p:sp>
        <p:nvSpPr>
          <p:cNvPr id="25" name="card"/>
          <p:cNvSpPr/>
          <p:nvPr/>
        </p:nvSpPr>
        <p:spPr>
          <a:xfrm>
            <a:off x="548640" y="438912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6" name="num-3"/>
          <p:cNvSpPr/>
          <p:nvPr/>
        </p:nvSpPr>
        <p:spPr>
          <a:xfrm>
            <a:off x="822960" y="4736592"/>
            <a:ext cx="548640" cy="548640"/>
          </a:xfrm>
          <a:prstGeom prst="ellipse">
            <a:avLst/>
          </a:prstGeom>
          <a:solidFill>
            <a:srgbClr val="2A7F77"/>
          </a:solidFill>
          <a:ln w="12700">
            <a:solidFill>
              <a:srgbClr val="2A7F77"/>
            </a:solidFill>
            <a:prstDash val="solid"/>
          </a:ln>
        </p:spPr>
      </p:sp>
      <p:sp>
        <p:nvSpPr>
          <p:cNvPr id="27" name="Text 25"/>
          <p:cNvSpPr txBox="1"/>
          <p:nvPr/>
        </p:nvSpPr>
        <p:spPr>
          <a:xfrm>
            <a:off x="822960" y="473659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8" name="Text 26"/>
          <p:cNvSpPr txBox="1"/>
          <p:nvPr/>
        </p:nvSpPr>
        <p:spPr>
          <a:xfrm>
            <a:off x="1645920" y="455371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Trusted</a:t>
            </a:r>
            <a:endParaRPr lang="en-US" sz="2200" dirty="0"/>
          </a:p>
        </p:txBody>
      </p:sp>
      <p:sp>
        <p:nvSpPr>
          <p:cNvPr id="29" name="Text 27"/>
          <p:cNvSpPr txBox="1"/>
          <p:nvPr/>
        </p:nvSpPr>
        <p:spPr>
          <a:xfrm>
            <a:off x="1645920" y="501091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Honest refusal when the question is outside the document.</a:t>
            </a:r>
            <a:endParaRPr lang="en-US" sz="1500" dirty="0"/>
          </a:p>
        </p:txBody>
      </p:sp>
      <p:sp>
        <p:nvSpPr>
          <p:cNvPr id="30" name="card"/>
          <p:cNvSpPr/>
          <p:nvPr/>
        </p:nvSpPr>
        <p:spPr>
          <a:xfrm>
            <a:off x="8046720" y="1554480"/>
            <a:ext cx="3566160" cy="4069080"/>
          </a:xfrm>
          <a:prstGeom prst="roundRect">
            <a:avLst>
              <a:gd name="adj" fmla="val 205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31" name="Text 29"/>
          <p:cNvSpPr txBox="1"/>
          <p:nvPr/>
        </p:nvSpPr>
        <p:spPr>
          <a:xfrm>
            <a:off x="8321040" y="1783080"/>
            <a:ext cx="301752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Success looks like</a:t>
            </a:r>
            <a:endParaRPr lang="en-US" sz="1400" dirty="0"/>
          </a:p>
        </p:txBody>
      </p:sp>
      <p:sp>
        <p:nvSpPr>
          <p:cNvPr id="32" name="Text 30"/>
          <p:cNvSpPr txBox="1"/>
          <p:nvPr/>
        </p:nvSpPr>
        <p:spPr>
          <a:xfrm>
            <a:off x="8321040" y="2286000"/>
            <a:ext cx="3017520" cy="2011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Right role,</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right level,</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right footnote.</a:t>
            </a:r>
            <a:endParaRPr lang="en-US" sz="3000" dirty="0"/>
          </a:p>
        </p:txBody>
      </p:sp>
      <p:sp>
        <p:nvSpPr>
          <p:cNvPr id="33" name="Text 31"/>
          <p:cNvSpPr txBox="1"/>
          <p:nvPr/>
        </p:nvSpPr>
        <p:spPr>
          <a:xfrm>
            <a:off x="8321040" y="4389120"/>
            <a:ext cx="3017520" cy="1097280"/>
          </a:xfrm>
          <a:prstGeom prst="rect">
            <a:avLst/>
          </a:prstGeom>
          <a:noFill/>
          <a:ln/>
        </p:spPr>
        <p:txBody>
          <a:bodyPr wrap="square" lIns="0" tIns="0" rIns="0" bIns="0" rtlCol="0" anchor="t"/>
          <a:lstStyle/>
          <a:p>
            <a:pPr indent="0" marL="0">
              <a:buNone/>
            </a:pPr>
            <a:r>
              <a:rPr lang="en-US" sz="1400" dirty="0">
                <a:solidFill>
                  <a:srgbClr val="9DC3BD"/>
                </a:solidFill>
                <a:latin typeface="Calibri" pitchFamily="34" charset="0"/>
                <a:ea typeface="Calibri" pitchFamily="34" charset="-122"/>
                <a:cs typeface="Calibri" pitchFamily="34" charset="-120"/>
              </a:rPr>
              <a:t>Not a demo that sounds smart: an assistant a Bank employee can rely on.</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Inside the document: 327 nodes, 132 roles, 2,108 links</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8A33D"/>
          </a:solidFill>
          <a:ln w="12700">
            <a:solidFill>
              <a:srgbClr val="E8A33D"/>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2651760" cy="1463040"/>
          </a:xfrm>
          <a:prstGeom prst="roundRect">
            <a:avLst>
              <a:gd name="adj" fmla="val 5000"/>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73152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327</a:t>
            </a:r>
            <a:endParaRPr lang="en-US" sz="4000" dirty="0"/>
          </a:p>
        </p:txBody>
      </p:sp>
      <p:sp>
        <p:nvSpPr>
          <p:cNvPr id="17" name="Text 15"/>
          <p:cNvSpPr txBox="1"/>
          <p:nvPr/>
        </p:nvSpPr>
        <p:spPr>
          <a:xfrm>
            <a:off x="73152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nodes parsed from the PDF: tasks, processes, chapters</a:t>
            </a:r>
            <a:endParaRPr lang="en-US" sz="1400" dirty="0"/>
          </a:p>
        </p:txBody>
      </p:sp>
      <p:sp>
        <p:nvSpPr>
          <p:cNvPr id="18" name="card"/>
          <p:cNvSpPr/>
          <p:nvPr/>
        </p:nvSpPr>
        <p:spPr>
          <a:xfrm>
            <a:off x="3383280" y="1554480"/>
            <a:ext cx="2651760" cy="1463040"/>
          </a:xfrm>
          <a:prstGeom prst="roundRect">
            <a:avLst>
              <a:gd name="adj" fmla="val 5000"/>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19" name="Text 17"/>
          <p:cNvSpPr txBox="1"/>
          <p:nvPr/>
        </p:nvSpPr>
        <p:spPr>
          <a:xfrm>
            <a:off x="356616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132</a:t>
            </a:r>
            <a:endParaRPr lang="en-US" sz="4000" dirty="0"/>
          </a:p>
        </p:txBody>
      </p:sp>
      <p:sp>
        <p:nvSpPr>
          <p:cNvPr id="20" name="Text 18"/>
          <p:cNvSpPr txBox="1"/>
          <p:nvPr/>
        </p:nvSpPr>
        <p:spPr>
          <a:xfrm>
            <a:off x="356616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distinct roles, linked to the tasks they act on</a:t>
            </a:r>
            <a:endParaRPr lang="en-US" sz="1400" dirty="0"/>
          </a:p>
        </p:txBody>
      </p:sp>
      <p:sp>
        <p:nvSpPr>
          <p:cNvPr id="21" name="card"/>
          <p:cNvSpPr/>
          <p:nvPr/>
        </p:nvSpPr>
        <p:spPr>
          <a:xfrm>
            <a:off x="6217920" y="1554480"/>
            <a:ext cx="2651760" cy="1463040"/>
          </a:xfrm>
          <a:prstGeom prst="roundRect">
            <a:avLst>
              <a:gd name="adj" fmla="val 5000"/>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sp>
        <p:nvSpPr>
          <p:cNvPr id="22" name="Text 20"/>
          <p:cNvSpPr txBox="1"/>
          <p:nvPr/>
        </p:nvSpPr>
        <p:spPr>
          <a:xfrm>
            <a:off x="640080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2,108</a:t>
            </a:r>
            <a:endParaRPr lang="en-US" sz="4000" dirty="0"/>
          </a:p>
        </p:txBody>
      </p:sp>
      <p:sp>
        <p:nvSpPr>
          <p:cNvPr id="23" name="Text 21"/>
          <p:cNvSpPr txBox="1"/>
          <p:nvPr/>
        </p:nvSpPr>
        <p:spPr>
          <a:xfrm>
            <a:off x="640080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links: 1,776 role-to-task, 322 hierarchy, 10 refs</a:t>
            </a:r>
            <a:endParaRPr lang="en-US" sz="1400" dirty="0"/>
          </a:p>
        </p:txBody>
      </p:sp>
      <p:sp>
        <p:nvSpPr>
          <p:cNvPr id="24" name="Text 22"/>
          <p:cNvSpPr txBox="1"/>
          <p:nvPr/>
        </p:nvSpPr>
        <p:spPr>
          <a:xfrm>
            <a:off x="548640" y="3337560"/>
            <a:ext cx="5486400" cy="365760"/>
          </a:xfrm>
          <a:prstGeom prst="rect">
            <a:avLst/>
          </a:prstGeom>
          <a:noFill/>
          <a:ln/>
        </p:spPr>
        <p:txBody>
          <a:bodyPr wrap="square" lIns="0" tIns="0" rIns="0" bIns="0" rtlCol="0" anchor="t"/>
          <a:lstStyle/>
          <a:p>
            <a:pPr indent="0" marL="0">
              <a:buNone/>
            </a:pPr>
            <a:r>
              <a:rPr lang="en-US" sz="1800" b="1" dirty="0">
                <a:solidFill>
                  <a:srgbClr val="0F3B36"/>
                </a:solidFill>
                <a:latin typeface="Cambria" pitchFamily="34" charset="0"/>
                <a:ea typeface="Cambria" pitchFamily="34" charset="-122"/>
                <a:cs typeface="Cambria" pitchFamily="34" charset="-120"/>
              </a:rPr>
              <a:t>What made it hard</a:t>
            </a:r>
            <a:endParaRPr lang="en-US" sz="1800" dirty="0"/>
          </a:p>
        </p:txBody>
      </p:sp>
      <p:sp>
        <p:nvSpPr>
          <p:cNvPr id="25" name="Text 23"/>
          <p:cNvSpPr txBox="1"/>
          <p:nvPr/>
        </p:nvSpPr>
        <p:spPr>
          <a:xfrm>
            <a:off x="548640" y="3794760"/>
            <a:ext cx="8229600" cy="2103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Footnote digits look like level digits once text is extracted</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Rows split across pages, merged cells hide roles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Tasks point to each other: "See 1.117.2"</a:t>
            </a:r>
            <a:endParaRPr lang="en-US" sz="1700" dirty="0"/>
          </a:p>
        </p:txBody>
      </p:sp>
      <p:sp>
        <p:nvSpPr>
          <p:cNvPr id="26" name="card"/>
          <p:cNvSpPr/>
          <p:nvPr/>
        </p:nvSpPr>
        <p:spPr>
          <a:xfrm>
            <a:off x="9144000" y="1554480"/>
            <a:ext cx="2514600" cy="4114800"/>
          </a:xfrm>
          <a:prstGeom prst="roundRect">
            <a:avLst>
              <a:gd name="adj" fmla="val 2909"/>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7" name="Text 25"/>
          <p:cNvSpPr txBox="1"/>
          <p:nvPr/>
        </p:nvSpPr>
        <p:spPr>
          <a:xfrm>
            <a:off x="9372600" y="1828800"/>
            <a:ext cx="2103120" cy="146304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Dirty data in,</a:t>
            </a:r>
            <a:endParaRPr lang="en-US" sz="2200" dirty="0"/>
          </a:p>
          <a:p>
            <a:pPr indent="0" marL="0">
              <a:buNone/>
            </a:pPr>
            <a:r>
              <a:rPr lang="en-US" sz="2200" b="1" dirty="0">
                <a:solidFill>
                  <a:srgbClr val="0F3B36"/>
                </a:solidFill>
                <a:latin typeface="Cambria" pitchFamily="34" charset="0"/>
                <a:ea typeface="Cambria" pitchFamily="34" charset="-122"/>
                <a:cs typeface="Cambria" pitchFamily="34" charset="-120"/>
              </a:rPr>
              <a:t>wrong answer out.</a:t>
            </a:r>
            <a:endParaRPr lang="en-US" sz="2200" dirty="0"/>
          </a:p>
        </p:txBody>
      </p:sp>
      <p:sp>
        <p:nvSpPr>
          <p:cNvPr id="28" name="Text 26"/>
          <p:cNvSpPr txBox="1"/>
          <p:nvPr/>
        </p:nvSpPr>
        <p:spPr>
          <a:xfrm>
            <a:off x="9372600" y="3474720"/>
            <a:ext cx="2103120" cy="1645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So the real work of this project was the data, not the model.</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From a PDF to a clean, typed knowledge base</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8A33D"/>
          </a:solidFill>
          <a:ln w="12700">
            <a:solidFill>
              <a:srgbClr val="E8A33D"/>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tmp/deck2/figs/fig2_pipeline.png">    </p:cNvPr>
          <p:cNvPicPr>
            <a:picLocks noChangeAspect="1"/>
          </p:cNvPicPr>
          <p:nvPr/>
        </p:nvPicPr>
        <p:blipFill>
          <a:blip r:embed="rId1"/>
          <a:stretch>
            <a:fillRect/>
          </a:stretch>
        </p:blipFill>
        <p:spPr>
          <a:xfrm>
            <a:off x="731520" y="1325880"/>
            <a:ext cx="1508760" cy="4270248"/>
          </a:xfrm>
          <a:prstGeom prst="rect">
            <a:avLst/>
          </a:prstGeom>
        </p:spPr>
      </p:pic>
      <p:sp>
        <p:nvSpPr>
          <p:cNvPr id="16" name="num-1"/>
          <p:cNvSpPr/>
          <p:nvPr/>
        </p:nvSpPr>
        <p:spPr>
          <a:xfrm>
            <a:off x="2377440" y="1463040"/>
            <a:ext cx="457200" cy="457200"/>
          </a:xfrm>
          <a:prstGeom prst="ellipse">
            <a:avLst/>
          </a:prstGeom>
          <a:solidFill>
            <a:srgbClr val="E8A33D"/>
          </a:solidFill>
          <a:ln w="12700">
            <a:solidFill>
              <a:srgbClr val="E8A33D"/>
            </a:solidFill>
            <a:prstDash val="solid"/>
          </a:ln>
        </p:spPr>
      </p:sp>
      <p:sp>
        <p:nvSpPr>
          <p:cNvPr id="17" name="Text 14"/>
          <p:cNvSpPr txBox="1"/>
          <p:nvPr/>
        </p:nvSpPr>
        <p:spPr>
          <a:xfrm>
            <a:off x="23774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5"/>
          <p:cNvSpPr txBox="1"/>
          <p:nvPr/>
        </p:nvSpPr>
        <p:spPr>
          <a:xfrm>
            <a:off x="3017520" y="137160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Read characters, not words</a:t>
            </a:r>
            <a:endParaRPr lang="en-US" sz="2000" dirty="0"/>
          </a:p>
        </p:txBody>
      </p:sp>
      <p:sp>
        <p:nvSpPr>
          <p:cNvPr id="19" name="Text 16"/>
          <p:cNvSpPr txBox="1"/>
          <p:nvPr/>
        </p:nvSpPr>
        <p:spPr>
          <a:xfrm>
            <a:off x="3017520" y="178308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pdfplumber exposes size and position, so footnotes are told apart from levels.</a:t>
            </a:r>
            <a:endParaRPr lang="en-US" sz="1500" dirty="0"/>
          </a:p>
        </p:txBody>
      </p:sp>
      <p:sp>
        <p:nvSpPr>
          <p:cNvPr id="20" name="num-2"/>
          <p:cNvSpPr/>
          <p:nvPr/>
        </p:nvSpPr>
        <p:spPr>
          <a:xfrm>
            <a:off x="2377440" y="2560320"/>
            <a:ext cx="457200" cy="457200"/>
          </a:xfrm>
          <a:prstGeom prst="ellipse">
            <a:avLst/>
          </a:prstGeom>
          <a:solidFill>
            <a:srgbClr val="E8A33D"/>
          </a:solidFill>
          <a:ln w="12700">
            <a:solidFill>
              <a:srgbClr val="E8A33D"/>
            </a:solidFill>
            <a:prstDash val="solid"/>
          </a:ln>
        </p:spPr>
      </p:sp>
      <p:sp>
        <p:nvSpPr>
          <p:cNvPr id="21" name="Text 18"/>
          <p:cNvSpPr txBox="1"/>
          <p:nvPr/>
        </p:nvSpPr>
        <p:spPr>
          <a:xfrm>
            <a:off x="237744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2" name="Text 19"/>
          <p:cNvSpPr txBox="1"/>
          <p:nvPr/>
        </p:nvSpPr>
        <p:spPr>
          <a:xfrm>
            <a:off x="3017520" y="246888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Rebuild rows and task blocks</a:t>
            </a:r>
            <a:endParaRPr lang="en-US" sz="2000" dirty="0"/>
          </a:p>
        </p:txBody>
      </p:sp>
      <p:sp>
        <p:nvSpPr>
          <p:cNvPr id="23" name="Text 20"/>
          <p:cNvSpPr txBox="1"/>
          <p:nvPr/>
        </p:nvSpPr>
        <p:spPr>
          <a:xfrm>
            <a:off x="3017520" y="288036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Merged and split rows are reassembled into one task each.</a:t>
            </a:r>
            <a:endParaRPr lang="en-US" sz="1500" dirty="0"/>
          </a:p>
        </p:txBody>
      </p:sp>
      <p:sp>
        <p:nvSpPr>
          <p:cNvPr id="24" name="num-3"/>
          <p:cNvSpPr/>
          <p:nvPr/>
        </p:nvSpPr>
        <p:spPr>
          <a:xfrm>
            <a:off x="2377440" y="3657600"/>
            <a:ext cx="457200" cy="457200"/>
          </a:xfrm>
          <a:prstGeom prst="ellipse">
            <a:avLst/>
          </a:prstGeom>
          <a:solidFill>
            <a:srgbClr val="E8A33D"/>
          </a:solidFill>
          <a:ln w="12700">
            <a:solidFill>
              <a:srgbClr val="E8A33D"/>
            </a:solidFill>
            <a:prstDash val="solid"/>
          </a:ln>
        </p:spPr>
      </p:sp>
      <p:sp>
        <p:nvSpPr>
          <p:cNvPr id="25" name="Text 22"/>
          <p:cNvSpPr txBox="1"/>
          <p:nvPr/>
        </p:nvSpPr>
        <p:spPr>
          <a:xfrm>
            <a:off x="2377440" y="3657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6" name="Text 23"/>
          <p:cNvSpPr txBox="1"/>
          <p:nvPr/>
        </p:nvSpPr>
        <p:spPr>
          <a:xfrm>
            <a:off x="3017520" y="356616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Validate with Pydantic</a:t>
            </a:r>
            <a:endParaRPr lang="en-US" sz="2000" dirty="0"/>
          </a:p>
        </p:txBody>
      </p:sp>
      <p:sp>
        <p:nvSpPr>
          <p:cNvPr id="27" name="Text 24"/>
          <p:cNvSpPr txBox="1"/>
          <p:nvPr/>
        </p:nvSpPr>
        <p:spPr>
          <a:xfrm>
            <a:off x="3017520" y="397764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Typed contract between parser and graph: bad data fails loudly.</a:t>
            </a:r>
            <a:endParaRPr lang="en-US" sz="1500" dirty="0"/>
          </a:p>
        </p:txBody>
      </p:sp>
      <p:sp>
        <p:nvSpPr>
          <p:cNvPr id="28" name="num-4"/>
          <p:cNvSpPr/>
          <p:nvPr/>
        </p:nvSpPr>
        <p:spPr>
          <a:xfrm>
            <a:off x="2377440" y="4754880"/>
            <a:ext cx="457200" cy="457200"/>
          </a:xfrm>
          <a:prstGeom prst="ellipse">
            <a:avLst/>
          </a:prstGeom>
          <a:solidFill>
            <a:srgbClr val="E8A33D"/>
          </a:solidFill>
          <a:ln w="12700">
            <a:solidFill>
              <a:srgbClr val="E8A33D"/>
            </a:solidFill>
            <a:prstDash val="solid"/>
          </a:ln>
        </p:spPr>
      </p:sp>
      <p:sp>
        <p:nvSpPr>
          <p:cNvPr id="29" name="Text 26"/>
          <p:cNvSpPr txBox="1"/>
          <p:nvPr/>
        </p:nvSpPr>
        <p:spPr>
          <a:xfrm>
            <a:off x="2377440" y="4754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30" name="Text 27"/>
          <p:cNvSpPr txBox="1"/>
          <p:nvPr/>
        </p:nvSpPr>
        <p:spPr>
          <a:xfrm>
            <a:off x="3017520" y="466344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Cache as nodes.json</a:t>
            </a:r>
            <a:endParaRPr lang="en-US" sz="2000" dirty="0"/>
          </a:p>
        </p:txBody>
      </p:sp>
      <p:sp>
        <p:nvSpPr>
          <p:cNvPr id="31" name="Text 28"/>
          <p:cNvSpPr txBox="1"/>
          <p:nvPr/>
        </p:nvSpPr>
        <p:spPr>
          <a:xfrm>
            <a:off x="3017520" y="507492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Parse once at build time, so the free hosting tier does not run out of memory.</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graph that knows who does what</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tmp/deck2/figs/fig3_graph.png">    </p:cNvPr>
          <p:cNvPicPr>
            <a:picLocks noChangeAspect="1"/>
          </p:cNvPicPr>
          <p:nvPr/>
        </p:nvPicPr>
        <p:blipFill>
          <a:blip r:embed="rId1"/>
          <a:stretch>
            <a:fillRect/>
          </a:stretch>
        </p:blipFill>
        <p:spPr>
          <a:xfrm>
            <a:off x="548640" y="1463040"/>
            <a:ext cx="7498080" cy="2221992"/>
          </a:xfrm>
          <a:prstGeom prst="rect">
            <a:avLst/>
          </a:prstGeom>
        </p:spPr>
      </p:pic>
      <p:sp>
        <p:nvSpPr>
          <p:cNvPr id="16" name="card"/>
          <p:cNvSpPr/>
          <p:nvPr/>
        </p:nvSpPr>
        <p:spPr>
          <a:xfrm>
            <a:off x="548640" y="4069080"/>
            <a:ext cx="3520440" cy="1783080"/>
          </a:xfrm>
          <a:prstGeom prst="roundRect">
            <a:avLst>
              <a:gd name="adj" fmla="val 4103"/>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17" name="Text 14"/>
          <p:cNvSpPr txBox="1"/>
          <p:nvPr/>
        </p:nvSpPr>
        <p:spPr>
          <a:xfrm>
            <a:off x="77724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Exact</a:t>
            </a:r>
            <a:endParaRPr lang="en-US" sz="2200" dirty="0"/>
          </a:p>
        </p:txBody>
      </p:sp>
      <p:sp>
        <p:nvSpPr>
          <p:cNvPr id="18" name="Text 15"/>
          <p:cNvSpPr txBox="1"/>
          <p:nvPr/>
        </p:nvSpPr>
        <p:spPr>
          <a:xfrm>
            <a:off x="77724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Type 2.126: resolved with certainty, confidence 1.0.</a:t>
            </a:r>
            <a:endParaRPr lang="en-US" sz="1500" dirty="0"/>
          </a:p>
        </p:txBody>
      </p:sp>
      <p:sp>
        <p:nvSpPr>
          <p:cNvPr id="19" name="card"/>
          <p:cNvSpPr/>
          <p:nvPr/>
        </p:nvSpPr>
        <p:spPr>
          <a:xfrm>
            <a:off x="4297680" y="4069080"/>
            <a:ext cx="3520440" cy="1783080"/>
          </a:xfrm>
          <a:prstGeom prst="roundRect">
            <a:avLst>
              <a:gd name="adj" fmla="val 4103"/>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20" name="Text 17"/>
          <p:cNvSpPr txBox="1"/>
          <p:nvPr/>
        </p:nvSpPr>
        <p:spPr>
          <a:xfrm>
            <a:off x="452628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Semantic</a:t>
            </a:r>
            <a:endParaRPr lang="en-US" sz="2200" dirty="0"/>
          </a:p>
        </p:txBody>
      </p:sp>
      <p:sp>
        <p:nvSpPr>
          <p:cNvPr id="21" name="Text 18"/>
          <p:cNvSpPr txBox="1"/>
          <p:nvPr/>
        </p:nvSpPr>
        <p:spPr>
          <a:xfrm>
            <a:off x="452628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Describe the task: TF-IDF finds it, with an explainable score.</a:t>
            </a:r>
            <a:endParaRPr lang="en-US" sz="1500" dirty="0"/>
          </a:p>
        </p:txBody>
      </p:sp>
      <p:sp>
        <p:nvSpPr>
          <p:cNvPr id="22" name="card"/>
          <p:cNvSpPr/>
          <p:nvPr/>
        </p:nvSpPr>
        <p:spPr>
          <a:xfrm>
            <a:off x="8046720" y="4069080"/>
            <a:ext cx="3520440" cy="1783080"/>
          </a:xfrm>
          <a:prstGeom prst="roundRect">
            <a:avLst>
              <a:gd name="adj" fmla="val 4103"/>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sp>
        <p:nvSpPr>
          <p:cNvPr id="23" name="Text 20"/>
          <p:cNvSpPr txBox="1"/>
          <p:nvPr/>
        </p:nvSpPr>
        <p:spPr>
          <a:xfrm>
            <a:off x="827532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Honest</a:t>
            </a:r>
            <a:endParaRPr lang="en-US" sz="2200" dirty="0"/>
          </a:p>
        </p:txBody>
      </p:sp>
      <p:sp>
        <p:nvSpPr>
          <p:cNvPr id="24" name="Text 21"/>
          <p:cNvSpPr txBox="1"/>
          <p:nvPr/>
        </p:nvSpPr>
        <p:spPr>
          <a:xfrm>
            <a:off x="827532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Unknown id: it says so instead of guessing.</a:t>
            </a:r>
            <a:endParaRPr lang="en-US" sz="1500" dirty="0"/>
          </a:p>
        </p:txBody>
      </p:sp>
      <p:sp>
        <p:nvSpPr>
          <p:cNvPr id="25" name="Text 22"/>
          <p:cNvSpPr txBox="1"/>
          <p:nvPr/>
        </p:nvSpPr>
        <p:spPr>
          <a:xfrm>
            <a:off x="8412480" y="1645920"/>
            <a:ext cx="3200400" cy="914400"/>
          </a:xfrm>
          <a:prstGeom prst="rect">
            <a:avLst/>
          </a:prstGeom>
          <a:noFill/>
          <a:ln/>
        </p:spPr>
        <p:txBody>
          <a:bodyPr wrap="square" lIns="0" tIns="0" rIns="0" bIns="0" rtlCol="0" anchor="t"/>
          <a:lstStyle/>
          <a:p>
            <a:pPr indent="0" marL="0">
              <a:buNone/>
            </a:pPr>
            <a:r>
              <a:rPr lang="en-US" sz="2400" b="1" dirty="0">
                <a:solidFill>
                  <a:srgbClr val="2A7F77"/>
                </a:solidFill>
                <a:latin typeface="Cambria" pitchFamily="34" charset="0"/>
                <a:ea typeface="Cambria" pitchFamily="34" charset="-122"/>
                <a:cs typeface="Cambria" pitchFamily="34" charset="-120"/>
              </a:rPr>
              <a:t>NetworkX</a:t>
            </a:r>
            <a:endParaRPr lang="en-US" sz="2400" dirty="0"/>
          </a:p>
          <a:p>
            <a:pPr indent="0" marL="0">
              <a:buNone/>
            </a:pPr>
            <a:r>
              <a:rPr lang="en-US" sz="2400" b="1" dirty="0">
                <a:solidFill>
                  <a:srgbClr val="2A7F77"/>
                </a:solidFill>
                <a:latin typeface="Cambria" pitchFamily="34" charset="0"/>
                <a:ea typeface="Cambria" pitchFamily="34" charset="-122"/>
                <a:cs typeface="Cambria" pitchFamily="34" charset="-120"/>
              </a:rPr>
              <a:t>MultiDiGraph</a:t>
            </a:r>
            <a:endParaRPr lang="en-US" sz="2400" dirty="0"/>
          </a:p>
        </p:txBody>
      </p:sp>
      <p:sp>
        <p:nvSpPr>
          <p:cNvPr id="26" name="Text 23"/>
          <p:cNvSpPr txBox="1"/>
          <p:nvPr/>
        </p:nvSpPr>
        <p:spPr>
          <a:xfrm>
            <a:off x="8412480" y="2606040"/>
            <a:ext cx="320040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Parallel edges: one role can act on one task in several ways.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AI talks. The matrix decides.</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tmp/deck2/figs/fig4_grounding.png">    </p:cNvPr>
          <p:cNvPicPr>
            <a:picLocks noChangeAspect="1"/>
          </p:cNvPicPr>
          <p:nvPr/>
        </p:nvPicPr>
        <p:blipFill>
          <a:blip r:embed="rId1"/>
          <a:stretch>
            <a:fillRect/>
          </a:stretch>
        </p:blipFill>
        <p:spPr>
          <a:xfrm>
            <a:off x="731520" y="1325880"/>
            <a:ext cx="3931920" cy="4398264"/>
          </a:xfrm>
          <a:prstGeom prst="rect">
            <a:avLst/>
          </a:prstGeom>
        </p:spPr>
      </p:pic>
      <p:sp>
        <p:nvSpPr>
          <p:cNvPr id="16" name="num-1"/>
          <p:cNvSpPr/>
          <p:nvPr/>
        </p:nvSpPr>
        <p:spPr>
          <a:xfrm>
            <a:off x="4754880" y="1417320"/>
            <a:ext cx="457200" cy="457200"/>
          </a:xfrm>
          <a:prstGeom prst="ellipse">
            <a:avLst/>
          </a:prstGeom>
          <a:solidFill>
            <a:srgbClr val="2A7F77"/>
          </a:solidFill>
          <a:ln w="12700">
            <a:solidFill>
              <a:srgbClr val="2A7F77"/>
            </a:solidFill>
            <a:prstDash val="solid"/>
          </a:ln>
        </p:spPr>
      </p:sp>
      <p:sp>
        <p:nvSpPr>
          <p:cNvPr id="17" name="Text 14"/>
          <p:cNvSpPr txBox="1"/>
          <p:nvPr/>
        </p:nvSpPr>
        <p:spPr>
          <a:xfrm>
            <a:off x="47548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5"/>
          <p:cNvSpPr txBox="1"/>
          <p:nvPr/>
        </p:nvSpPr>
        <p:spPr>
          <a:xfrm>
            <a:off x="5440680" y="137160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Facts come from the graph</a:t>
            </a:r>
            <a:endParaRPr lang="en-US" sz="2000" dirty="0"/>
          </a:p>
        </p:txBody>
      </p:sp>
      <p:sp>
        <p:nvSpPr>
          <p:cNvPr id="19" name="Text 16"/>
          <p:cNvSpPr txBox="1"/>
          <p:nvPr/>
        </p:nvSpPr>
        <p:spPr>
          <a:xfrm>
            <a:off x="5440680" y="178308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LLM never sees the whole document, only the retrieved node.</a:t>
            </a:r>
            <a:endParaRPr lang="en-US" sz="1500" dirty="0"/>
          </a:p>
        </p:txBody>
      </p:sp>
      <p:sp>
        <p:nvSpPr>
          <p:cNvPr id="20" name="num-2"/>
          <p:cNvSpPr/>
          <p:nvPr/>
        </p:nvSpPr>
        <p:spPr>
          <a:xfrm>
            <a:off x="4754880" y="2514600"/>
            <a:ext cx="457200" cy="457200"/>
          </a:xfrm>
          <a:prstGeom prst="ellipse">
            <a:avLst/>
          </a:prstGeom>
          <a:solidFill>
            <a:srgbClr val="2A7F77"/>
          </a:solidFill>
          <a:ln w="12700">
            <a:solidFill>
              <a:srgbClr val="2A7F77"/>
            </a:solidFill>
            <a:prstDash val="solid"/>
          </a:ln>
        </p:spPr>
      </p:sp>
      <p:sp>
        <p:nvSpPr>
          <p:cNvPr id="21" name="Text 18"/>
          <p:cNvSpPr txBox="1"/>
          <p:nvPr/>
        </p:nvSpPr>
        <p:spPr>
          <a:xfrm>
            <a:off x="4754880" y="2514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2" name="Text 19"/>
          <p:cNvSpPr txBox="1"/>
          <p:nvPr/>
        </p:nvSpPr>
        <p:spPr>
          <a:xfrm>
            <a:off x="5440680" y="246888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Strict prompt, low temperature</a:t>
            </a:r>
            <a:endParaRPr lang="en-US" sz="2000" dirty="0"/>
          </a:p>
        </p:txBody>
      </p:sp>
      <p:sp>
        <p:nvSpPr>
          <p:cNvPr id="23" name="Text 20"/>
          <p:cNvSpPr txBox="1"/>
          <p:nvPr/>
        </p:nvSpPr>
        <p:spPr>
          <a:xfrm>
            <a:off x="5440680" y="288036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It may rephrase. It may not add a role.</a:t>
            </a:r>
            <a:endParaRPr lang="en-US" sz="1500" dirty="0"/>
          </a:p>
        </p:txBody>
      </p:sp>
      <p:sp>
        <p:nvSpPr>
          <p:cNvPr id="24" name="num-3"/>
          <p:cNvSpPr/>
          <p:nvPr/>
        </p:nvSpPr>
        <p:spPr>
          <a:xfrm>
            <a:off x="4754880" y="3611880"/>
            <a:ext cx="457200" cy="457200"/>
          </a:xfrm>
          <a:prstGeom prst="ellipse">
            <a:avLst/>
          </a:prstGeom>
          <a:solidFill>
            <a:srgbClr val="2A7F77"/>
          </a:solidFill>
          <a:ln w="12700">
            <a:solidFill>
              <a:srgbClr val="2A7F77"/>
            </a:solidFill>
            <a:prstDash val="solid"/>
          </a:ln>
        </p:spPr>
      </p:sp>
      <p:sp>
        <p:nvSpPr>
          <p:cNvPr id="25" name="Text 22"/>
          <p:cNvSpPr txBox="1"/>
          <p:nvPr/>
        </p:nvSpPr>
        <p:spPr>
          <a:xfrm>
            <a:off x="4754880" y="3611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6" name="Text 23"/>
          <p:cNvSpPr txBox="1"/>
          <p:nvPr/>
        </p:nvSpPr>
        <p:spPr>
          <a:xfrm>
            <a:off x="5440680" y="356616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Grounding check</a:t>
            </a:r>
            <a:endParaRPr lang="en-US" sz="2000" dirty="0"/>
          </a:p>
        </p:txBody>
      </p:sp>
      <p:sp>
        <p:nvSpPr>
          <p:cNvPr id="27" name="Text 24"/>
          <p:cNvSpPr txBox="1"/>
          <p:nvPr/>
        </p:nvSpPr>
        <p:spPr>
          <a:xfrm>
            <a:off x="5440680" y="397764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If an expected role is missing from the answer, we discard it.</a:t>
            </a:r>
            <a:endParaRPr lang="en-US" sz="1500" dirty="0"/>
          </a:p>
        </p:txBody>
      </p:sp>
      <p:sp>
        <p:nvSpPr>
          <p:cNvPr id="28" name="num-4"/>
          <p:cNvSpPr/>
          <p:nvPr/>
        </p:nvSpPr>
        <p:spPr>
          <a:xfrm>
            <a:off x="4754880" y="4709160"/>
            <a:ext cx="457200" cy="457200"/>
          </a:xfrm>
          <a:prstGeom prst="ellipse">
            <a:avLst/>
          </a:prstGeom>
          <a:solidFill>
            <a:srgbClr val="2A7F77"/>
          </a:solidFill>
          <a:ln w="12700">
            <a:solidFill>
              <a:srgbClr val="2A7F77"/>
            </a:solidFill>
            <a:prstDash val="solid"/>
          </a:ln>
        </p:spPr>
      </p:sp>
      <p:sp>
        <p:nvSpPr>
          <p:cNvPr id="29" name="Text 26"/>
          <p:cNvSpPr txBox="1"/>
          <p:nvPr/>
        </p:nvSpPr>
        <p:spPr>
          <a:xfrm>
            <a:off x="4754880" y="4709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30" name="Text 27"/>
          <p:cNvSpPr txBox="1"/>
          <p:nvPr/>
        </p:nvSpPr>
        <p:spPr>
          <a:xfrm>
            <a:off x="5440680" y="466344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Deterministic fallback</a:t>
            </a:r>
            <a:endParaRPr lang="en-US" sz="2000" dirty="0"/>
          </a:p>
        </p:txBody>
      </p:sp>
      <p:sp>
        <p:nvSpPr>
          <p:cNvPr id="31" name="Text 28"/>
          <p:cNvSpPr txBox="1"/>
          <p:nvPr/>
        </p:nvSpPr>
        <p:spPr>
          <a:xfrm>
            <a:off x="5440680" y="507492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Groq, Ollama or no LLM at all: the answer is always available.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See it work: one product, five minutes</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video-placeholder"/>
          <p:cNvSpPr/>
          <p:nvPr/>
        </p:nvSpPr>
        <p:spPr>
          <a:xfrm>
            <a:off x="548640" y="1417320"/>
            <a:ext cx="6949440" cy="4114800"/>
          </a:xfrm>
          <a:prstGeom prst="roundRect">
            <a:avLst>
              <a:gd name="adj" fmla="val 2222"/>
            </a:avLst>
          </a:prstGeom>
          <a:solidFill>
            <a:srgbClr val="0F3B36"/>
          </a:solidFill>
          <a:ln w="25400">
            <a:solidFill>
              <a:srgbClr val="E8A33D"/>
            </a:solidFill>
            <a:prstDash val="dash"/>
          </a:ln>
        </p:spPr>
      </p:sp>
      <p:sp>
        <p:nvSpPr>
          <p:cNvPr id="16" name="Shape 14"/>
          <p:cNvSpPr/>
          <p:nvPr/>
        </p:nvSpPr>
        <p:spPr>
          <a:xfrm>
            <a:off x="3566160" y="2880360"/>
            <a:ext cx="914400" cy="914400"/>
          </a:xfrm>
          <a:prstGeom prst="ellipse">
            <a:avLst/>
          </a:prstGeom>
          <a:solidFill>
            <a:srgbClr val="E8A33D"/>
          </a:solidFill>
          <a:ln w="12700">
            <a:solidFill>
              <a:srgbClr val="E8A33D"/>
            </a:solidFill>
            <a:prstDash val="solid"/>
          </a:ln>
        </p:spPr>
      </p:sp>
      <p:pic>
        <p:nvPicPr>
          <p:cNvPr id="17" name="Image 0" descr="preencoded.png">    </p:cNvPr>
          <p:cNvPicPr>
            <a:picLocks noChangeAspect="1"/>
          </p:cNvPicPr>
          <p:nvPr/>
        </p:nvPicPr>
        <p:blipFill>
          <a:blip r:embed="rId1"/>
          <a:stretch>
            <a:fillRect/>
          </a:stretch>
        </p:blipFill>
        <p:spPr>
          <a:xfrm>
            <a:off x="3840480" y="3108960"/>
            <a:ext cx="365760" cy="365760"/>
          </a:xfrm>
          <a:prstGeom prst="rect">
            <a:avLst/>
          </a:prstGeom>
        </p:spPr>
      </p:pic>
      <p:sp>
        <p:nvSpPr>
          <p:cNvPr id="18" name="Text 15"/>
          <p:cNvSpPr txBox="1"/>
          <p:nvPr/>
        </p:nvSpPr>
        <p:spPr>
          <a:xfrm>
            <a:off x="548640" y="3977640"/>
            <a:ext cx="69494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LIVE DEMO</a:t>
            </a:r>
            <a:endParaRPr lang="en-US" sz="1600" dirty="0"/>
          </a:p>
        </p:txBody>
      </p:sp>
      <p:sp>
        <p:nvSpPr>
          <p:cNvPr id="19" name="Text 16"/>
          <p:cNvSpPr txBox="1"/>
          <p:nvPr/>
        </p:nvSpPr>
        <p:spPr>
          <a:xfrm>
            <a:off x="548640" y="4343400"/>
            <a:ext cx="6949440" cy="274320"/>
          </a:xfrm>
          <a:prstGeom prst="rect">
            <a:avLst/>
          </a:prstGeom>
          <a:noFill/>
          <a:ln/>
        </p:spPr>
        <p:txBody>
          <a:bodyPr wrap="square" lIns="0" tIns="0" rIns="0" bIns="0" rtlCol="0" anchor="ctr"/>
          <a:lstStyle/>
          <a:p>
            <a:pPr algn="ctr" indent="0" marL="0">
              <a:buNone/>
            </a:pPr>
            <a:r>
              <a:rPr lang="en-US" sz="1200" dirty="0">
                <a:solidFill>
                  <a:srgbClr val="9DC3BD"/>
                </a:solidFill>
                <a:latin typeface="Calibri" pitchFamily="34" charset="0"/>
                <a:ea typeface="Calibri" pitchFamily="34" charset="-122"/>
                <a:cs typeface="Calibri" pitchFamily="34" charset="-120"/>
              </a:rPr>
              <a:t>Insert screen recording here · 5:00</a:t>
            </a:r>
            <a:endParaRPr lang="en-US" sz="1200" dirty="0"/>
          </a:p>
        </p:txBody>
      </p:sp>
      <p:sp>
        <p:nvSpPr>
          <p:cNvPr id="20" name="Text 17"/>
          <p:cNvSpPr txBox="1"/>
          <p:nvPr/>
        </p:nvSpPr>
        <p:spPr>
          <a:xfrm>
            <a:off x="8046720" y="1463040"/>
            <a:ext cx="365760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In this clip</a:t>
            </a:r>
            <a:endParaRPr lang="en-US" sz="1400" dirty="0"/>
          </a:p>
        </p:txBody>
      </p:sp>
      <p:sp>
        <p:nvSpPr>
          <p:cNvPr id="21" name="Text 18"/>
          <p:cNvSpPr txBox="1"/>
          <p:nvPr/>
        </p:nvSpPr>
        <p:spPr>
          <a:xfrm>
            <a:off x="8046720" y="1920240"/>
            <a:ext cx="365760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Landing page, protected login</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Exact and natural-language questions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Typos, French, follow-ups, redirects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Honest refusal on a false id</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QR sharing, voice, dashboard</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Tested, broken, fixed, tested again</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8A33D"/>
          </a:solidFill>
          <a:ln w="12700">
            <a:solidFill>
              <a:srgbClr val="E8A33D"/>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08760"/>
            <a:ext cx="2560320" cy="1463040"/>
          </a:xfrm>
          <a:prstGeom prst="roundRect">
            <a:avLst>
              <a:gd name="adj" fmla="val 5000"/>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731520" y="1645920"/>
            <a:ext cx="219456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137</a:t>
            </a:r>
            <a:endParaRPr lang="en-US" sz="4000" dirty="0"/>
          </a:p>
        </p:txBody>
      </p:sp>
      <p:sp>
        <p:nvSpPr>
          <p:cNvPr id="17" name="Text 15"/>
          <p:cNvSpPr txBox="1"/>
          <p:nvPr/>
        </p:nvSpPr>
        <p:spPr>
          <a:xfrm>
            <a:off x="731520" y="2377440"/>
            <a:ext cx="219456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automated tests, parser to API</a:t>
            </a:r>
            <a:endParaRPr lang="en-US" sz="1400" dirty="0"/>
          </a:p>
        </p:txBody>
      </p:sp>
      <p:sp>
        <p:nvSpPr>
          <p:cNvPr id="18" name="card"/>
          <p:cNvSpPr/>
          <p:nvPr/>
        </p:nvSpPr>
        <p:spPr>
          <a:xfrm>
            <a:off x="548640" y="3154680"/>
            <a:ext cx="2560320" cy="2697480"/>
          </a:xfrm>
          <a:prstGeom prst="roundRect">
            <a:avLst>
              <a:gd name="adj" fmla="val 2857"/>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19" name="Text 17"/>
          <p:cNvSpPr txBox="1"/>
          <p:nvPr/>
        </p:nvSpPr>
        <p:spPr>
          <a:xfrm>
            <a:off x="731520" y="3291840"/>
            <a:ext cx="2194560" cy="822960"/>
          </a:xfrm>
          <a:prstGeom prst="rect">
            <a:avLst/>
          </a:prstGeom>
          <a:noFill/>
          <a:ln/>
        </p:spPr>
        <p:txBody>
          <a:bodyPr wrap="square" lIns="0" tIns="0" rIns="0" bIns="0" rtlCol="0" anchor="t"/>
          <a:lstStyle/>
          <a:p>
            <a:pPr indent="0" marL="0">
              <a:buNone/>
            </a:pPr>
            <a:r>
              <a:rPr lang="en-US" sz="1400" b="1" dirty="0">
                <a:solidFill>
                  <a:srgbClr val="0F3B36"/>
                </a:solidFill>
                <a:latin typeface="Calibri" pitchFamily="34" charset="0"/>
                <a:ea typeface="Calibri" pitchFamily="34" charset="-122"/>
                <a:cs typeface="Calibri" pitchFamily="34" charset="-120"/>
              </a:rPr>
              <a:t>Real bugs, found by testing real questions</a:t>
            </a:r>
            <a:endParaRPr lang="en-US" sz="1400" dirty="0"/>
          </a:p>
        </p:txBody>
      </p:sp>
      <p:sp>
        <p:nvSpPr>
          <p:cNvPr id="20" name="Text 18"/>
          <p:cNvSpPr txBox="1"/>
          <p:nvPr/>
        </p:nvSpPr>
        <p:spPr>
          <a:xfrm>
            <a:off x="731520" y="4297680"/>
            <a:ext cx="219456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Not hidden. Each one became a regression test.</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383280" y="1508760"/>
          <a:ext cx="8229600" cy="914400"/>
        </p:xfrm>
        <a:graphic>
          <a:graphicData uri="http://schemas.openxmlformats.org/drawingml/2006/table">
            <a:tbl>
              <a:tblPr/>
              <a:tblGrid>
                <a:gridCol w="4206240"/>
                <a:gridCol w="402336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Bug found</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0F3B3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0F3B36"/>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Invalid code matched an unrelated task</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Explicit invalid-id outcome</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Note parser stripped digits before hyphens</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Pattern corrected, references followed</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Action questions swallowed by follow-up logic</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Intent checked before context carry-over</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LLM answers rejected too often</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Grounding check tuned, fallback kept</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Free hosting ran out of memory</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Nodes cached at build time</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bl>
          </a:graphicData>
        </a:graphic>
      </p:graphicFrame>
      <p:sp>
        <p:nvSpPr>
          <p:cNvPr id="22" name="Text 19"/>
          <p:cNvSpPr txBox="1"/>
          <p:nvPr/>
        </p:nvSpPr>
        <p:spPr>
          <a:xfrm>
            <a:off x="3383280" y="4937760"/>
            <a:ext cx="8229600" cy="457200"/>
          </a:xfrm>
          <a:prstGeom prst="rect">
            <a:avLst/>
          </a:prstGeom>
          <a:noFill/>
          <a:ln/>
        </p:spPr>
        <p:txBody>
          <a:bodyPr wrap="square" lIns="0" tIns="0" rIns="0" bIns="0" rtlCol="0" anchor="t"/>
          <a:lstStyle/>
          <a:p>
            <a:pPr indent="0" marL="0">
              <a:buNone/>
            </a:pPr>
            <a:r>
              <a:rPr lang="en-US" sz="1600" i="1" dirty="0">
                <a:solidFill>
                  <a:srgbClr val="C8553D"/>
                </a:solidFill>
                <a:latin typeface="Cambria" pitchFamily="34" charset="0"/>
                <a:ea typeface="Cambria" pitchFamily="34" charset="-122"/>
                <a:cs typeface="Cambria" pitchFamily="34" charset="-120"/>
              </a:rPr>
              <a:t>Next: a benchmark of gold questions to put a precision figure on the agent.</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Shipped: secure, containerised, live</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8A33D"/>
          </a:solidFill>
          <a:ln w="12700">
            <a:solidFill>
              <a:srgbClr val="E8A33D"/>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08760"/>
            <a:ext cx="5394960" cy="1965960"/>
          </a:xfrm>
          <a:prstGeom prst="roundRect">
            <a:avLst>
              <a:gd name="adj" fmla="val 372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16" name="Image 0" descr="preencoded.png">    </p:cNvPr>
          <p:cNvPicPr>
            <a:picLocks noChangeAspect="1"/>
          </p:cNvPicPr>
          <p:nvPr/>
        </p:nvPicPr>
        <p:blipFill>
          <a:blip r:embed="rId1"/>
          <a:stretch>
            <a:fillRect/>
          </a:stretch>
        </p:blipFill>
        <p:spPr>
          <a:xfrm>
            <a:off x="822960" y="1783080"/>
            <a:ext cx="457200" cy="457200"/>
          </a:xfrm>
          <a:prstGeom prst="rect">
            <a:avLst/>
          </a:prstGeom>
        </p:spPr>
      </p:pic>
      <p:sp>
        <p:nvSpPr>
          <p:cNvPr id="17" name="Text 14"/>
          <p:cNvSpPr txBox="1"/>
          <p:nvPr/>
        </p:nvSpPr>
        <p:spPr>
          <a:xfrm>
            <a:off x="1463040" y="176479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Docker</a:t>
            </a:r>
            <a:endParaRPr lang="en-US" sz="2200" dirty="0"/>
          </a:p>
        </p:txBody>
      </p:sp>
      <p:sp>
        <p:nvSpPr>
          <p:cNvPr id="18" name="Text 15"/>
          <p:cNvSpPr txBox="1"/>
          <p:nvPr/>
        </p:nvSpPr>
        <p:spPr>
          <a:xfrm>
            <a:off x="1463040" y="233172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One command runs app, frontend and local LLM.</a:t>
            </a:r>
            <a:endParaRPr lang="en-US" sz="1500" dirty="0"/>
          </a:p>
        </p:txBody>
      </p:sp>
      <p:sp>
        <p:nvSpPr>
          <p:cNvPr id="19" name="card"/>
          <p:cNvSpPr/>
          <p:nvPr/>
        </p:nvSpPr>
        <p:spPr>
          <a:xfrm>
            <a:off x="6172200" y="1508760"/>
            <a:ext cx="5394960" cy="1965960"/>
          </a:xfrm>
          <a:prstGeom prst="roundRect">
            <a:avLst>
              <a:gd name="adj" fmla="val 3721"/>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20" name="Image 1" descr="preencoded.png">    </p:cNvPr>
          <p:cNvPicPr>
            <a:picLocks noChangeAspect="1"/>
          </p:cNvPicPr>
          <p:nvPr/>
        </p:nvPicPr>
        <p:blipFill>
          <a:blip r:embed="rId2"/>
          <a:stretch>
            <a:fillRect/>
          </a:stretch>
        </p:blipFill>
        <p:spPr>
          <a:xfrm>
            <a:off x="6446520" y="1783080"/>
            <a:ext cx="457200" cy="457200"/>
          </a:xfrm>
          <a:prstGeom prst="rect">
            <a:avLst/>
          </a:prstGeom>
        </p:spPr>
      </p:pic>
      <p:sp>
        <p:nvSpPr>
          <p:cNvPr id="21" name="Text 17"/>
          <p:cNvSpPr txBox="1"/>
          <p:nvPr/>
        </p:nvSpPr>
        <p:spPr>
          <a:xfrm>
            <a:off x="7086600" y="176479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Cloud hosted</a:t>
            </a:r>
            <a:endParaRPr lang="en-US" sz="2200" dirty="0"/>
          </a:p>
        </p:txBody>
      </p:sp>
      <p:sp>
        <p:nvSpPr>
          <p:cNvPr id="22" name="Text 18"/>
          <p:cNvSpPr txBox="1"/>
          <p:nvPr/>
        </p:nvSpPr>
        <p:spPr>
          <a:xfrm>
            <a:off x="7086600" y="233172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FastAPI + React, Postgres on Neon, files on S3-compatible storage.</a:t>
            </a:r>
            <a:endParaRPr lang="en-US" sz="1500" dirty="0"/>
          </a:p>
        </p:txBody>
      </p:sp>
      <p:sp>
        <p:nvSpPr>
          <p:cNvPr id="23" name="card"/>
          <p:cNvSpPr/>
          <p:nvPr/>
        </p:nvSpPr>
        <p:spPr>
          <a:xfrm>
            <a:off x="548640" y="3703320"/>
            <a:ext cx="5394960" cy="1965960"/>
          </a:xfrm>
          <a:prstGeom prst="roundRect">
            <a:avLst>
              <a:gd name="adj" fmla="val 3721"/>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24" name="Image 2" descr="preencoded.png">    </p:cNvPr>
          <p:cNvPicPr>
            <a:picLocks noChangeAspect="1"/>
          </p:cNvPicPr>
          <p:nvPr/>
        </p:nvPicPr>
        <p:blipFill>
          <a:blip r:embed="rId3"/>
          <a:stretch>
            <a:fillRect/>
          </a:stretch>
        </p:blipFill>
        <p:spPr>
          <a:xfrm>
            <a:off x="822960" y="3977640"/>
            <a:ext cx="457200" cy="457200"/>
          </a:xfrm>
          <a:prstGeom prst="rect">
            <a:avLst/>
          </a:prstGeom>
        </p:spPr>
      </p:pic>
      <p:sp>
        <p:nvSpPr>
          <p:cNvPr id="25" name="Text 20"/>
          <p:cNvSpPr txBox="1"/>
          <p:nvPr/>
        </p:nvSpPr>
        <p:spPr>
          <a:xfrm>
            <a:off x="1463040" y="395935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Secure by design</a:t>
            </a:r>
            <a:endParaRPr lang="en-US" sz="2200" dirty="0"/>
          </a:p>
        </p:txBody>
      </p:sp>
      <p:sp>
        <p:nvSpPr>
          <p:cNvPr id="26" name="Text 21"/>
          <p:cNvSpPr txBox="1"/>
          <p:nvPr/>
        </p:nvSpPr>
        <p:spPr>
          <a:xfrm>
            <a:off x="1463040" y="452628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bcrypt, JWT, rate-limited login, admin-only routes, Google and Microsoft sign-in.</a:t>
            </a:r>
            <a:endParaRPr lang="en-US" sz="1500" dirty="0"/>
          </a:p>
        </p:txBody>
      </p:sp>
      <p:sp>
        <p:nvSpPr>
          <p:cNvPr id="27" name="card"/>
          <p:cNvSpPr/>
          <p:nvPr/>
        </p:nvSpPr>
        <p:spPr>
          <a:xfrm>
            <a:off x="6172200" y="3703320"/>
            <a:ext cx="5394960" cy="1965960"/>
          </a:xfrm>
          <a:prstGeom prst="roundRect">
            <a:avLst>
              <a:gd name="adj" fmla="val 372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28" name="Image 3" descr="preencoded.png">    </p:cNvPr>
          <p:cNvPicPr>
            <a:picLocks noChangeAspect="1"/>
          </p:cNvPicPr>
          <p:nvPr/>
        </p:nvPicPr>
        <p:blipFill>
          <a:blip r:embed="rId4"/>
          <a:stretch>
            <a:fillRect/>
          </a:stretch>
        </p:blipFill>
        <p:spPr>
          <a:xfrm>
            <a:off x="6446520" y="3977640"/>
            <a:ext cx="457200" cy="457200"/>
          </a:xfrm>
          <a:prstGeom prst="rect">
            <a:avLst/>
          </a:prstGeom>
        </p:spPr>
      </p:pic>
      <p:sp>
        <p:nvSpPr>
          <p:cNvPr id="29" name="Text 23"/>
          <p:cNvSpPr txBox="1"/>
          <p:nvPr/>
        </p:nvSpPr>
        <p:spPr>
          <a:xfrm>
            <a:off x="7086600" y="395935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Multilingual UI</a:t>
            </a:r>
            <a:endParaRPr lang="en-US" sz="2200" dirty="0"/>
          </a:p>
        </p:txBody>
      </p:sp>
      <p:sp>
        <p:nvSpPr>
          <p:cNvPr id="30" name="Text 24"/>
          <p:cNvSpPr txBox="1"/>
          <p:nvPr/>
        </p:nvSpPr>
        <p:spPr>
          <a:xfrm>
            <a:off x="7086600" y="452628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The interface switches to the language you type in.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822960"/>
            <a:ext cx="7315200" cy="365760"/>
          </a:xfrm>
          <a:prstGeom prst="rect">
            <a:avLst/>
          </a:prstGeom>
          <a:noFill/>
          <a:ln/>
        </p:spPr>
        <p:txBody>
          <a:bodyPr wrap="square" lIns="0" tIns="0" rIns="0" bIns="0" rtlCol="0" anchor="t"/>
          <a:lstStyle/>
          <a:p>
            <a:pPr indent="0" marL="0">
              <a:buNone/>
            </a:pPr>
            <a:r>
              <a:rPr lang="en-US" sz="1400" b="1" spc="400" kern="0" dirty="0">
                <a:solidFill>
                  <a:srgbClr val="E8A33D"/>
                </a:solidFill>
                <a:latin typeface="Calibri" pitchFamily="34" charset="0"/>
                <a:ea typeface="Calibri" pitchFamily="34" charset="-122"/>
                <a:cs typeface="Calibri" pitchFamily="34" charset="-120"/>
              </a:rPr>
              <a:t>What the Bank gets</a:t>
            </a:r>
            <a:endParaRPr lang="en-US" sz="1400" dirty="0"/>
          </a:p>
        </p:txBody>
      </p:sp>
      <p:sp>
        <p:nvSpPr>
          <p:cNvPr id="3" name="Text 1"/>
          <p:cNvSpPr txBox="1"/>
          <p:nvPr/>
        </p:nvSpPr>
        <p:spPr>
          <a:xfrm>
            <a:off x="731520" y="1371600"/>
            <a:ext cx="10515600" cy="18288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Seconds instead of minutes.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Sources instead of guesses.</a:t>
            </a:r>
            <a:endParaRPr lang="en-US" sz="4000" dirty="0"/>
          </a:p>
        </p:txBody>
      </p:sp>
      <p:sp>
        <p:nvSpPr>
          <p:cNvPr id="4" name="card"/>
          <p:cNvSpPr/>
          <p:nvPr/>
        </p:nvSpPr>
        <p:spPr>
          <a:xfrm>
            <a:off x="7315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5" name="Text 3"/>
          <p:cNvSpPr txBox="1"/>
          <p:nvPr/>
        </p:nvSpPr>
        <p:spPr>
          <a:xfrm>
            <a:off x="9601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Now</a:t>
            </a:r>
            <a:endParaRPr lang="en-US" sz="2000" dirty="0"/>
          </a:p>
        </p:txBody>
      </p:sp>
      <p:sp>
        <p:nvSpPr>
          <p:cNvPr id="6" name="Text 4"/>
          <p:cNvSpPr txBox="1"/>
          <p:nvPr/>
        </p:nvSpPr>
        <p:spPr>
          <a:xfrm>
            <a:off x="9601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Live product, 137 tests, four languages</a:t>
            </a:r>
            <a:endParaRPr lang="en-US" sz="1500" dirty="0"/>
          </a:p>
        </p:txBody>
      </p:sp>
      <p:sp>
        <p:nvSpPr>
          <p:cNvPr id="7" name="card"/>
          <p:cNvSpPr/>
          <p:nvPr/>
        </p:nvSpPr>
        <p:spPr>
          <a:xfrm>
            <a:off x="43891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46177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Next</a:t>
            </a:r>
            <a:endParaRPr lang="en-US" sz="2000" dirty="0"/>
          </a:p>
        </p:txBody>
      </p:sp>
      <p:sp>
        <p:nvSpPr>
          <p:cNvPr id="9" name="Text 7"/>
          <p:cNvSpPr txBox="1"/>
          <p:nvPr/>
        </p:nvSpPr>
        <p:spPr>
          <a:xfrm>
            <a:off x="46177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Gold-question benchmark, stronger grounding check</a:t>
            </a:r>
            <a:endParaRPr lang="en-US" sz="1500" dirty="0"/>
          </a:p>
        </p:txBody>
      </p:sp>
      <p:sp>
        <p:nvSpPr>
          <p:cNvPr id="10" name="card"/>
          <p:cNvSpPr/>
          <p:nvPr/>
        </p:nvSpPr>
        <p:spPr>
          <a:xfrm>
            <a:off x="80467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11" name="Text 9"/>
          <p:cNvSpPr txBox="1"/>
          <p:nvPr/>
        </p:nvSpPr>
        <p:spPr>
          <a:xfrm>
            <a:off x="82753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Later</a:t>
            </a:r>
            <a:endParaRPr lang="en-US" sz="2000" dirty="0"/>
          </a:p>
        </p:txBody>
      </p:sp>
      <p:sp>
        <p:nvSpPr>
          <p:cNvPr id="12" name="Text 10"/>
          <p:cNvSpPr txBox="1"/>
          <p:nvPr/>
        </p:nvSpPr>
        <p:spPr>
          <a:xfrm>
            <a:off x="82753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Other Bank matrices, Redis for scale</a:t>
            </a:r>
            <a:endParaRPr lang="en-US" sz="1500" dirty="0"/>
          </a:p>
        </p:txBody>
      </p:sp>
      <p:sp>
        <p:nvSpPr>
          <p:cNvPr id="13" name="Text 11"/>
          <p:cNvSpPr txBox="1"/>
          <p:nvPr/>
        </p:nvSpPr>
        <p:spPr>
          <a:xfrm>
            <a:off x="731520" y="5760720"/>
            <a:ext cx="7315200" cy="457200"/>
          </a:xfrm>
          <a:prstGeom prst="rect">
            <a:avLst/>
          </a:prstGeom>
          <a:noFill/>
          <a:ln/>
        </p:spPr>
        <p:txBody>
          <a:bodyPr wrap="square" lIns="0" tIns="0" rIns="0" bIns="0" rtlCol="0" anchor="t"/>
          <a:lstStyle/>
          <a:p>
            <a:pPr indent="0" marL="0">
              <a:buNone/>
            </a:pPr>
            <a:r>
              <a:rPr lang="en-US" sz="2200" dirty="0">
                <a:solidFill>
                  <a:srgbClr val="9DC3BD"/>
                </a:solidFill>
                <a:latin typeface="Cambria" pitchFamily="34" charset="0"/>
                <a:ea typeface="Cambria" pitchFamily="34" charset="-122"/>
                <a:cs typeface="Cambria" pitchFamily="34" charset="-120"/>
              </a:rPr>
              <a:t>Thank you.  Questions?</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DAM AI Agent: technical defense</dc:title>
  <dc:subject>PptxGenJS Presentation</dc:subject>
  <dc:creator>Adem Mrabet</dc:creator>
  <cp:lastModifiedBy>Adem Mrabet</cp:lastModifiedBy>
  <cp:revision>1</cp:revision>
  <dcterms:created xsi:type="dcterms:W3CDTF">2026-10-18T18:12:12Z</dcterms:created>
  <dcterms:modified xsi:type="dcterms:W3CDTF">2026-10-18T18:12:12Z</dcterms:modified>
</cp:coreProperties>
</file>