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Title (0:00 to 0:45)
Good morning, everyone. My name is Adem Mrabet, and I am a student at Polytech International.
Imagine you are a new employee at the African Development Bank. You need to know who has to approve a mission program. The answer exists, but it sits in a document of 79 pages. Now imagine you type your question, and two seconds later you get the answer, with its source.
That is what I built during my internship, from April to October: an AI agent that turns the Bank's Delegation of Authority Matrix into instant, trustworthy answers.
I will walk you through the project following the six phases of CRISP-DM, and you will see the product live twice. Let's start with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The problem (0:45 to 1:45)
The document is called the Delegation of Authority Matrix, or DAM. For every task in the Bank, it says who initiates it, who approves it, who checks it, and who must be informed.
[Point to the three cards, one at a time.]
First, the questions are simple: who approves? who checks? who is informed? But the answers are buried in a dense 79-page table.
Second, this costs time. People scroll, follow footnotes, and ask colleagues, who sometimes guess.
Third, and this is the important one, a wrong answer has a price. If someone thinks they have the authority to approve something and they do not, that is a governance and compliance risk.
You may think: why not use ChatGPT? Because a generic chatbot invents roles that sound right. In a bank, "sounds right" is not good enough. So the real challenge was not building a chatbot. It was building an assistant that never says something the document does not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Objectives (1:45 to 2:30)
I translated this into three goals.
One: precise. Every answer must trace back to a specific task in the matrix. No source, no answer.
Two: instant. You can ask in natural language, you can make typos, and you can write in French, Spanish, Portuguese or Arabic.
Three: trusted. If the question is outside the document, the agent says so honestly.
My definition of success is simple: the right role, the right level, the right footnote. Not a demo that sounds smart, but an assistant a Bank employee can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Data understanding (2:30 to 3:30)
Now the data. The matrix is a PDF. After parsing, it contains 327 nodes: 3 chapters, 35 processes, 138 tasks, 102 child tasks and 49 threshold variants. Add the 132 distinct roles and the graph has 459 vertices and 2,108 relationships, with action codes such as Initiate, Check and Verify, Review, Approve and Informed.
It was harder than it looks. Let me give you one example. In the PDF, a footnote number is printed as a small superscript next to a level number. When you extract the text normally, the footnote "1" next to the level "2" becomes "21". The text is wrong, and nothing warns you.
Also, rows are split across pages, merged cells hide roles, and tasks point to each other, for example "see 1.117.2".
Dirty data in, wrong answer out. So most of the real work of this project was on the data, not on the AI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Data preparation (3:30 to 5:00)
Here is how I turned the PDF into a clean knowledge base, in four steps.
Step one: I read characters, not words. The library pdfplumber gives me the size and position of every character, so I can tell a footnote from a level.
Step two: I rebuild the rows and group them into one block per task, which fixes the split and merged rows.
Step three: every task is validated with Pydantic. It is a typed contract between the parser and the rest of the system. If the data is wrong, it fails loudly instead of silently.
Step four: I save the result as a cached file. Why? Because during deployment on the free hosting tier, parsing the PDF at every start ran out of memory. I parsed once at build time, and the problem disappeared.
Each tool was chosen for one reason, not because it was popular.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Modeling, the graph and retrieval (5:00 to 6:30)
Now the modeling. The 327 nodes and 132 roles are stored in a graph, using NetworkX. A task is connected to the roles that act on it, and the connection says how: responsible, level, action code. One role can act on one task in several ways, so I use a multi-graph that allows parallel links.
When a question arrives, there are three possible outcomes. [Point to the three cards.]
Exact: if you type an id like 2.126, it is resolved with certainty.
Semantic: if you describe the task, I use TF-IDF to find it. I chose it over embeddings for three reasons: titles are short and keyword-rich, it needs no GPU and no labelled data, and I can explain every score.
Honest: if the id does not exist, the agent says so, instead of guessing.
Typos are corrected with a deterministic method based on string similarity, so it also works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Modeling, grounded AI (6:30 to 7:30)
This is the slide that answers: why should we trust it?
The language model never reads the whole document. It receives only the facts of the task that was retrieved. Its prompt is strict, with a low temperature: it may rephrase, it may not add a role.
Then a grounding check compares the answer with the facts. If an expected role is missing, I throw the answer away and return a deterministic template answer instead. So the user always gets a correct answer, even if the language model is down.
I want to be honest about one limit: today, the check verifies that the required roles are present. It does not yet detect an extra role that was added. That is my first improvement.
The system is hybrid: Groq in the cloud by default, and Ollama locally for cases where data must not leave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Demo 1: landing, login, chat (7:30 to 9:00)
[Landing page appears. Let the animation play for two seconds.]
"This is the landing page of the application. Two entry points: the Chat, where you ask questions, and the Dashboard, where you see the matrix at a glance."
[Click the Chat card. The login page appears.]
"Both are protected. When I click Chat, I am asked to sign in, because this tool is for Bank staff. I can use my email, or Google, or Microsoft."
[Sign in. The chat opens.]
"I am in. LLM mode is on Auto, and my conversations are saved to my account. Let's ask a first question."
[Type `who approves 2.126`, press Enter.]
"Who approves task 2.126?"
[Answer appears. Move the cursor over the approver, then the Check/Verify and informed lines.]
"The agent names the approver. And look: it also tells me who must check and verify, and who must be informed. In the matrix, those steps are mandatory, so the agent shows them every time, even if I only asked about the approver."
[Type `who needs to be informed for quarterly mission program`.]
"Now I do not give an id. I describe the task in words."
[Answer appears.]
"Same task, found from its name."
[Type `who aproves the qaurterly mision program`.]
"Now with two typos."
[Answer appears.]
"Same correct answer. The correction is deterministic, so it works even offline."
[Type the French question. Show the language badge.]
"And in French. The answer comes in French, and the interface follows."
[Type `what happens with 9.999.999`.]
"One last question, an id that does not exist."
[Refusal appears. Pause two seconds.]
"The agent refuses. It does not guess. This refusal is a feature, not a failure: every real answer must come from a real row of the matrix."
Bridge: "That is the agent. Now let's see the rest of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Demo 2: platform and dashboard (9:00 to 10:30)
[Still in the chat. Open the conversation sidebar.]
"Every conversation is saved in the sidebar, so a user can come back to it later."
[Click Share. The QR code appears.]
"I can share a conversation with a colleague through a QR code. They scan it, and they are notified live."
[Close the modal. Click the mic, ask a question aloud, then click speak-aloud on the answer.]
"I can ask by voice, and have the answer read back to me. This helps staff who are on the move."
[Attach the test file, ask a question about it.]
"And I can upload a document, for example a Word file or a PDF, and ask questions about it."
[Go back to the landing page. Click the Dashboard card. If the login page appears, sign in again.]
"Back on the landing page, I now click Dashboard. The same protection applies: access is only for authenticated users."
[Dashboard opens. Pick a chapter in the filter.]
"The dashboard gives a view of the whole matrix. I can filter by chapter, and every card and chart updates."
[Click a bar in the action-code chart. The roles chart changes.]
"If I click an action code, for example Approve, I see which roles approve the most. And these two coverage indicators are real data-quality signals about the extraction: the average responsibilities per task, and the share of tasks with no direct responsibility."
Bridge: "So we have a working product. The next question is: how do I know it is correct? Let's talk about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Evaluation (10:30 to 12:00)
Now, evaluation. I have 137 automated tests covering the parser, the graph, the agent, authentication and the API.
But I will be clear: 137 tests measure code quality, not answer accuracy.
What taught me the most were real bugs, found by testing real questions. [Point to the table, pick two.]
For example, an invalid code was matching an unrelated task. Now it returns an explicit "invalid id" result. Another: questions about action codes were swallowed by my follow-up logic, so I now check the intent first. And as I said, the free hosting ran out of memory, so I cached the parsed data. Every bug became a regression test.
The next step is a benchmark: a set of questions with the expected roles, to give you a precision figure. I already know how to build it, and it is the first thing I would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Deployment (12:00 to 13:00)
For deployment, everything is containerized with Docker: one command starts the application, the frontend and the local model.
In the cloud, the backend is FastAPI, the frontend is React, the database is Postgres on Neon, and files are stored on S3-compatible storage.
Security: hashed passwords, tokens, rate-limited login, admin-only routes.
And the interface adapts to the language the user types in.
One honest remark: rate limiting and live notifications work per process today. For several servers, I would move them to Redis.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Conclusion (13:00 to 14:00)
To conclude. What did the Bank get? A live product, tested, in four languages. What is missing? A precision benchmark and a stronger grounding check. What comes next? Other Bank matrices, and a scalable setup.
Seconds instead of minutes. Sources instead of guesses.
Thank you for your attention. I am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B3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DAM AI Agent · technical defense</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098280" y="1508760"/>
            <a:ext cx="1920240" cy="640080"/>
          </a:xfrm>
          <a:prstGeom prst="line">
            <a:avLst/>
          </a:prstGeom>
          <a:noFill/>
          <a:ln w="19050">
            <a:solidFill>
              <a:srgbClr val="2A7F77"/>
            </a:solidFill>
            <a:prstDash val="solid"/>
          </a:ln>
        </p:spPr>
      </p:sp>
      <p:sp>
        <p:nvSpPr>
          <p:cNvPr id="3" name="Shape 1"/>
          <p:cNvSpPr/>
          <p:nvPr/>
        </p:nvSpPr>
        <p:spPr>
          <a:xfrm>
            <a:off x="9098280" y="1508760"/>
            <a:ext cx="822960" cy="2103120"/>
          </a:xfrm>
          <a:prstGeom prst="line">
            <a:avLst/>
          </a:prstGeom>
          <a:noFill/>
          <a:ln w="19050">
            <a:solidFill>
              <a:srgbClr val="2A7F77"/>
            </a:solidFill>
            <a:prstDash val="solid"/>
          </a:ln>
        </p:spPr>
      </p:sp>
      <p:sp>
        <p:nvSpPr>
          <p:cNvPr id="4" name="Shape 2"/>
          <p:cNvSpPr/>
          <p:nvPr/>
        </p:nvSpPr>
        <p:spPr>
          <a:xfrm flipV="1">
            <a:off x="9921240" y="2148840"/>
            <a:ext cx="1097280" cy="1463040"/>
          </a:xfrm>
          <a:prstGeom prst="line">
            <a:avLst/>
          </a:prstGeom>
          <a:noFill/>
          <a:ln w="19050">
            <a:solidFill>
              <a:srgbClr val="2A7F77"/>
            </a:solidFill>
            <a:prstDash val="solid"/>
          </a:ln>
        </p:spPr>
      </p:sp>
      <p:sp>
        <p:nvSpPr>
          <p:cNvPr id="5" name="Shape 3"/>
          <p:cNvSpPr/>
          <p:nvPr/>
        </p:nvSpPr>
        <p:spPr>
          <a:xfrm>
            <a:off x="9921240" y="3611880"/>
            <a:ext cx="1508760" cy="777240"/>
          </a:xfrm>
          <a:prstGeom prst="line">
            <a:avLst/>
          </a:prstGeom>
          <a:noFill/>
          <a:ln w="19050">
            <a:solidFill>
              <a:srgbClr val="2A7F77"/>
            </a:solidFill>
            <a:prstDash val="solid"/>
          </a:ln>
        </p:spPr>
      </p:sp>
      <p:sp>
        <p:nvSpPr>
          <p:cNvPr id="6" name="Shape 4"/>
          <p:cNvSpPr/>
          <p:nvPr/>
        </p:nvSpPr>
        <p:spPr>
          <a:xfrm flipV="1">
            <a:off x="8755380" y="3611880"/>
            <a:ext cx="1165860" cy="1577340"/>
          </a:xfrm>
          <a:prstGeom prst="line">
            <a:avLst/>
          </a:prstGeom>
          <a:noFill/>
          <a:ln w="19050">
            <a:solidFill>
              <a:srgbClr val="2A7F77"/>
            </a:solidFill>
            <a:prstDash val="solid"/>
          </a:ln>
        </p:spPr>
      </p:sp>
      <p:sp>
        <p:nvSpPr>
          <p:cNvPr id="7" name="Shape 5"/>
          <p:cNvSpPr/>
          <p:nvPr/>
        </p:nvSpPr>
        <p:spPr>
          <a:xfrm>
            <a:off x="9921240" y="3611880"/>
            <a:ext cx="754380" cy="2125980"/>
          </a:xfrm>
          <a:prstGeom prst="line">
            <a:avLst/>
          </a:prstGeom>
          <a:noFill/>
          <a:ln w="19050">
            <a:solidFill>
              <a:srgbClr val="2A7F77"/>
            </a:solidFill>
            <a:prstDash val="solid"/>
          </a:ln>
        </p:spPr>
      </p:sp>
      <p:sp>
        <p:nvSpPr>
          <p:cNvPr id="8" name="Shape 6"/>
          <p:cNvSpPr/>
          <p:nvPr/>
        </p:nvSpPr>
        <p:spPr>
          <a:xfrm flipV="1">
            <a:off x="10675620" y="4389120"/>
            <a:ext cx="754380" cy="1348740"/>
          </a:xfrm>
          <a:prstGeom prst="line">
            <a:avLst/>
          </a:prstGeom>
          <a:noFill/>
          <a:ln w="19050">
            <a:solidFill>
              <a:srgbClr val="2A7F77"/>
            </a:solidFill>
            <a:prstDash val="solid"/>
          </a:ln>
        </p:spPr>
      </p:sp>
      <p:sp>
        <p:nvSpPr>
          <p:cNvPr id="9" name="Shape 7"/>
          <p:cNvSpPr/>
          <p:nvPr/>
        </p:nvSpPr>
        <p:spPr>
          <a:xfrm>
            <a:off x="8755380" y="5189220"/>
            <a:ext cx="1920240" cy="548640"/>
          </a:xfrm>
          <a:prstGeom prst="line">
            <a:avLst/>
          </a:prstGeom>
          <a:noFill/>
          <a:ln w="19050">
            <a:solidFill>
              <a:srgbClr val="2A7F77"/>
            </a:solidFill>
            <a:prstDash val="solid"/>
          </a:ln>
        </p:spPr>
      </p:sp>
      <p:sp>
        <p:nvSpPr>
          <p:cNvPr id="10" name="Shape 8"/>
          <p:cNvSpPr/>
          <p:nvPr/>
        </p:nvSpPr>
        <p:spPr>
          <a:xfrm>
            <a:off x="8778240" y="1188720"/>
            <a:ext cx="640080" cy="640080"/>
          </a:xfrm>
          <a:prstGeom prst="ellipse">
            <a:avLst/>
          </a:prstGeom>
          <a:solidFill>
            <a:srgbClr val="E8A33D"/>
          </a:solidFill>
          <a:ln w="12700">
            <a:solidFill>
              <a:srgbClr val="E8A33D"/>
            </a:solidFill>
            <a:prstDash val="solid"/>
          </a:ln>
        </p:spPr>
      </p:sp>
      <p:sp>
        <p:nvSpPr>
          <p:cNvPr id="11" name="Shape 9"/>
          <p:cNvSpPr/>
          <p:nvPr/>
        </p:nvSpPr>
        <p:spPr>
          <a:xfrm>
            <a:off x="10789920" y="1920240"/>
            <a:ext cx="457200" cy="457200"/>
          </a:xfrm>
          <a:prstGeom prst="ellipse">
            <a:avLst/>
          </a:prstGeom>
          <a:solidFill>
            <a:srgbClr val="9DC3BD"/>
          </a:solidFill>
          <a:ln w="12700">
            <a:solidFill>
              <a:srgbClr val="9DC3BD"/>
            </a:solidFill>
            <a:prstDash val="solid"/>
          </a:ln>
        </p:spPr>
      </p:sp>
      <p:sp>
        <p:nvSpPr>
          <p:cNvPr id="12" name="Shape 10"/>
          <p:cNvSpPr/>
          <p:nvPr/>
        </p:nvSpPr>
        <p:spPr>
          <a:xfrm>
            <a:off x="9509760" y="3200400"/>
            <a:ext cx="822960" cy="822960"/>
          </a:xfrm>
          <a:prstGeom prst="ellipse">
            <a:avLst/>
          </a:prstGeom>
          <a:solidFill>
            <a:srgbClr val="2A7F77"/>
          </a:solidFill>
          <a:ln w="12700">
            <a:solidFill>
              <a:srgbClr val="2A7F77"/>
            </a:solidFill>
            <a:prstDash val="solid"/>
          </a:ln>
        </p:spPr>
      </p:sp>
      <p:sp>
        <p:nvSpPr>
          <p:cNvPr id="13" name="Shape 11"/>
          <p:cNvSpPr/>
          <p:nvPr/>
        </p:nvSpPr>
        <p:spPr>
          <a:xfrm>
            <a:off x="11155680" y="4114800"/>
            <a:ext cx="548640" cy="548640"/>
          </a:xfrm>
          <a:prstGeom prst="ellipse">
            <a:avLst/>
          </a:prstGeom>
          <a:solidFill>
            <a:srgbClr val="E8A33D"/>
          </a:solidFill>
          <a:ln w="12700">
            <a:solidFill>
              <a:srgbClr val="E8A33D"/>
            </a:solidFill>
            <a:prstDash val="solid"/>
          </a:ln>
        </p:spPr>
      </p:sp>
      <p:sp>
        <p:nvSpPr>
          <p:cNvPr id="14" name="Shape 12"/>
          <p:cNvSpPr/>
          <p:nvPr/>
        </p:nvSpPr>
        <p:spPr>
          <a:xfrm>
            <a:off x="8503920" y="4937760"/>
            <a:ext cx="502920" cy="502920"/>
          </a:xfrm>
          <a:prstGeom prst="ellipse">
            <a:avLst/>
          </a:prstGeom>
          <a:solidFill>
            <a:srgbClr val="9DC3BD"/>
          </a:solidFill>
          <a:ln w="12700">
            <a:solidFill>
              <a:srgbClr val="9DC3BD"/>
            </a:solidFill>
            <a:prstDash val="solid"/>
          </a:ln>
        </p:spPr>
      </p:sp>
      <p:sp>
        <p:nvSpPr>
          <p:cNvPr id="15" name="Shape 13"/>
          <p:cNvSpPr/>
          <p:nvPr/>
        </p:nvSpPr>
        <p:spPr>
          <a:xfrm>
            <a:off x="10332720" y="5394960"/>
            <a:ext cx="685800" cy="685800"/>
          </a:xfrm>
          <a:prstGeom prst="ellipse">
            <a:avLst/>
          </a:prstGeom>
          <a:solidFill>
            <a:srgbClr val="2A7F77"/>
          </a:solidFill>
          <a:ln w="12700">
            <a:solidFill>
              <a:srgbClr val="2A7F77"/>
            </a:solidFill>
            <a:prstDash val="solid"/>
          </a:ln>
        </p:spPr>
      </p:sp>
      <p:sp>
        <p:nvSpPr>
          <p:cNvPr id="16" name="Text 14"/>
          <p:cNvSpPr txBox="1"/>
          <p:nvPr/>
        </p:nvSpPr>
        <p:spPr>
          <a:xfrm>
            <a:off x="731520" y="914400"/>
            <a:ext cx="6400800" cy="365760"/>
          </a:xfrm>
          <a:prstGeom prst="rect">
            <a:avLst/>
          </a:prstGeom>
          <a:noFill/>
          <a:ln/>
        </p:spPr>
        <p:txBody>
          <a:bodyPr wrap="square" lIns="0" tIns="0" rIns="0" bIns="0" rtlCol="0" anchor="t"/>
          <a:lstStyle/>
          <a:p>
            <a:pPr indent="0" marL="0">
              <a:buNone/>
            </a:pPr>
            <a:r>
              <a:rPr lang="en-US" sz="1400" b="1" spc="400" kern="0" dirty="0">
                <a:solidFill>
                  <a:srgbClr val="E8A33D"/>
                </a:solidFill>
                <a:latin typeface="Calibri" pitchFamily="34" charset="0"/>
                <a:ea typeface="Calibri" pitchFamily="34" charset="-122"/>
                <a:cs typeface="Calibri" pitchFamily="34" charset="-120"/>
              </a:rPr>
              <a:t>PRE-DEFENSE  ·  PFE 2026</a:t>
            </a:r>
            <a:endParaRPr lang="en-US" sz="1400" dirty="0"/>
          </a:p>
        </p:txBody>
      </p:sp>
      <p:sp>
        <p:nvSpPr>
          <p:cNvPr id="17" name="Text 15"/>
          <p:cNvSpPr txBox="1"/>
          <p:nvPr/>
        </p:nvSpPr>
        <p:spPr>
          <a:xfrm>
            <a:off x="731520" y="1554480"/>
            <a:ext cx="7315200" cy="256032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Ask the DAM.</a:t>
            </a:r>
            <a:endParaRPr lang="en-US" sz="5400" dirty="0"/>
          </a:p>
          <a:p>
            <a:pPr indent="0" marL="0">
              <a:buNone/>
            </a:pPr>
            <a:r>
              <a:rPr lang="en-US" sz="5400" b="1" dirty="0">
                <a:solidFill>
                  <a:srgbClr val="FFFFFF"/>
                </a:solidFill>
                <a:latin typeface="Cambria" pitchFamily="34" charset="0"/>
                <a:ea typeface="Cambria" pitchFamily="34" charset="-122"/>
                <a:cs typeface="Cambria" pitchFamily="34" charset="-120"/>
              </a:rPr>
              <a:t>Get the answer.</a:t>
            </a:r>
            <a:endParaRPr lang="en-US" sz="5400" dirty="0"/>
          </a:p>
          <a:p>
            <a:pPr indent="0" marL="0">
              <a:buNone/>
            </a:pPr>
            <a:r>
              <a:rPr lang="en-US" sz="5400" b="1" dirty="0">
                <a:solidFill>
                  <a:srgbClr val="FFFFFF"/>
                </a:solidFill>
                <a:latin typeface="Cambria" pitchFamily="34" charset="0"/>
                <a:ea typeface="Cambria" pitchFamily="34" charset="-122"/>
                <a:cs typeface="Cambria" pitchFamily="34" charset="-120"/>
              </a:rPr>
              <a:t>With proof.</a:t>
            </a:r>
            <a:endParaRPr lang="en-US" sz="5400" dirty="0"/>
          </a:p>
        </p:txBody>
      </p:sp>
      <p:sp>
        <p:nvSpPr>
          <p:cNvPr id="18" name="Text 16"/>
          <p:cNvSpPr txBox="1"/>
          <p:nvPr/>
        </p:nvSpPr>
        <p:spPr>
          <a:xfrm>
            <a:off x="731520" y="4297680"/>
            <a:ext cx="6949440" cy="822960"/>
          </a:xfrm>
          <a:prstGeom prst="rect">
            <a:avLst/>
          </a:prstGeom>
          <a:noFill/>
          <a:ln/>
        </p:spPr>
        <p:txBody>
          <a:bodyPr wrap="square" lIns="0" tIns="0" rIns="0" bIns="0" rtlCol="0" anchor="t"/>
          <a:lstStyle/>
          <a:p>
            <a:pPr indent="0" marL="0">
              <a:buNone/>
            </a:pPr>
            <a:r>
              <a:rPr lang="en-US" sz="1800" dirty="0">
                <a:solidFill>
                  <a:srgbClr val="9DC3BD"/>
                </a:solidFill>
                <a:latin typeface="Calibri" pitchFamily="34" charset="0"/>
                <a:ea typeface="Calibri" pitchFamily="34" charset="-122"/>
                <a:cs typeface="Calibri" pitchFamily="34" charset="-120"/>
              </a:rPr>
              <a:t>An AI agent that turns the African Development Bank's Delegation of Authority Matrix into instant, grounded answers</a:t>
            </a:r>
            <a:endParaRPr lang="en-US" sz="1800" dirty="0"/>
          </a:p>
        </p:txBody>
      </p:sp>
      <p:sp>
        <p:nvSpPr>
          <p:cNvPr id="19" name="Text 17"/>
          <p:cNvSpPr txBox="1"/>
          <p:nvPr/>
        </p:nvSpPr>
        <p:spPr>
          <a:xfrm>
            <a:off x="731520" y="5760720"/>
            <a:ext cx="731520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Adem Mrabet  ·  Polytech Intl  ·  Supervisor: [name]</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 79-page matrix nobody can search</a:t>
            </a:r>
            <a:endParaRPr lang="en-US" sz="3400" dirty="0"/>
          </a:p>
        </p:txBody>
      </p:sp>
      <p:sp>
        <p:nvSpPr>
          <p:cNvPr id="3" name="Shape 1"/>
          <p:cNvSpPr/>
          <p:nvPr/>
        </p:nvSpPr>
        <p:spPr>
          <a:xfrm>
            <a:off x="4572000" y="6373368"/>
            <a:ext cx="1005840" cy="237744"/>
          </a:xfrm>
          <a:prstGeom prst="roundRect">
            <a:avLst>
              <a:gd name="adj" fmla="val 50000"/>
            </a:avLst>
          </a:prstGeom>
          <a:solidFill>
            <a:srgbClr val="E8A33D"/>
          </a:solidFill>
          <a:ln w="12700">
            <a:solidFill>
              <a:srgbClr val="E8A33D"/>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54480"/>
            <a:ext cx="3520440" cy="3566160"/>
          </a:xfrm>
          <a:prstGeom prst="roundRect">
            <a:avLst>
              <a:gd name="adj" fmla="val 2078"/>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pic>
        <p:nvPicPr>
          <p:cNvPr id="16" name="Image 0" descr="preencoded.png">    </p:cNvPr>
          <p:cNvPicPr>
            <a:picLocks noChangeAspect="1"/>
          </p:cNvPicPr>
          <p:nvPr/>
        </p:nvPicPr>
        <p:blipFill>
          <a:blip r:embed="rId1"/>
          <a:stretch>
            <a:fillRect/>
          </a:stretch>
        </p:blipFill>
        <p:spPr>
          <a:xfrm>
            <a:off x="822960" y="1828800"/>
            <a:ext cx="548640" cy="548640"/>
          </a:xfrm>
          <a:prstGeom prst="rect">
            <a:avLst/>
          </a:prstGeom>
        </p:spPr>
      </p:pic>
      <p:sp>
        <p:nvSpPr>
          <p:cNvPr id="17" name="Text 14"/>
          <p:cNvSpPr txBox="1"/>
          <p:nvPr/>
        </p:nvSpPr>
        <p:spPr>
          <a:xfrm>
            <a:off x="822960" y="2606040"/>
            <a:ext cx="2971800" cy="10972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Who approves? Who checks? Who must be informed?</a:t>
            </a:r>
            <a:endParaRPr lang="en-US" sz="2100" dirty="0"/>
          </a:p>
        </p:txBody>
      </p:sp>
      <p:sp>
        <p:nvSpPr>
          <p:cNvPr id="18" name="Text 15"/>
          <p:cNvSpPr txBox="1"/>
          <p:nvPr/>
        </p:nvSpPr>
        <p:spPr>
          <a:xfrm>
            <a:off x="822960" y="3794760"/>
            <a:ext cx="29718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Every task in the DAM has an answer, but it is buried in a dense PDF table.</a:t>
            </a:r>
            <a:endParaRPr lang="en-US" sz="1500" dirty="0"/>
          </a:p>
        </p:txBody>
      </p:sp>
      <p:sp>
        <p:nvSpPr>
          <p:cNvPr id="19" name="card"/>
          <p:cNvSpPr/>
          <p:nvPr/>
        </p:nvSpPr>
        <p:spPr>
          <a:xfrm>
            <a:off x="4297680" y="1554480"/>
            <a:ext cx="3520440" cy="3566160"/>
          </a:xfrm>
          <a:prstGeom prst="roundRect">
            <a:avLst>
              <a:gd name="adj" fmla="val 2078"/>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pic>
        <p:nvPicPr>
          <p:cNvPr id="20" name="Image 1" descr="preencoded.png">    </p:cNvPr>
          <p:cNvPicPr>
            <a:picLocks noChangeAspect="1"/>
          </p:cNvPicPr>
          <p:nvPr/>
        </p:nvPicPr>
        <p:blipFill>
          <a:blip r:embed="rId2"/>
          <a:stretch>
            <a:fillRect/>
          </a:stretch>
        </p:blipFill>
        <p:spPr>
          <a:xfrm>
            <a:off x="4572000" y="1828800"/>
            <a:ext cx="548640" cy="548640"/>
          </a:xfrm>
          <a:prstGeom prst="rect">
            <a:avLst/>
          </a:prstGeom>
        </p:spPr>
      </p:pic>
      <p:sp>
        <p:nvSpPr>
          <p:cNvPr id="21" name="Text 17"/>
          <p:cNvSpPr txBox="1"/>
          <p:nvPr/>
        </p:nvSpPr>
        <p:spPr>
          <a:xfrm>
            <a:off x="4572000" y="2606040"/>
            <a:ext cx="2971800" cy="10972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Minutes lost, every time</a:t>
            </a:r>
            <a:endParaRPr lang="en-US" sz="2100" dirty="0"/>
          </a:p>
        </p:txBody>
      </p:sp>
      <p:sp>
        <p:nvSpPr>
          <p:cNvPr id="22" name="Text 18"/>
          <p:cNvSpPr txBox="1"/>
          <p:nvPr/>
        </p:nvSpPr>
        <p:spPr>
          <a:xfrm>
            <a:off x="4572000" y="3794760"/>
            <a:ext cx="29718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Staff scroll, cross-reference footnotes and ask colleagues, who may also guess.</a:t>
            </a:r>
            <a:endParaRPr lang="en-US" sz="1500" dirty="0"/>
          </a:p>
        </p:txBody>
      </p:sp>
      <p:sp>
        <p:nvSpPr>
          <p:cNvPr id="23" name="card"/>
          <p:cNvSpPr/>
          <p:nvPr/>
        </p:nvSpPr>
        <p:spPr>
          <a:xfrm>
            <a:off x="8046720" y="1554480"/>
            <a:ext cx="3520440" cy="3566160"/>
          </a:xfrm>
          <a:prstGeom prst="roundRect">
            <a:avLst>
              <a:gd name="adj" fmla="val 2078"/>
            </a:avLst>
          </a:prstGeom>
          <a:solidFill>
            <a:srgbClr val="C8553D"/>
          </a:solidFill>
          <a:ln w="12700">
            <a:solidFill>
              <a:srgbClr val="C8553D"/>
            </a:solidFill>
            <a:prstDash val="solid"/>
          </a:ln>
          <a:effectLst>
            <a:outerShdw sx="100000" sy="100000" kx="0" ky="0" algn="bl" rotWithShape="0" blurRad="101600" dist="25400" dir="5400000">
              <a:srgbClr val="1B2A28">
                <a:alpha val="12000"/>
              </a:srgbClr>
            </a:outerShdw>
          </a:effectLst>
        </p:spPr>
      </p:sp>
      <p:pic>
        <p:nvPicPr>
          <p:cNvPr id="24" name="Image 2" descr="preencoded.png">    </p:cNvPr>
          <p:cNvPicPr>
            <a:picLocks noChangeAspect="1"/>
          </p:cNvPicPr>
          <p:nvPr/>
        </p:nvPicPr>
        <p:blipFill>
          <a:blip r:embed="rId3"/>
          <a:stretch>
            <a:fillRect/>
          </a:stretch>
        </p:blipFill>
        <p:spPr>
          <a:xfrm>
            <a:off x="8321040" y="1828800"/>
            <a:ext cx="548640" cy="548640"/>
          </a:xfrm>
          <a:prstGeom prst="rect">
            <a:avLst/>
          </a:prstGeom>
        </p:spPr>
      </p:pic>
      <p:sp>
        <p:nvSpPr>
          <p:cNvPr id="25" name="Text 20"/>
          <p:cNvSpPr txBox="1"/>
          <p:nvPr/>
        </p:nvSpPr>
        <p:spPr>
          <a:xfrm>
            <a:off x="8321040" y="2606040"/>
            <a:ext cx="2971800" cy="10972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A wrong answer has a price</a:t>
            </a:r>
            <a:endParaRPr lang="en-US" sz="2100" dirty="0"/>
          </a:p>
        </p:txBody>
      </p:sp>
      <p:sp>
        <p:nvSpPr>
          <p:cNvPr id="26" name="Text 21"/>
          <p:cNvSpPr txBox="1"/>
          <p:nvPr/>
        </p:nvSpPr>
        <p:spPr>
          <a:xfrm>
            <a:off x="8321040" y="3794760"/>
            <a:ext cx="29718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An unapproved decision is a governance and compliance risk for a development bank.</a:t>
            </a:r>
            <a:endParaRPr lang="en-US" sz="1500" dirty="0"/>
          </a:p>
        </p:txBody>
      </p:sp>
      <p:sp>
        <p:nvSpPr>
          <p:cNvPr id="27" name="Text 22"/>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1800" i="1" dirty="0">
                <a:solidFill>
                  <a:srgbClr val="0F3B36"/>
                </a:solidFill>
                <a:latin typeface="Cambria" pitchFamily="34" charset="0"/>
                <a:ea typeface="Cambria" pitchFamily="34" charset="-122"/>
                <a:cs typeface="Cambria" pitchFamily="34" charset="-120"/>
              </a:rPr>
              <a:t>Generic chatbots cannot be the answer: they invent roles that sound right.</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Our promise, in three measurable goals</a:t>
            </a:r>
            <a:endParaRPr lang="en-US" sz="3400" dirty="0"/>
          </a:p>
        </p:txBody>
      </p:sp>
      <p:sp>
        <p:nvSpPr>
          <p:cNvPr id="3" name="Shape 1"/>
          <p:cNvSpPr/>
          <p:nvPr/>
        </p:nvSpPr>
        <p:spPr>
          <a:xfrm>
            <a:off x="4572000" y="6373368"/>
            <a:ext cx="1005840" cy="237744"/>
          </a:xfrm>
          <a:prstGeom prst="roundRect">
            <a:avLst>
              <a:gd name="adj" fmla="val 50000"/>
            </a:avLst>
          </a:prstGeom>
          <a:solidFill>
            <a:srgbClr val="E8A33D"/>
          </a:solidFill>
          <a:ln w="12700">
            <a:solidFill>
              <a:srgbClr val="E8A33D"/>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54480"/>
            <a:ext cx="6949440" cy="1234440"/>
          </a:xfrm>
          <a:prstGeom prst="roundRect">
            <a:avLst>
              <a:gd name="adj" fmla="val 5926"/>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16" name="num-1"/>
          <p:cNvSpPr/>
          <p:nvPr/>
        </p:nvSpPr>
        <p:spPr>
          <a:xfrm>
            <a:off x="822960" y="1901952"/>
            <a:ext cx="548640" cy="548640"/>
          </a:xfrm>
          <a:prstGeom prst="ellipse">
            <a:avLst/>
          </a:prstGeom>
          <a:solidFill>
            <a:srgbClr val="2A7F77"/>
          </a:solidFill>
          <a:ln w="12700">
            <a:solidFill>
              <a:srgbClr val="2A7F77"/>
            </a:solidFill>
            <a:prstDash val="solid"/>
          </a:ln>
        </p:spPr>
      </p:sp>
      <p:sp>
        <p:nvSpPr>
          <p:cNvPr id="17" name="Text 15"/>
          <p:cNvSpPr txBox="1"/>
          <p:nvPr/>
        </p:nvSpPr>
        <p:spPr>
          <a:xfrm>
            <a:off x="822960" y="190195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8" name="Text 16"/>
          <p:cNvSpPr txBox="1"/>
          <p:nvPr/>
        </p:nvSpPr>
        <p:spPr>
          <a:xfrm>
            <a:off x="1645920" y="1719072"/>
            <a:ext cx="5486400" cy="41148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Precise</a:t>
            </a:r>
            <a:endParaRPr lang="en-US" sz="2200" dirty="0"/>
          </a:p>
        </p:txBody>
      </p:sp>
      <p:sp>
        <p:nvSpPr>
          <p:cNvPr id="19" name="Text 17"/>
          <p:cNvSpPr txBox="1"/>
          <p:nvPr/>
        </p:nvSpPr>
        <p:spPr>
          <a:xfrm>
            <a:off x="1645920" y="2176272"/>
            <a:ext cx="566928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Every answer traces to a node of the DAM. No source, no answer.</a:t>
            </a:r>
            <a:endParaRPr lang="en-US" sz="1500" dirty="0"/>
          </a:p>
        </p:txBody>
      </p:sp>
      <p:sp>
        <p:nvSpPr>
          <p:cNvPr id="20" name="card"/>
          <p:cNvSpPr/>
          <p:nvPr/>
        </p:nvSpPr>
        <p:spPr>
          <a:xfrm>
            <a:off x="548640" y="2971800"/>
            <a:ext cx="6949440" cy="1234440"/>
          </a:xfrm>
          <a:prstGeom prst="roundRect">
            <a:avLst>
              <a:gd name="adj" fmla="val 5926"/>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21" name="num-2"/>
          <p:cNvSpPr/>
          <p:nvPr/>
        </p:nvSpPr>
        <p:spPr>
          <a:xfrm>
            <a:off x="822960" y="3319272"/>
            <a:ext cx="548640" cy="548640"/>
          </a:xfrm>
          <a:prstGeom prst="ellipse">
            <a:avLst/>
          </a:prstGeom>
          <a:solidFill>
            <a:srgbClr val="2A7F77"/>
          </a:solidFill>
          <a:ln w="12700">
            <a:solidFill>
              <a:srgbClr val="2A7F77"/>
            </a:solidFill>
            <a:prstDash val="solid"/>
          </a:ln>
        </p:spPr>
      </p:sp>
      <p:sp>
        <p:nvSpPr>
          <p:cNvPr id="22" name="Text 20"/>
          <p:cNvSpPr txBox="1"/>
          <p:nvPr/>
        </p:nvSpPr>
        <p:spPr>
          <a:xfrm>
            <a:off x="822960" y="331927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3" name="Text 21"/>
          <p:cNvSpPr txBox="1"/>
          <p:nvPr/>
        </p:nvSpPr>
        <p:spPr>
          <a:xfrm>
            <a:off x="1645920" y="3136392"/>
            <a:ext cx="5486400" cy="41148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Instant</a:t>
            </a:r>
            <a:endParaRPr lang="en-US" sz="2200" dirty="0"/>
          </a:p>
        </p:txBody>
      </p:sp>
      <p:sp>
        <p:nvSpPr>
          <p:cNvPr id="24" name="Text 22"/>
          <p:cNvSpPr txBox="1"/>
          <p:nvPr/>
        </p:nvSpPr>
        <p:spPr>
          <a:xfrm>
            <a:off x="1645920" y="3593592"/>
            <a:ext cx="566928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Natural language, typos and four languages: French, Spanish, Portuguese, Arabic.</a:t>
            </a:r>
            <a:endParaRPr lang="en-US" sz="1500" dirty="0"/>
          </a:p>
        </p:txBody>
      </p:sp>
      <p:sp>
        <p:nvSpPr>
          <p:cNvPr id="25" name="card"/>
          <p:cNvSpPr/>
          <p:nvPr/>
        </p:nvSpPr>
        <p:spPr>
          <a:xfrm>
            <a:off x="548640" y="4389120"/>
            <a:ext cx="6949440" cy="1234440"/>
          </a:xfrm>
          <a:prstGeom prst="roundRect">
            <a:avLst>
              <a:gd name="adj" fmla="val 5926"/>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26" name="num-3"/>
          <p:cNvSpPr/>
          <p:nvPr/>
        </p:nvSpPr>
        <p:spPr>
          <a:xfrm>
            <a:off x="822960" y="4736592"/>
            <a:ext cx="548640" cy="548640"/>
          </a:xfrm>
          <a:prstGeom prst="ellipse">
            <a:avLst/>
          </a:prstGeom>
          <a:solidFill>
            <a:srgbClr val="2A7F77"/>
          </a:solidFill>
          <a:ln w="12700">
            <a:solidFill>
              <a:srgbClr val="2A7F77"/>
            </a:solidFill>
            <a:prstDash val="solid"/>
          </a:ln>
        </p:spPr>
      </p:sp>
      <p:sp>
        <p:nvSpPr>
          <p:cNvPr id="27" name="Text 25"/>
          <p:cNvSpPr txBox="1"/>
          <p:nvPr/>
        </p:nvSpPr>
        <p:spPr>
          <a:xfrm>
            <a:off x="822960" y="473659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8" name="Text 26"/>
          <p:cNvSpPr txBox="1"/>
          <p:nvPr/>
        </p:nvSpPr>
        <p:spPr>
          <a:xfrm>
            <a:off x="1645920" y="4553712"/>
            <a:ext cx="5486400" cy="41148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Trusted</a:t>
            </a:r>
            <a:endParaRPr lang="en-US" sz="2200" dirty="0"/>
          </a:p>
        </p:txBody>
      </p:sp>
      <p:sp>
        <p:nvSpPr>
          <p:cNvPr id="29" name="Text 27"/>
          <p:cNvSpPr txBox="1"/>
          <p:nvPr/>
        </p:nvSpPr>
        <p:spPr>
          <a:xfrm>
            <a:off x="1645920" y="5010912"/>
            <a:ext cx="566928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Honest refusal when the question is outside the document.</a:t>
            </a:r>
            <a:endParaRPr lang="en-US" sz="1500" dirty="0"/>
          </a:p>
        </p:txBody>
      </p:sp>
      <p:sp>
        <p:nvSpPr>
          <p:cNvPr id="30" name="card"/>
          <p:cNvSpPr/>
          <p:nvPr/>
        </p:nvSpPr>
        <p:spPr>
          <a:xfrm>
            <a:off x="8046720" y="1554480"/>
            <a:ext cx="3566160" cy="4069080"/>
          </a:xfrm>
          <a:prstGeom prst="roundRect">
            <a:avLst>
              <a:gd name="adj" fmla="val 2051"/>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sp>
        <p:nvSpPr>
          <p:cNvPr id="31" name="Text 29"/>
          <p:cNvSpPr txBox="1"/>
          <p:nvPr/>
        </p:nvSpPr>
        <p:spPr>
          <a:xfrm>
            <a:off x="8321040" y="1783080"/>
            <a:ext cx="3017520" cy="36576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Success looks like</a:t>
            </a:r>
            <a:endParaRPr lang="en-US" sz="1400" dirty="0"/>
          </a:p>
        </p:txBody>
      </p:sp>
      <p:sp>
        <p:nvSpPr>
          <p:cNvPr id="32" name="Text 30"/>
          <p:cNvSpPr txBox="1"/>
          <p:nvPr/>
        </p:nvSpPr>
        <p:spPr>
          <a:xfrm>
            <a:off x="8321040" y="2286000"/>
            <a:ext cx="3017520" cy="2011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Right role,</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right level,</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right footnote.</a:t>
            </a:r>
            <a:endParaRPr lang="en-US" sz="3000" dirty="0"/>
          </a:p>
        </p:txBody>
      </p:sp>
      <p:sp>
        <p:nvSpPr>
          <p:cNvPr id="33" name="Text 31"/>
          <p:cNvSpPr txBox="1"/>
          <p:nvPr/>
        </p:nvSpPr>
        <p:spPr>
          <a:xfrm>
            <a:off x="8321040" y="4389120"/>
            <a:ext cx="3017520" cy="1097280"/>
          </a:xfrm>
          <a:prstGeom prst="rect">
            <a:avLst/>
          </a:prstGeom>
          <a:noFill/>
          <a:ln/>
        </p:spPr>
        <p:txBody>
          <a:bodyPr wrap="square" lIns="0" tIns="0" rIns="0" bIns="0" rtlCol="0" anchor="t"/>
          <a:lstStyle/>
          <a:p>
            <a:pPr indent="0" marL="0">
              <a:buNone/>
            </a:pPr>
            <a:r>
              <a:rPr lang="en-US" sz="1400" dirty="0">
                <a:solidFill>
                  <a:srgbClr val="9DC3BD"/>
                </a:solidFill>
                <a:latin typeface="Calibri" pitchFamily="34" charset="0"/>
                <a:ea typeface="Calibri" pitchFamily="34" charset="-122"/>
                <a:cs typeface="Calibri" pitchFamily="34" charset="-120"/>
              </a:rPr>
              <a:t>Not a demo that sounds smart: an assistant a Bank employee can rely on.</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Inside the document: 327 nodes, 132 roles, 2,108 links</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8A33D"/>
          </a:solidFill>
          <a:ln w="12700">
            <a:solidFill>
              <a:srgbClr val="E8A33D"/>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54480"/>
            <a:ext cx="2651760" cy="1463040"/>
          </a:xfrm>
          <a:prstGeom prst="roundRect">
            <a:avLst>
              <a:gd name="adj" fmla="val 5000"/>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sp>
        <p:nvSpPr>
          <p:cNvPr id="16" name="Text 14"/>
          <p:cNvSpPr txBox="1"/>
          <p:nvPr/>
        </p:nvSpPr>
        <p:spPr>
          <a:xfrm>
            <a:off x="731520" y="1691640"/>
            <a:ext cx="2286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327</a:t>
            </a:r>
            <a:endParaRPr lang="en-US" sz="4000" dirty="0"/>
          </a:p>
        </p:txBody>
      </p:sp>
      <p:sp>
        <p:nvSpPr>
          <p:cNvPr id="17" name="Text 15"/>
          <p:cNvSpPr txBox="1"/>
          <p:nvPr/>
        </p:nvSpPr>
        <p:spPr>
          <a:xfrm>
            <a:off x="731520" y="2423160"/>
            <a:ext cx="22860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nodes parsed from the PDF: tasks, processes, chapters</a:t>
            </a:r>
            <a:endParaRPr lang="en-US" sz="1400" dirty="0"/>
          </a:p>
        </p:txBody>
      </p:sp>
      <p:sp>
        <p:nvSpPr>
          <p:cNvPr id="18" name="card"/>
          <p:cNvSpPr/>
          <p:nvPr/>
        </p:nvSpPr>
        <p:spPr>
          <a:xfrm>
            <a:off x="3383280" y="1554480"/>
            <a:ext cx="2651760" cy="1463040"/>
          </a:xfrm>
          <a:prstGeom prst="roundRect">
            <a:avLst>
              <a:gd name="adj" fmla="val 5000"/>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sp>
        <p:nvSpPr>
          <p:cNvPr id="19" name="Text 17"/>
          <p:cNvSpPr txBox="1"/>
          <p:nvPr/>
        </p:nvSpPr>
        <p:spPr>
          <a:xfrm>
            <a:off x="3566160" y="1691640"/>
            <a:ext cx="2286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132</a:t>
            </a:r>
            <a:endParaRPr lang="en-US" sz="4000" dirty="0"/>
          </a:p>
        </p:txBody>
      </p:sp>
      <p:sp>
        <p:nvSpPr>
          <p:cNvPr id="20" name="Text 18"/>
          <p:cNvSpPr txBox="1"/>
          <p:nvPr/>
        </p:nvSpPr>
        <p:spPr>
          <a:xfrm>
            <a:off x="3566160" y="2423160"/>
            <a:ext cx="22860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distinct roles, linked to the tasks they act on</a:t>
            </a:r>
            <a:endParaRPr lang="en-US" sz="1400" dirty="0"/>
          </a:p>
        </p:txBody>
      </p:sp>
      <p:sp>
        <p:nvSpPr>
          <p:cNvPr id="21" name="card"/>
          <p:cNvSpPr/>
          <p:nvPr/>
        </p:nvSpPr>
        <p:spPr>
          <a:xfrm>
            <a:off x="6217920" y="1554480"/>
            <a:ext cx="2651760" cy="1463040"/>
          </a:xfrm>
          <a:prstGeom prst="roundRect">
            <a:avLst>
              <a:gd name="adj" fmla="val 5000"/>
            </a:avLst>
          </a:prstGeom>
          <a:solidFill>
            <a:srgbClr val="C8553D"/>
          </a:solidFill>
          <a:ln w="12700">
            <a:solidFill>
              <a:srgbClr val="C8553D"/>
            </a:solidFill>
            <a:prstDash val="solid"/>
          </a:ln>
          <a:effectLst>
            <a:outerShdw sx="100000" sy="100000" kx="0" ky="0" algn="bl" rotWithShape="0" blurRad="101600" dist="25400" dir="5400000">
              <a:srgbClr val="1B2A28">
                <a:alpha val="12000"/>
              </a:srgbClr>
            </a:outerShdw>
          </a:effectLst>
        </p:spPr>
      </p:sp>
      <p:sp>
        <p:nvSpPr>
          <p:cNvPr id="22" name="Text 20"/>
          <p:cNvSpPr txBox="1"/>
          <p:nvPr/>
        </p:nvSpPr>
        <p:spPr>
          <a:xfrm>
            <a:off x="6400800" y="1691640"/>
            <a:ext cx="2286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2,108</a:t>
            </a:r>
            <a:endParaRPr lang="en-US" sz="4000" dirty="0"/>
          </a:p>
        </p:txBody>
      </p:sp>
      <p:sp>
        <p:nvSpPr>
          <p:cNvPr id="23" name="Text 21"/>
          <p:cNvSpPr txBox="1"/>
          <p:nvPr/>
        </p:nvSpPr>
        <p:spPr>
          <a:xfrm>
            <a:off x="6400800" y="2423160"/>
            <a:ext cx="22860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links: 1,776 role-to-task, 322 hierarchy, 10 refs</a:t>
            </a:r>
            <a:endParaRPr lang="en-US" sz="1400" dirty="0"/>
          </a:p>
        </p:txBody>
      </p:sp>
      <p:sp>
        <p:nvSpPr>
          <p:cNvPr id="24" name="Text 22"/>
          <p:cNvSpPr txBox="1"/>
          <p:nvPr/>
        </p:nvSpPr>
        <p:spPr>
          <a:xfrm>
            <a:off x="548640" y="3337560"/>
            <a:ext cx="5486400" cy="365760"/>
          </a:xfrm>
          <a:prstGeom prst="rect">
            <a:avLst/>
          </a:prstGeom>
          <a:noFill/>
          <a:ln/>
        </p:spPr>
        <p:txBody>
          <a:bodyPr wrap="square" lIns="0" tIns="0" rIns="0" bIns="0" rtlCol="0" anchor="t"/>
          <a:lstStyle/>
          <a:p>
            <a:pPr indent="0" marL="0">
              <a:buNone/>
            </a:pPr>
            <a:r>
              <a:rPr lang="en-US" sz="1800" b="1" dirty="0">
                <a:solidFill>
                  <a:srgbClr val="0F3B36"/>
                </a:solidFill>
                <a:latin typeface="Cambria" pitchFamily="34" charset="0"/>
                <a:ea typeface="Cambria" pitchFamily="34" charset="-122"/>
                <a:cs typeface="Cambria" pitchFamily="34" charset="-120"/>
              </a:rPr>
              <a:t>What made it hard</a:t>
            </a:r>
            <a:endParaRPr lang="en-US" sz="1800" dirty="0"/>
          </a:p>
        </p:txBody>
      </p:sp>
      <p:sp>
        <p:nvSpPr>
          <p:cNvPr id="25" name="Text 23"/>
          <p:cNvSpPr txBox="1"/>
          <p:nvPr/>
        </p:nvSpPr>
        <p:spPr>
          <a:xfrm>
            <a:off x="548640" y="3794760"/>
            <a:ext cx="8229600" cy="2103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Footnote digits look like level digits once text is extracted</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Rows split across pages, merged cells hide roles</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Tasks point to each other: "See 1.117.2"</a:t>
            </a:r>
            <a:endParaRPr lang="en-US" sz="1700" dirty="0"/>
          </a:p>
        </p:txBody>
      </p:sp>
      <p:sp>
        <p:nvSpPr>
          <p:cNvPr id="26" name="card"/>
          <p:cNvSpPr/>
          <p:nvPr/>
        </p:nvSpPr>
        <p:spPr>
          <a:xfrm>
            <a:off x="9144000" y="1554480"/>
            <a:ext cx="2514600" cy="4114800"/>
          </a:xfrm>
          <a:prstGeom prst="roundRect">
            <a:avLst>
              <a:gd name="adj" fmla="val 2909"/>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27" name="Text 25"/>
          <p:cNvSpPr txBox="1"/>
          <p:nvPr/>
        </p:nvSpPr>
        <p:spPr>
          <a:xfrm>
            <a:off x="9372600" y="1828800"/>
            <a:ext cx="2103120" cy="146304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Dirty data in,</a:t>
            </a:r>
            <a:endParaRPr lang="en-US" sz="2200" dirty="0"/>
          </a:p>
          <a:p>
            <a:pPr indent="0" marL="0">
              <a:buNone/>
            </a:pPr>
            <a:r>
              <a:rPr lang="en-US" sz="2200" b="1" dirty="0">
                <a:solidFill>
                  <a:srgbClr val="0F3B36"/>
                </a:solidFill>
                <a:latin typeface="Cambria" pitchFamily="34" charset="0"/>
                <a:ea typeface="Cambria" pitchFamily="34" charset="-122"/>
                <a:cs typeface="Cambria" pitchFamily="34" charset="-120"/>
              </a:rPr>
              <a:t>wrong answer out.</a:t>
            </a:r>
            <a:endParaRPr lang="en-US" sz="2200" dirty="0"/>
          </a:p>
        </p:txBody>
      </p:sp>
      <p:sp>
        <p:nvSpPr>
          <p:cNvPr id="28" name="Text 26"/>
          <p:cNvSpPr txBox="1"/>
          <p:nvPr/>
        </p:nvSpPr>
        <p:spPr>
          <a:xfrm>
            <a:off x="9372600" y="3474720"/>
            <a:ext cx="2103120" cy="1645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So the real work of this project was the data, not the model.</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From a PDF to a clean, typed knowledge base</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8A33D"/>
          </a:solidFill>
          <a:ln w="12700">
            <a:solidFill>
              <a:srgbClr val="E8A33D"/>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pic>
        <p:nvPicPr>
          <p:cNvPr id="15" name="Image 0" descr="/sessions/ecstatic-vibrant-goodall/mnt/damaiagent/chapters_ready/figures/fig2_pipeline.png">    </p:cNvPr>
          <p:cNvPicPr>
            <a:picLocks noChangeAspect="1"/>
          </p:cNvPicPr>
          <p:nvPr/>
        </p:nvPicPr>
        <p:blipFill>
          <a:blip r:embed="rId1"/>
          <a:stretch>
            <a:fillRect/>
          </a:stretch>
        </p:blipFill>
        <p:spPr>
          <a:xfrm>
            <a:off x="731520" y="1325880"/>
            <a:ext cx="1508760" cy="4270248"/>
          </a:xfrm>
          <a:prstGeom prst="rect">
            <a:avLst/>
          </a:prstGeom>
        </p:spPr>
      </p:pic>
      <p:sp>
        <p:nvSpPr>
          <p:cNvPr id="16" name="num-1"/>
          <p:cNvSpPr/>
          <p:nvPr/>
        </p:nvSpPr>
        <p:spPr>
          <a:xfrm>
            <a:off x="2377440" y="1463040"/>
            <a:ext cx="457200" cy="457200"/>
          </a:xfrm>
          <a:prstGeom prst="ellipse">
            <a:avLst/>
          </a:prstGeom>
          <a:solidFill>
            <a:srgbClr val="E8A33D"/>
          </a:solidFill>
          <a:ln w="12700">
            <a:solidFill>
              <a:srgbClr val="E8A33D"/>
            </a:solidFill>
            <a:prstDash val="solid"/>
          </a:ln>
        </p:spPr>
      </p:sp>
      <p:sp>
        <p:nvSpPr>
          <p:cNvPr id="17" name="Text 14"/>
          <p:cNvSpPr txBox="1"/>
          <p:nvPr/>
        </p:nvSpPr>
        <p:spPr>
          <a:xfrm>
            <a:off x="237744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8" name="Text 15"/>
          <p:cNvSpPr txBox="1"/>
          <p:nvPr/>
        </p:nvSpPr>
        <p:spPr>
          <a:xfrm>
            <a:off x="3017520" y="137160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Read characters, not words</a:t>
            </a:r>
            <a:endParaRPr lang="en-US" sz="2000" dirty="0"/>
          </a:p>
        </p:txBody>
      </p:sp>
      <p:sp>
        <p:nvSpPr>
          <p:cNvPr id="19" name="Text 16"/>
          <p:cNvSpPr txBox="1"/>
          <p:nvPr/>
        </p:nvSpPr>
        <p:spPr>
          <a:xfrm>
            <a:off x="3017520" y="178308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pdfplumber exposes size and position, so footnotes are told apart from levels.</a:t>
            </a:r>
            <a:endParaRPr lang="en-US" sz="1500" dirty="0"/>
          </a:p>
        </p:txBody>
      </p:sp>
      <p:sp>
        <p:nvSpPr>
          <p:cNvPr id="20" name="num-2"/>
          <p:cNvSpPr/>
          <p:nvPr/>
        </p:nvSpPr>
        <p:spPr>
          <a:xfrm>
            <a:off x="2377440" y="2560320"/>
            <a:ext cx="457200" cy="457200"/>
          </a:xfrm>
          <a:prstGeom prst="ellipse">
            <a:avLst/>
          </a:prstGeom>
          <a:solidFill>
            <a:srgbClr val="E8A33D"/>
          </a:solidFill>
          <a:ln w="12700">
            <a:solidFill>
              <a:srgbClr val="E8A33D"/>
            </a:solidFill>
            <a:prstDash val="solid"/>
          </a:ln>
        </p:spPr>
      </p:sp>
      <p:sp>
        <p:nvSpPr>
          <p:cNvPr id="21" name="Text 18"/>
          <p:cNvSpPr txBox="1"/>
          <p:nvPr/>
        </p:nvSpPr>
        <p:spPr>
          <a:xfrm>
            <a:off x="2377440" y="2560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2" name="Text 19"/>
          <p:cNvSpPr txBox="1"/>
          <p:nvPr/>
        </p:nvSpPr>
        <p:spPr>
          <a:xfrm>
            <a:off x="3017520" y="246888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Rebuild rows and task blocks</a:t>
            </a:r>
            <a:endParaRPr lang="en-US" sz="2000" dirty="0"/>
          </a:p>
        </p:txBody>
      </p:sp>
      <p:sp>
        <p:nvSpPr>
          <p:cNvPr id="23" name="Text 20"/>
          <p:cNvSpPr txBox="1"/>
          <p:nvPr/>
        </p:nvSpPr>
        <p:spPr>
          <a:xfrm>
            <a:off x="3017520" y="288036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Merged and split rows are reassembled into one task each.</a:t>
            </a:r>
            <a:endParaRPr lang="en-US" sz="1500" dirty="0"/>
          </a:p>
        </p:txBody>
      </p:sp>
      <p:sp>
        <p:nvSpPr>
          <p:cNvPr id="24" name="num-3"/>
          <p:cNvSpPr/>
          <p:nvPr/>
        </p:nvSpPr>
        <p:spPr>
          <a:xfrm>
            <a:off x="2377440" y="3657600"/>
            <a:ext cx="457200" cy="457200"/>
          </a:xfrm>
          <a:prstGeom prst="ellipse">
            <a:avLst/>
          </a:prstGeom>
          <a:solidFill>
            <a:srgbClr val="E8A33D"/>
          </a:solidFill>
          <a:ln w="12700">
            <a:solidFill>
              <a:srgbClr val="E8A33D"/>
            </a:solidFill>
            <a:prstDash val="solid"/>
          </a:ln>
        </p:spPr>
      </p:sp>
      <p:sp>
        <p:nvSpPr>
          <p:cNvPr id="25" name="Text 22"/>
          <p:cNvSpPr txBox="1"/>
          <p:nvPr/>
        </p:nvSpPr>
        <p:spPr>
          <a:xfrm>
            <a:off x="2377440" y="3657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6" name="Text 23"/>
          <p:cNvSpPr txBox="1"/>
          <p:nvPr/>
        </p:nvSpPr>
        <p:spPr>
          <a:xfrm>
            <a:off x="3017520" y="356616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Validate with Pydantic</a:t>
            </a:r>
            <a:endParaRPr lang="en-US" sz="2000" dirty="0"/>
          </a:p>
        </p:txBody>
      </p:sp>
      <p:sp>
        <p:nvSpPr>
          <p:cNvPr id="27" name="Text 24"/>
          <p:cNvSpPr txBox="1"/>
          <p:nvPr/>
        </p:nvSpPr>
        <p:spPr>
          <a:xfrm>
            <a:off x="3017520" y="397764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Typed contract between parser and graph: bad data fails loudly.</a:t>
            </a:r>
            <a:endParaRPr lang="en-US" sz="1500" dirty="0"/>
          </a:p>
        </p:txBody>
      </p:sp>
      <p:sp>
        <p:nvSpPr>
          <p:cNvPr id="28" name="num-4"/>
          <p:cNvSpPr/>
          <p:nvPr/>
        </p:nvSpPr>
        <p:spPr>
          <a:xfrm>
            <a:off x="2377440" y="4754880"/>
            <a:ext cx="457200" cy="457200"/>
          </a:xfrm>
          <a:prstGeom prst="ellipse">
            <a:avLst/>
          </a:prstGeom>
          <a:solidFill>
            <a:srgbClr val="E8A33D"/>
          </a:solidFill>
          <a:ln w="12700">
            <a:solidFill>
              <a:srgbClr val="E8A33D"/>
            </a:solidFill>
            <a:prstDash val="solid"/>
          </a:ln>
        </p:spPr>
      </p:sp>
      <p:sp>
        <p:nvSpPr>
          <p:cNvPr id="29" name="Text 26"/>
          <p:cNvSpPr txBox="1"/>
          <p:nvPr/>
        </p:nvSpPr>
        <p:spPr>
          <a:xfrm>
            <a:off x="2377440" y="4754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30" name="Text 27"/>
          <p:cNvSpPr txBox="1"/>
          <p:nvPr/>
        </p:nvSpPr>
        <p:spPr>
          <a:xfrm>
            <a:off x="3017520" y="466344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Cache as nodes.json</a:t>
            </a:r>
            <a:endParaRPr lang="en-US" sz="2000" dirty="0"/>
          </a:p>
        </p:txBody>
      </p:sp>
      <p:sp>
        <p:nvSpPr>
          <p:cNvPr id="31" name="Text 28"/>
          <p:cNvSpPr txBox="1"/>
          <p:nvPr/>
        </p:nvSpPr>
        <p:spPr>
          <a:xfrm>
            <a:off x="3017520" y="507492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Parse once at build time, so the free hosting tier does not run out of memory.</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 graph that knows who does what</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8A33D"/>
          </a:solidFill>
          <a:ln w="12700">
            <a:solidFill>
              <a:srgbClr val="E8A33D"/>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pic>
        <p:nvPicPr>
          <p:cNvPr id="15" name="Image 0" descr="/sessions/ecstatic-vibrant-goodall/mnt/damaiagent/chapters_ready/figures/fig3_graph.png">    </p:cNvPr>
          <p:cNvPicPr>
            <a:picLocks noChangeAspect="1"/>
          </p:cNvPicPr>
          <p:nvPr/>
        </p:nvPicPr>
        <p:blipFill>
          <a:blip r:embed="rId1"/>
          <a:stretch>
            <a:fillRect/>
          </a:stretch>
        </p:blipFill>
        <p:spPr>
          <a:xfrm>
            <a:off x="548640" y="1463040"/>
            <a:ext cx="7498080" cy="2221992"/>
          </a:xfrm>
          <a:prstGeom prst="rect">
            <a:avLst/>
          </a:prstGeom>
        </p:spPr>
      </p:pic>
      <p:sp>
        <p:nvSpPr>
          <p:cNvPr id="16" name="card"/>
          <p:cNvSpPr/>
          <p:nvPr/>
        </p:nvSpPr>
        <p:spPr>
          <a:xfrm>
            <a:off x="548640" y="4069080"/>
            <a:ext cx="3520440" cy="1783080"/>
          </a:xfrm>
          <a:prstGeom prst="roundRect">
            <a:avLst>
              <a:gd name="adj" fmla="val 4103"/>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sp>
        <p:nvSpPr>
          <p:cNvPr id="17" name="Text 14"/>
          <p:cNvSpPr txBox="1"/>
          <p:nvPr/>
        </p:nvSpPr>
        <p:spPr>
          <a:xfrm>
            <a:off x="777240" y="420624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Exact</a:t>
            </a:r>
            <a:endParaRPr lang="en-US" sz="2200" dirty="0"/>
          </a:p>
        </p:txBody>
      </p:sp>
      <p:sp>
        <p:nvSpPr>
          <p:cNvPr id="18" name="Text 15"/>
          <p:cNvSpPr txBox="1"/>
          <p:nvPr/>
        </p:nvSpPr>
        <p:spPr>
          <a:xfrm>
            <a:off x="777240" y="4709160"/>
            <a:ext cx="3063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Type 2.126: resolved with certainty, confidence 1.0.</a:t>
            </a:r>
            <a:endParaRPr lang="en-US" sz="1500" dirty="0"/>
          </a:p>
        </p:txBody>
      </p:sp>
      <p:sp>
        <p:nvSpPr>
          <p:cNvPr id="19" name="card"/>
          <p:cNvSpPr/>
          <p:nvPr/>
        </p:nvSpPr>
        <p:spPr>
          <a:xfrm>
            <a:off x="4297680" y="4069080"/>
            <a:ext cx="3520440" cy="1783080"/>
          </a:xfrm>
          <a:prstGeom prst="roundRect">
            <a:avLst>
              <a:gd name="adj" fmla="val 4103"/>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sp>
        <p:nvSpPr>
          <p:cNvPr id="20" name="Text 17"/>
          <p:cNvSpPr txBox="1"/>
          <p:nvPr/>
        </p:nvSpPr>
        <p:spPr>
          <a:xfrm>
            <a:off x="4526280" y="420624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Semantic</a:t>
            </a:r>
            <a:endParaRPr lang="en-US" sz="2200" dirty="0"/>
          </a:p>
        </p:txBody>
      </p:sp>
      <p:sp>
        <p:nvSpPr>
          <p:cNvPr id="21" name="Text 18"/>
          <p:cNvSpPr txBox="1"/>
          <p:nvPr/>
        </p:nvSpPr>
        <p:spPr>
          <a:xfrm>
            <a:off x="4526280" y="4709160"/>
            <a:ext cx="3063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Describe the task: TF-IDF finds it, with an explainable score.</a:t>
            </a:r>
            <a:endParaRPr lang="en-US" sz="1500" dirty="0"/>
          </a:p>
        </p:txBody>
      </p:sp>
      <p:sp>
        <p:nvSpPr>
          <p:cNvPr id="22" name="card"/>
          <p:cNvSpPr/>
          <p:nvPr/>
        </p:nvSpPr>
        <p:spPr>
          <a:xfrm>
            <a:off x="8046720" y="4069080"/>
            <a:ext cx="3520440" cy="1783080"/>
          </a:xfrm>
          <a:prstGeom prst="roundRect">
            <a:avLst>
              <a:gd name="adj" fmla="val 4103"/>
            </a:avLst>
          </a:prstGeom>
          <a:solidFill>
            <a:srgbClr val="C8553D"/>
          </a:solidFill>
          <a:ln w="12700">
            <a:solidFill>
              <a:srgbClr val="C8553D"/>
            </a:solidFill>
            <a:prstDash val="solid"/>
          </a:ln>
          <a:effectLst>
            <a:outerShdw sx="100000" sy="100000" kx="0" ky="0" algn="bl" rotWithShape="0" blurRad="101600" dist="25400" dir="5400000">
              <a:srgbClr val="1B2A28">
                <a:alpha val="12000"/>
              </a:srgbClr>
            </a:outerShdw>
          </a:effectLst>
        </p:spPr>
      </p:sp>
      <p:sp>
        <p:nvSpPr>
          <p:cNvPr id="23" name="Text 20"/>
          <p:cNvSpPr txBox="1"/>
          <p:nvPr/>
        </p:nvSpPr>
        <p:spPr>
          <a:xfrm>
            <a:off x="8275320" y="420624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Honest</a:t>
            </a:r>
            <a:endParaRPr lang="en-US" sz="2200" dirty="0"/>
          </a:p>
        </p:txBody>
      </p:sp>
      <p:sp>
        <p:nvSpPr>
          <p:cNvPr id="24" name="Text 21"/>
          <p:cNvSpPr txBox="1"/>
          <p:nvPr/>
        </p:nvSpPr>
        <p:spPr>
          <a:xfrm>
            <a:off x="8275320" y="4709160"/>
            <a:ext cx="3063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Unknown id: it says so instead of guessing.</a:t>
            </a:r>
            <a:endParaRPr lang="en-US" sz="1500" dirty="0"/>
          </a:p>
        </p:txBody>
      </p:sp>
      <p:sp>
        <p:nvSpPr>
          <p:cNvPr id="25" name="Text 22"/>
          <p:cNvSpPr txBox="1"/>
          <p:nvPr/>
        </p:nvSpPr>
        <p:spPr>
          <a:xfrm>
            <a:off x="8412480" y="1645920"/>
            <a:ext cx="3200400" cy="914400"/>
          </a:xfrm>
          <a:prstGeom prst="rect">
            <a:avLst/>
          </a:prstGeom>
          <a:noFill/>
          <a:ln/>
        </p:spPr>
        <p:txBody>
          <a:bodyPr wrap="square" lIns="0" tIns="0" rIns="0" bIns="0" rtlCol="0" anchor="t"/>
          <a:lstStyle/>
          <a:p>
            <a:pPr indent="0" marL="0">
              <a:buNone/>
            </a:pPr>
            <a:r>
              <a:rPr lang="en-US" sz="2400" b="1" dirty="0">
                <a:solidFill>
                  <a:srgbClr val="2A7F77"/>
                </a:solidFill>
                <a:latin typeface="Cambria" pitchFamily="34" charset="0"/>
                <a:ea typeface="Cambria" pitchFamily="34" charset="-122"/>
                <a:cs typeface="Cambria" pitchFamily="34" charset="-120"/>
              </a:rPr>
              <a:t>NetworkX</a:t>
            </a:r>
            <a:endParaRPr lang="en-US" sz="2400" dirty="0"/>
          </a:p>
          <a:p>
            <a:pPr indent="0" marL="0">
              <a:buNone/>
            </a:pPr>
            <a:r>
              <a:rPr lang="en-US" sz="2400" b="1" dirty="0">
                <a:solidFill>
                  <a:srgbClr val="2A7F77"/>
                </a:solidFill>
                <a:latin typeface="Cambria" pitchFamily="34" charset="0"/>
                <a:ea typeface="Cambria" pitchFamily="34" charset="-122"/>
                <a:cs typeface="Cambria" pitchFamily="34" charset="-120"/>
              </a:rPr>
              <a:t>MultiDiGraph</a:t>
            </a:r>
            <a:endParaRPr lang="en-US" sz="2400" dirty="0"/>
          </a:p>
        </p:txBody>
      </p:sp>
      <p:sp>
        <p:nvSpPr>
          <p:cNvPr id="26" name="Text 23"/>
          <p:cNvSpPr txBox="1"/>
          <p:nvPr/>
        </p:nvSpPr>
        <p:spPr>
          <a:xfrm>
            <a:off x="8412480" y="2606040"/>
            <a:ext cx="320040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Parallel edges: one role can act on one task in several ways.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AI talks. The matrix decides.</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8A33D"/>
          </a:solidFill>
          <a:ln w="12700">
            <a:solidFill>
              <a:srgbClr val="E8A33D"/>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pic>
        <p:nvPicPr>
          <p:cNvPr id="15" name="Image 0" descr="/sessions/ecstatic-vibrant-goodall/mnt/damaiagent/chapters_ready/figures/fig4_grounding.png">    </p:cNvPr>
          <p:cNvPicPr>
            <a:picLocks noChangeAspect="1"/>
          </p:cNvPicPr>
          <p:nvPr/>
        </p:nvPicPr>
        <p:blipFill>
          <a:blip r:embed="rId1"/>
          <a:stretch>
            <a:fillRect/>
          </a:stretch>
        </p:blipFill>
        <p:spPr>
          <a:xfrm>
            <a:off x="731520" y="1325880"/>
            <a:ext cx="3931920" cy="4398264"/>
          </a:xfrm>
          <a:prstGeom prst="rect">
            <a:avLst/>
          </a:prstGeom>
        </p:spPr>
      </p:pic>
      <p:sp>
        <p:nvSpPr>
          <p:cNvPr id="16" name="num-1"/>
          <p:cNvSpPr/>
          <p:nvPr/>
        </p:nvSpPr>
        <p:spPr>
          <a:xfrm>
            <a:off x="4754880" y="1417320"/>
            <a:ext cx="457200" cy="457200"/>
          </a:xfrm>
          <a:prstGeom prst="ellipse">
            <a:avLst/>
          </a:prstGeom>
          <a:solidFill>
            <a:srgbClr val="2A7F77"/>
          </a:solidFill>
          <a:ln w="12700">
            <a:solidFill>
              <a:srgbClr val="2A7F77"/>
            </a:solidFill>
            <a:prstDash val="solid"/>
          </a:ln>
        </p:spPr>
      </p:sp>
      <p:sp>
        <p:nvSpPr>
          <p:cNvPr id="17" name="Text 14"/>
          <p:cNvSpPr txBox="1"/>
          <p:nvPr/>
        </p:nvSpPr>
        <p:spPr>
          <a:xfrm>
            <a:off x="475488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8" name="Text 15"/>
          <p:cNvSpPr txBox="1"/>
          <p:nvPr/>
        </p:nvSpPr>
        <p:spPr>
          <a:xfrm>
            <a:off x="5440680" y="137160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Facts come from the graph</a:t>
            </a:r>
            <a:endParaRPr lang="en-US" sz="2000" dirty="0"/>
          </a:p>
        </p:txBody>
      </p:sp>
      <p:sp>
        <p:nvSpPr>
          <p:cNvPr id="19" name="Text 16"/>
          <p:cNvSpPr txBox="1"/>
          <p:nvPr/>
        </p:nvSpPr>
        <p:spPr>
          <a:xfrm>
            <a:off x="5440680" y="178308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 LLM never sees the whole document, only the retrieved node.</a:t>
            </a:r>
            <a:endParaRPr lang="en-US" sz="1500" dirty="0"/>
          </a:p>
        </p:txBody>
      </p:sp>
      <p:sp>
        <p:nvSpPr>
          <p:cNvPr id="20" name="num-2"/>
          <p:cNvSpPr/>
          <p:nvPr/>
        </p:nvSpPr>
        <p:spPr>
          <a:xfrm>
            <a:off x="4754880" y="2514600"/>
            <a:ext cx="457200" cy="457200"/>
          </a:xfrm>
          <a:prstGeom prst="ellipse">
            <a:avLst/>
          </a:prstGeom>
          <a:solidFill>
            <a:srgbClr val="2A7F77"/>
          </a:solidFill>
          <a:ln w="12700">
            <a:solidFill>
              <a:srgbClr val="2A7F77"/>
            </a:solidFill>
            <a:prstDash val="solid"/>
          </a:ln>
        </p:spPr>
      </p:sp>
      <p:sp>
        <p:nvSpPr>
          <p:cNvPr id="21" name="Text 18"/>
          <p:cNvSpPr txBox="1"/>
          <p:nvPr/>
        </p:nvSpPr>
        <p:spPr>
          <a:xfrm>
            <a:off x="4754880" y="2514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2" name="Text 19"/>
          <p:cNvSpPr txBox="1"/>
          <p:nvPr/>
        </p:nvSpPr>
        <p:spPr>
          <a:xfrm>
            <a:off x="5440680" y="246888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Strict prompt, low temperature</a:t>
            </a:r>
            <a:endParaRPr lang="en-US" sz="2000" dirty="0"/>
          </a:p>
        </p:txBody>
      </p:sp>
      <p:sp>
        <p:nvSpPr>
          <p:cNvPr id="23" name="Text 20"/>
          <p:cNvSpPr txBox="1"/>
          <p:nvPr/>
        </p:nvSpPr>
        <p:spPr>
          <a:xfrm>
            <a:off x="5440680" y="288036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It may rephrase. It may not add a role.</a:t>
            </a:r>
            <a:endParaRPr lang="en-US" sz="1500" dirty="0"/>
          </a:p>
        </p:txBody>
      </p:sp>
      <p:sp>
        <p:nvSpPr>
          <p:cNvPr id="24" name="num-3"/>
          <p:cNvSpPr/>
          <p:nvPr/>
        </p:nvSpPr>
        <p:spPr>
          <a:xfrm>
            <a:off x="4754880" y="3611880"/>
            <a:ext cx="457200" cy="457200"/>
          </a:xfrm>
          <a:prstGeom prst="ellipse">
            <a:avLst/>
          </a:prstGeom>
          <a:solidFill>
            <a:srgbClr val="2A7F77"/>
          </a:solidFill>
          <a:ln w="12700">
            <a:solidFill>
              <a:srgbClr val="2A7F77"/>
            </a:solidFill>
            <a:prstDash val="solid"/>
          </a:ln>
        </p:spPr>
      </p:sp>
      <p:sp>
        <p:nvSpPr>
          <p:cNvPr id="25" name="Text 22"/>
          <p:cNvSpPr txBox="1"/>
          <p:nvPr/>
        </p:nvSpPr>
        <p:spPr>
          <a:xfrm>
            <a:off x="4754880" y="3611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6" name="Text 23"/>
          <p:cNvSpPr txBox="1"/>
          <p:nvPr/>
        </p:nvSpPr>
        <p:spPr>
          <a:xfrm>
            <a:off x="5440680" y="356616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Grounding check</a:t>
            </a:r>
            <a:endParaRPr lang="en-US" sz="2000" dirty="0"/>
          </a:p>
        </p:txBody>
      </p:sp>
      <p:sp>
        <p:nvSpPr>
          <p:cNvPr id="27" name="Text 24"/>
          <p:cNvSpPr txBox="1"/>
          <p:nvPr/>
        </p:nvSpPr>
        <p:spPr>
          <a:xfrm>
            <a:off x="5440680" y="397764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If an expected role is missing from the answer, we discard it.</a:t>
            </a:r>
            <a:endParaRPr lang="en-US" sz="1500" dirty="0"/>
          </a:p>
        </p:txBody>
      </p:sp>
      <p:sp>
        <p:nvSpPr>
          <p:cNvPr id="28" name="num-4"/>
          <p:cNvSpPr/>
          <p:nvPr/>
        </p:nvSpPr>
        <p:spPr>
          <a:xfrm>
            <a:off x="4754880" y="4709160"/>
            <a:ext cx="457200" cy="457200"/>
          </a:xfrm>
          <a:prstGeom prst="ellipse">
            <a:avLst/>
          </a:prstGeom>
          <a:solidFill>
            <a:srgbClr val="2A7F77"/>
          </a:solidFill>
          <a:ln w="12700">
            <a:solidFill>
              <a:srgbClr val="2A7F77"/>
            </a:solidFill>
            <a:prstDash val="solid"/>
          </a:ln>
        </p:spPr>
      </p:sp>
      <p:sp>
        <p:nvSpPr>
          <p:cNvPr id="29" name="Text 26"/>
          <p:cNvSpPr txBox="1"/>
          <p:nvPr/>
        </p:nvSpPr>
        <p:spPr>
          <a:xfrm>
            <a:off x="4754880" y="4709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30" name="Text 27"/>
          <p:cNvSpPr txBox="1"/>
          <p:nvPr/>
        </p:nvSpPr>
        <p:spPr>
          <a:xfrm>
            <a:off x="5440680" y="466344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Deterministic fallback</a:t>
            </a:r>
            <a:endParaRPr lang="en-US" sz="2000" dirty="0"/>
          </a:p>
        </p:txBody>
      </p:sp>
      <p:sp>
        <p:nvSpPr>
          <p:cNvPr id="31" name="Text 28"/>
          <p:cNvSpPr txBox="1"/>
          <p:nvPr/>
        </p:nvSpPr>
        <p:spPr>
          <a:xfrm>
            <a:off x="5440680" y="507492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Groq, Ollama or no LLM at all: the answer is always available.</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See it work: ask like a human</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8A33D"/>
          </a:solidFill>
          <a:ln w="12700">
            <a:solidFill>
              <a:srgbClr val="E8A33D"/>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video-placeholder"/>
          <p:cNvSpPr/>
          <p:nvPr/>
        </p:nvSpPr>
        <p:spPr>
          <a:xfrm>
            <a:off x="548640" y="1417320"/>
            <a:ext cx="6949440" cy="4114800"/>
          </a:xfrm>
          <a:prstGeom prst="roundRect">
            <a:avLst>
              <a:gd name="adj" fmla="val 2222"/>
            </a:avLst>
          </a:prstGeom>
          <a:solidFill>
            <a:srgbClr val="0F3B36"/>
          </a:solidFill>
          <a:ln w="25400">
            <a:solidFill>
              <a:srgbClr val="E8A33D"/>
            </a:solidFill>
            <a:prstDash val="dash"/>
          </a:ln>
        </p:spPr>
      </p:sp>
      <p:sp>
        <p:nvSpPr>
          <p:cNvPr id="16" name="Shape 14"/>
          <p:cNvSpPr/>
          <p:nvPr/>
        </p:nvSpPr>
        <p:spPr>
          <a:xfrm>
            <a:off x="3566160" y="2880360"/>
            <a:ext cx="914400" cy="914400"/>
          </a:xfrm>
          <a:prstGeom prst="ellipse">
            <a:avLst/>
          </a:prstGeom>
          <a:solidFill>
            <a:srgbClr val="E8A33D"/>
          </a:solidFill>
          <a:ln w="12700">
            <a:solidFill>
              <a:srgbClr val="E8A33D"/>
            </a:solidFill>
            <a:prstDash val="solid"/>
          </a:ln>
        </p:spPr>
      </p:sp>
      <p:pic>
        <p:nvPicPr>
          <p:cNvPr id="17" name="Image 0" descr="preencoded.png">    </p:cNvPr>
          <p:cNvPicPr>
            <a:picLocks noChangeAspect="1"/>
          </p:cNvPicPr>
          <p:nvPr/>
        </p:nvPicPr>
        <p:blipFill>
          <a:blip r:embed="rId1"/>
          <a:stretch>
            <a:fillRect/>
          </a:stretch>
        </p:blipFill>
        <p:spPr>
          <a:xfrm>
            <a:off x="3840480" y="3108960"/>
            <a:ext cx="365760" cy="365760"/>
          </a:xfrm>
          <a:prstGeom prst="rect">
            <a:avLst/>
          </a:prstGeom>
        </p:spPr>
      </p:pic>
      <p:sp>
        <p:nvSpPr>
          <p:cNvPr id="18" name="Text 15"/>
          <p:cNvSpPr txBox="1"/>
          <p:nvPr/>
        </p:nvSpPr>
        <p:spPr>
          <a:xfrm>
            <a:off x="548640" y="3977640"/>
            <a:ext cx="69494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DEMO 1: the core agent</a:t>
            </a:r>
            <a:endParaRPr lang="en-US" sz="1600" dirty="0"/>
          </a:p>
        </p:txBody>
      </p:sp>
      <p:sp>
        <p:nvSpPr>
          <p:cNvPr id="19" name="Text 16"/>
          <p:cNvSpPr txBox="1"/>
          <p:nvPr/>
        </p:nvSpPr>
        <p:spPr>
          <a:xfrm>
            <a:off x="548640" y="4343400"/>
            <a:ext cx="6949440" cy="274320"/>
          </a:xfrm>
          <a:prstGeom prst="rect">
            <a:avLst/>
          </a:prstGeom>
          <a:noFill/>
          <a:ln/>
        </p:spPr>
        <p:txBody>
          <a:bodyPr wrap="square" lIns="0" tIns="0" rIns="0" bIns="0" rtlCol="0" anchor="ctr"/>
          <a:lstStyle/>
          <a:p>
            <a:pPr algn="ctr" indent="0" marL="0">
              <a:buNone/>
            </a:pPr>
            <a:r>
              <a:rPr lang="en-US" sz="1200" dirty="0">
                <a:solidFill>
                  <a:srgbClr val="9DC3BD"/>
                </a:solidFill>
                <a:latin typeface="Calibri" pitchFamily="34" charset="0"/>
                <a:ea typeface="Calibri" pitchFamily="34" charset="-122"/>
                <a:cs typeface="Calibri" pitchFamily="34" charset="-120"/>
              </a:rPr>
              <a:t>Insert screen recording here · 0:50</a:t>
            </a:r>
            <a:endParaRPr lang="en-US" sz="1200" dirty="0"/>
          </a:p>
        </p:txBody>
      </p:sp>
      <p:sp>
        <p:nvSpPr>
          <p:cNvPr id="20" name="Text 17"/>
          <p:cNvSpPr txBox="1"/>
          <p:nvPr/>
        </p:nvSpPr>
        <p:spPr>
          <a:xfrm>
            <a:off x="8046720" y="1463040"/>
            <a:ext cx="3657600" cy="36576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In this clip</a:t>
            </a:r>
            <a:endParaRPr lang="en-US" sz="1400" dirty="0"/>
          </a:p>
        </p:txBody>
      </p:sp>
      <p:sp>
        <p:nvSpPr>
          <p:cNvPr id="21" name="Text 18"/>
          <p:cNvSpPr txBox="1"/>
          <p:nvPr/>
        </p:nvSpPr>
        <p:spPr>
          <a:xfrm>
            <a:off x="8046720" y="1920240"/>
            <a:ext cx="365760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"who approves 2.126"</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Same answer from a plain description</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Typos? Still right</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French question, French answer</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"what happens with 9.999.999": honest refusal</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Built for a team, not just a demo</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8A33D"/>
          </a:solidFill>
          <a:ln w="12700">
            <a:solidFill>
              <a:srgbClr val="E8A33D"/>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Deployment</a:t>
            </a:r>
            <a:endParaRPr lang="en-US" sz="900" dirty="0"/>
          </a:p>
        </p:txBody>
      </p:sp>
      <p:sp>
        <p:nvSpPr>
          <p:cNvPr id="15" name="video-placeholder"/>
          <p:cNvSpPr/>
          <p:nvPr/>
        </p:nvSpPr>
        <p:spPr>
          <a:xfrm>
            <a:off x="548640" y="1417320"/>
            <a:ext cx="6949440" cy="4114800"/>
          </a:xfrm>
          <a:prstGeom prst="roundRect">
            <a:avLst>
              <a:gd name="adj" fmla="val 2222"/>
            </a:avLst>
          </a:prstGeom>
          <a:solidFill>
            <a:srgbClr val="0F3B36"/>
          </a:solidFill>
          <a:ln w="25400">
            <a:solidFill>
              <a:srgbClr val="E8A33D"/>
            </a:solidFill>
            <a:prstDash val="dash"/>
          </a:ln>
        </p:spPr>
      </p:sp>
      <p:sp>
        <p:nvSpPr>
          <p:cNvPr id="16" name="Shape 14"/>
          <p:cNvSpPr/>
          <p:nvPr/>
        </p:nvSpPr>
        <p:spPr>
          <a:xfrm>
            <a:off x="3566160" y="2880360"/>
            <a:ext cx="914400" cy="914400"/>
          </a:xfrm>
          <a:prstGeom prst="ellipse">
            <a:avLst/>
          </a:prstGeom>
          <a:solidFill>
            <a:srgbClr val="E8A33D"/>
          </a:solidFill>
          <a:ln w="12700">
            <a:solidFill>
              <a:srgbClr val="E8A33D"/>
            </a:solidFill>
            <a:prstDash val="solid"/>
          </a:ln>
        </p:spPr>
      </p:sp>
      <p:pic>
        <p:nvPicPr>
          <p:cNvPr id="17" name="Image 0" descr="preencoded.png">    </p:cNvPr>
          <p:cNvPicPr>
            <a:picLocks noChangeAspect="1"/>
          </p:cNvPicPr>
          <p:nvPr/>
        </p:nvPicPr>
        <p:blipFill>
          <a:blip r:embed="rId1"/>
          <a:stretch>
            <a:fillRect/>
          </a:stretch>
        </p:blipFill>
        <p:spPr>
          <a:xfrm>
            <a:off x="3840480" y="3108960"/>
            <a:ext cx="365760" cy="365760"/>
          </a:xfrm>
          <a:prstGeom prst="rect">
            <a:avLst/>
          </a:prstGeom>
        </p:spPr>
      </p:pic>
      <p:sp>
        <p:nvSpPr>
          <p:cNvPr id="18" name="Text 15"/>
          <p:cNvSpPr txBox="1"/>
          <p:nvPr/>
        </p:nvSpPr>
        <p:spPr>
          <a:xfrm>
            <a:off x="548640" y="3977640"/>
            <a:ext cx="69494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DEMO 2: the platform</a:t>
            </a:r>
            <a:endParaRPr lang="en-US" sz="1600" dirty="0"/>
          </a:p>
        </p:txBody>
      </p:sp>
      <p:sp>
        <p:nvSpPr>
          <p:cNvPr id="19" name="Text 16"/>
          <p:cNvSpPr txBox="1"/>
          <p:nvPr/>
        </p:nvSpPr>
        <p:spPr>
          <a:xfrm>
            <a:off x="548640" y="4343400"/>
            <a:ext cx="6949440" cy="274320"/>
          </a:xfrm>
          <a:prstGeom prst="rect">
            <a:avLst/>
          </a:prstGeom>
          <a:noFill/>
          <a:ln/>
        </p:spPr>
        <p:txBody>
          <a:bodyPr wrap="square" lIns="0" tIns="0" rIns="0" bIns="0" rtlCol="0" anchor="ctr"/>
          <a:lstStyle/>
          <a:p>
            <a:pPr algn="ctr" indent="0" marL="0">
              <a:buNone/>
            </a:pPr>
            <a:r>
              <a:rPr lang="en-US" sz="1200" dirty="0">
                <a:solidFill>
                  <a:srgbClr val="9DC3BD"/>
                </a:solidFill>
                <a:latin typeface="Calibri" pitchFamily="34" charset="0"/>
                <a:ea typeface="Calibri" pitchFamily="34" charset="-122"/>
                <a:cs typeface="Calibri" pitchFamily="34" charset="-120"/>
              </a:rPr>
              <a:t>Insert screen recording here · 0:50</a:t>
            </a:r>
            <a:endParaRPr lang="en-US" sz="1200" dirty="0"/>
          </a:p>
        </p:txBody>
      </p:sp>
      <p:sp>
        <p:nvSpPr>
          <p:cNvPr id="20" name="Text 17"/>
          <p:cNvSpPr txBox="1"/>
          <p:nvPr/>
        </p:nvSpPr>
        <p:spPr>
          <a:xfrm>
            <a:off x="8046720" y="1463040"/>
            <a:ext cx="3657600" cy="36576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In this clip</a:t>
            </a:r>
            <a:endParaRPr lang="en-US" sz="1400" dirty="0"/>
          </a:p>
        </p:txBody>
      </p:sp>
      <p:sp>
        <p:nvSpPr>
          <p:cNvPr id="21" name="Text 18"/>
          <p:cNvSpPr txBox="1"/>
          <p:nvPr/>
        </p:nvSpPr>
        <p:spPr>
          <a:xfrm>
            <a:off x="8046720" y="1920240"/>
            <a:ext cx="365760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Sign in, history saved per user</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Share a conversation by QR code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Voice question, spoken answer</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Upload a document and ask about it</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KPI dashboard by chapter</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Tested, broken, fixed, tested again</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8A33D"/>
          </a:solidFill>
          <a:ln w="12700">
            <a:solidFill>
              <a:srgbClr val="E8A33D"/>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08760"/>
            <a:ext cx="2560320" cy="1463040"/>
          </a:xfrm>
          <a:prstGeom prst="roundRect">
            <a:avLst>
              <a:gd name="adj" fmla="val 5000"/>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sp>
        <p:nvSpPr>
          <p:cNvPr id="16" name="Text 14"/>
          <p:cNvSpPr txBox="1"/>
          <p:nvPr/>
        </p:nvSpPr>
        <p:spPr>
          <a:xfrm>
            <a:off x="731520" y="1645920"/>
            <a:ext cx="219456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137</a:t>
            </a:r>
            <a:endParaRPr lang="en-US" sz="4000" dirty="0"/>
          </a:p>
        </p:txBody>
      </p:sp>
      <p:sp>
        <p:nvSpPr>
          <p:cNvPr id="17" name="Text 15"/>
          <p:cNvSpPr txBox="1"/>
          <p:nvPr/>
        </p:nvSpPr>
        <p:spPr>
          <a:xfrm>
            <a:off x="731520" y="2377440"/>
            <a:ext cx="219456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automated tests, parser to API</a:t>
            </a:r>
            <a:endParaRPr lang="en-US" sz="1400" dirty="0"/>
          </a:p>
        </p:txBody>
      </p:sp>
      <p:sp>
        <p:nvSpPr>
          <p:cNvPr id="18" name="card"/>
          <p:cNvSpPr/>
          <p:nvPr/>
        </p:nvSpPr>
        <p:spPr>
          <a:xfrm>
            <a:off x="548640" y="3154680"/>
            <a:ext cx="2560320" cy="2697480"/>
          </a:xfrm>
          <a:prstGeom prst="roundRect">
            <a:avLst>
              <a:gd name="adj" fmla="val 2857"/>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19" name="Text 17"/>
          <p:cNvSpPr txBox="1"/>
          <p:nvPr/>
        </p:nvSpPr>
        <p:spPr>
          <a:xfrm>
            <a:off x="731520" y="3291840"/>
            <a:ext cx="2194560" cy="822960"/>
          </a:xfrm>
          <a:prstGeom prst="rect">
            <a:avLst/>
          </a:prstGeom>
          <a:noFill/>
          <a:ln/>
        </p:spPr>
        <p:txBody>
          <a:bodyPr wrap="square" lIns="0" tIns="0" rIns="0" bIns="0" rtlCol="0" anchor="t"/>
          <a:lstStyle/>
          <a:p>
            <a:pPr indent="0" marL="0">
              <a:buNone/>
            </a:pPr>
            <a:r>
              <a:rPr lang="en-US" sz="1400" b="1" dirty="0">
                <a:solidFill>
                  <a:srgbClr val="0F3B36"/>
                </a:solidFill>
                <a:latin typeface="Calibri" pitchFamily="34" charset="0"/>
                <a:ea typeface="Calibri" pitchFamily="34" charset="-122"/>
                <a:cs typeface="Calibri" pitchFamily="34" charset="-120"/>
              </a:rPr>
              <a:t>Real bugs, found by testing real questions</a:t>
            </a:r>
            <a:endParaRPr lang="en-US" sz="1400" dirty="0"/>
          </a:p>
        </p:txBody>
      </p:sp>
      <p:sp>
        <p:nvSpPr>
          <p:cNvPr id="20" name="Text 18"/>
          <p:cNvSpPr txBox="1"/>
          <p:nvPr/>
        </p:nvSpPr>
        <p:spPr>
          <a:xfrm>
            <a:off x="731520" y="4297680"/>
            <a:ext cx="2194560"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Not hidden. Each one became a regression test.</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383280" y="1508760"/>
          <a:ext cx="8229600" cy="914400"/>
        </p:xfrm>
        <a:graphic>
          <a:graphicData uri="http://schemas.openxmlformats.org/drawingml/2006/table">
            <a:tbl>
              <a:tblPr/>
              <a:tblGrid>
                <a:gridCol w="4206240"/>
                <a:gridCol w="402336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Bug found</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0F3B3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0F3B36"/>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Invalid code matched an unrelated task</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Explicit invalid-id outcome</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Note parser stripped digits before hyphens</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Pattern corrected, references followed</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Action questions swallowed by follow-up logic</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Intent checked before context carry-over</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LLM answers rejected too often</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Grounding check tuned, fallback kept</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Free hosting ran out of memory</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Nodes cached at build time</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r>
            </a:tbl>
          </a:graphicData>
        </a:graphic>
      </p:graphicFrame>
      <p:sp>
        <p:nvSpPr>
          <p:cNvPr id="22" name="Text 19"/>
          <p:cNvSpPr txBox="1"/>
          <p:nvPr/>
        </p:nvSpPr>
        <p:spPr>
          <a:xfrm>
            <a:off x="3383280" y="4937760"/>
            <a:ext cx="8229600" cy="457200"/>
          </a:xfrm>
          <a:prstGeom prst="rect">
            <a:avLst/>
          </a:prstGeom>
          <a:noFill/>
          <a:ln/>
        </p:spPr>
        <p:txBody>
          <a:bodyPr wrap="square" lIns="0" tIns="0" rIns="0" bIns="0" rtlCol="0" anchor="t"/>
          <a:lstStyle/>
          <a:p>
            <a:pPr indent="0" marL="0">
              <a:buNone/>
            </a:pPr>
            <a:r>
              <a:rPr lang="en-US" sz="1600" i="1" dirty="0">
                <a:solidFill>
                  <a:srgbClr val="C8553D"/>
                </a:solidFill>
                <a:latin typeface="Cambria" pitchFamily="34" charset="0"/>
                <a:ea typeface="Cambria" pitchFamily="34" charset="-122"/>
                <a:cs typeface="Cambria" pitchFamily="34" charset="-120"/>
              </a:rPr>
              <a:t>Next: a benchmark of gold questions to put a precision figure on the agent.</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Shipped: secure, containerised, live</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8A33D"/>
          </a:solidFill>
          <a:ln w="12700">
            <a:solidFill>
              <a:srgbClr val="E8A33D"/>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08760"/>
            <a:ext cx="5394960" cy="1965960"/>
          </a:xfrm>
          <a:prstGeom prst="roundRect">
            <a:avLst>
              <a:gd name="adj" fmla="val 3721"/>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pic>
        <p:nvPicPr>
          <p:cNvPr id="16" name="Image 0" descr="preencoded.png">    </p:cNvPr>
          <p:cNvPicPr>
            <a:picLocks noChangeAspect="1"/>
          </p:cNvPicPr>
          <p:nvPr/>
        </p:nvPicPr>
        <p:blipFill>
          <a:blip r:embed="rId1"/>
          <a:stretch>
            <a:fillRect/>
          </a:stretch>
        </p:blipFill>
        <p:spPr>
          <a:xfrm>
            <a:off x="822960" y="1783080"/>
            <a:ext cx="457200" cy="457200"/>
          </a:xfrm>
          <a:prstGeom prst="rect">
            <a:avLst/>
          </a:prstGeom>
        </p:spPr>
      </p:pic>
      <p:sp>
        <p:nvSpPr>
          <p:cNvPr id="17" name="Text 14"/>
          <p:cNvSpPr txBox="1"/>
          <p:nvPr/>
        </p:nvSpPr>
        <p:spPr>
          <a:xfrm>
            <a:off x="1463040" y="176479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Docker</a:t>
            </a:r>
            <a:endParaRPr lang="en-US" sz="2200" dirty="0"/>
          </a:p>
        </p:txBody>
      </p:sp>
      <p:sp>
        <p:nvSpPr>
          <p:cNvPr id="18" name="Text 15"/>
          <p:cNvSpPr txBox="1"/>
          <p:nvPr/>
        </p:nvSpPr>
        <p:spPr>
          <a:xfrm>
            <a:off x="1463040" y="233172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One command runs app, frontend and local LLM.</a:t>
            </a:r>
            <a:endParaRPr lang="en-US" sz="1500" dirty="0"/>
          </a:p>
        </p:txBody>
      </p:sp>
      <p:sp>
        <p:nvSpPr>
          <p:cNvPr id="19" name="card"/>
          <p:cNvSpPr/>
          <p:nvPr/>
        </p:nvSpPr>
        <p:spPr>
          <a:xfrm>
            <a:off x="6172200" y="1508760"/>
            <a:ext cx="5394960" cy="1965960"/>
          </a:xfrm>
          <a:prstGeom prst="roundRect">
            <a:avLst>
              <a:gd name="adj" fmla="val 3721"/>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pic>
        <p:nvPicPr>
          <p:cNvPr id="20" name="Image 1" descr="preencoded.png">    </p:cNvPr>
          <p:cNvPicPr>
            <a:picLocks noChangeAspect="1"/>
          </p:cNvPicPr>
          <p:nvPr/>
        </p:nvPicPr>
        <p:blipFill>
          <a:blip r:embed="rId2"/>
          <a:stretch>
            <a:fillRect/>
          </a:stretch>
        </p:blipFill>
        <p:spPr>
          <a:xfrm>
            <a:off x="6446520" y="1783080"/>
            <a:ext cx="457200" cy="457200"/>
          </a:xfrm>
          <a:prstGeom prst="rect">
            <a:avLst/>
          </a:prstGeom>
        </p:spPr>
      </p:pic>
      <p:sp>
        <p:nvSpPr>
          <p:cNvPr id="21" name="Text 17"/>
          <p:cNvSpPr txBox="1"/>
          <p:nvPr/>
        </p:nvSpPr>
        <p:spPr>
          <a:xfrm>
            <a:off x="7086600" y="176479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Cloud hosted</a:t>
            </a:r>
            <a:endParaRPr lang="en-US" sz="2200" dirty="0"/>
          </a:p>
        </p:txBody>
      </p:sp>
      <p:sp>
        <p:nvSpPr>
          <p:cNvPr id="22" name="Text 18"/>
          <p:cNvSpPr txBox="1"/>
          <p:nvPr/>
        </p:nvSpPr>
        <p:spPr>
          <a:xfrm>
            <a:off x="7086600" y="233172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FastAPI + React, Postgres on Neon, files on S3-compatible storage.</a:t>
            </a:r>
            <a:endParaRPr lang="en-US" sz="1500" dirty="0"/>
          </a:p>
        </p:txBody>
      </p:sp>
      <p:sp>
        <p:nvSpPr>
          <p:cNvPr id="23" name="card"/>
          <p:cNvSpPr/>
          <p:nvPr/>
        </p:nvSpPr>
        <p:spPr>
          <a:xfrm>
            <a:off x="548640" y="3703320"/>
            <a:ext cx="5394960" cy="1965960"/>
          </a:xfrm>
          <a:prstGeom prst="roundRect">
            <a:avLst>
              <a:gd name="adj" fmla="val 3721"/>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pic>
        <p:nvPicPr>
          <p:cNvPr id="24" name="Image 2" descr="preencoded.png">    </p:cNvPr>
          <p:cNvPicPr>
            <a:picLocks noChangeAspect="1"/>
          </p:cNvPicPr>
          <p:nvPr/>
        </p:nvPicPr>
        <p:blipFill>
          <a:blip r:embed="rId3"/>
          <a:stretch>
            <a:fillRect/>
          </a:stretch>
        </p:blipFill>
        <p:spPr>
          <a:xfrm>
            <a:off x="822960" y="3977640"/>
            <a:ext cx="457200" cy="457200"/>
          </a:xfrm>
          <a:prstGeom prst="rect">
            <a:avLst/>
          </a:prstGeom>
        </p:spPr>
      </p:pic>
      <p:sp>
        <p:nvSpPr>
          <p:cNvPr id="25" name="Text 20"/>
          <p:cNvSpPr txBox="1"/>
          <p:nvPr/>
        </p:nvSpPr>
        <p:spPr>
          <a:xfrm>
            <a:off x="1463040" y="395935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Secure by design</a:t>
            </a:r>
            <a:endParaRPr lang="en-US" sz="2200" dirty="0"/>
          </a:p>
        </p:txBody>
      </p:sp>
      <p:sp>
        <p:nvSpPr>
          <p:cNvPr id="26" name="Text 21"/>
          <p:cNvSpPr txBox="1"/>
          <p:nvPr/>
        </p:nvSpPr>
        <p:spPr>
          <a:xfrm>
            <a:off x="1463040" y="452628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bcrypt, JWT, rate-limited login, admin-only routes, Google and Microsoft sign-in.</a:t>
            </a:r>
            <a:endParaRPr lang="en-US" sz="1500" dirty="0"/>
          </a:p>
        </p:txBody>
      </p:sp>
      <p:sp>
        <p:nvSpPr>
          <p:cNvPr id="27" name="card"/>
          <p:cNvSpPr/>
          <p:nvPr/>
        </p:nvSpPr>
        <p:spPr>
          <a:xfrm>
            <a:off x="6172200" y="3703320"/>
            <a:ext cx="5394960" cy="1965960"/>
          </a:xfrm>
          <a:prstGeom prst="roundRect">
            <a:avLst>
              <a:gd name="adj" fmla="val 3721"/>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pic>
        <p:nvPicPr>
          <p:cNvPr id="28" name="Image 3" descr="preencoded.png">    </p:cNvPr>
          <p:cNvPicPr>
            <a:picLocks noChangeAspect="1"/>
          </p:cNvPicPr>
          <p:nvPr/>
        </p:nvPicPr>
        <p:blipFill>
          <a:blip r:embed="rId4"/>
          <a:stretch>
            <a:fillRect/>
          </a:stretch>
        </p:blipFill>
        <p:spPr>
          <a:xfrm>
            <a:off x="6446520" y="3977640"/>
            <a:ext cx="457200" cy="457200"/>
          </a:xfrm>
          <a:prstGeom prst="rect">
            <a:avLst/>
          </a:prstGeom>
        </p:spPr>
      </p:pic>
      <p:sp>
        <p:nvSpPr>
          <p:cNvPr id="29" name="Text 23"/>
          <p:cNvSpPr txBox="1"/>
          <p:nvPr/>
        </p:nvSpPr>
        <p:spPr>
          <a:xfrm>
            <a:off x="7086600" y="395935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Multilingual UI</a:t>
            </a:r>
            <a:endParaRPr lang="en-US" sz="2200" dirty="0"/>
          </a:p>
        </p:txBody>
      </p:sp>
      <p:sp>
        <p:nvSpPr>
          <p:cNvPr id="30" name="Text 24"/>
          <p:cNvSpPr txBox="1"/>
          <p:nvPr/>
        </p:nvSpPr>
        <p:spPr>
          <a:xfrm>
            <a:off x="7086600" y="452628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The interface switches to the language you type in.</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822960"/>
            <a:ext cx="7315200" cy="365760"/>
          </a:xfrm>
          <a:prstGeom prst="rect">
            <a:avLst/>
          </a:prstGeom>
          <a:noFill/>
          <a:ln/>
        </p:spPr>
        <p:txBody>
          <a:bodyPr wrap="square" lIns="0" tIns="0" rIns="0" bIns="0" rtlCol="0" anchor="t"/>
          <a:lstStyle/>
          <a:p>
            <a:pPr indent="0" marL="0">
              <a:buNone/>
            </a:pPr>
            <a:r>
              <a:rPr lang="en-US" sz="1400" b="1" spc="400" kern="0" dirty="0">
                <a:solidFill>
                  <a:srgbClr val="E8A33D"/>
                </a:solidFill>
                <a:latin typeface="Calibri" pitchFamily="34" charset="0"/>
                <a:ea typeface="Calibri" pitchFamily="34" charset="-122"/>
                <a:cs typeface="Calibri" pitchFamily="34" charset="-120"/>
              </a:rPr>
              <a:t>What the Bank gets</a:t>
            </a:r>
            <a:endParaRPr lang="en-US" sz="1400" dirty="0"/>
          </a:p>
        </p:txBody>
      </p:sp>
      <p:sp>
        <p:nvSpPr>
          <p:cNvPr id="3" name="Text 1"/>
          <p:cNvSpPr txBox="1"/>
          <p:nvPr/>
        </p:nvSpPr>
        <p:spPr>
          <a:xfrm>
            <a:off x="731520" y="1371600"/>
            <a:ext cx="10515600" cy="18288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Seconds instead of minutes.</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Sources instead of guesses.</a:t>
            </a:r>
            <a:endParaRPr lang="en-US" sz="4000" dirty="0"/>
          </a:p>
        </p:txBody>
      </p:sp>
      <p:sp>
        <p:nvSpPr>
          <p:cNvPr id="4" name="card"/>
          <p:cNvSpPr/>
          <p:nvPr/>
        </p:nvSpPr>
        <p:spPr>
          <a:xfrm>
            <a:off x="731520" y="3657600"/>
            <a:ext cx="3383280" cy="1737360"/>
          </a:xfrm>
          <a:prstGeom prst="roundRect">
            <a:avLst>
              <a:gd name="adj" fmla="val 4211"/>
            </a:avLst>
          </a:prstGeom>
          <a:solidFill>
            <a:srgbClr val="1B5A52"/>
          </a:solidFill>
          <a:ln w="12700">
            <a:solidFill>
              <a:srgbClr val="1B5A52"/>
            </a:solidFill>
            <a:prstDash val="solid"/>
          </a:ln>
          <a:effectLst>
            <a:outerShdw sx="100000" sy="100000" kx="0" ky="0" algn="bl" rotWithShape="0" blurRad="101600" dist="25400" dir="5400000">
              <a:srgbClr val="1B2A28">
                <a:alpha val="12000"/>
              </a:srgbClr>
            </a:outerShdw>
          </a:effectLst>
        </p:spPr>
      </p:sp>
      <p:sp>
        <p:nvSpPr>
          <p:cNvPr id="5" name="Text 3"/>
          <p:cNvSpPr txBox="1"/>
          <p:nvPr/>
        </p:nvSpPr>
        <p:spPr>
          <a:xfrm>
            <a:off x="960120" y="3794760"/>
            <a:ext cx="2926080" cy="36576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Now</a:t>
            </a:r>
            <a:endParaRPr lang="en-US" sz="2000" dirty="0"/>
          </a:p>
        </p:txBody>
      </p:sp>
      <p:sp>
        <p:nvSpPr>
          <p:cNvPr id="6" name="Text 4"/>
          <p:cNvSpPr txBox="1"/>
          <p:nvPr/>
        </p:nvSpPr>
        <p:spPr>
          <a:xfrm>
            <a:off x="960120" y="4297680"/>
            <a:ext cx="292608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Live product, 137 tests, four languages</a:t>
            </a:r>
            <a:endParaRPr lang="en-US" sz="1500" dirty="0"/>
          </a:p>
        </p:txBody>
      </p:sp>
      <p:sp>
        <p:nvSpPr>
          <p:cNvPr id="7" name="card"/>
          <p:cNvSpPr/>
          <p:nvPr/>
        </p:nvSpPr>
        <p:spPr>
          <a:xfrm>
            <a:off x="4389120" y="3657600"/>
            <a:ext cx="3383280" cy="1737360"/>
          </a:xfrm>
          <a:prstGeom prst="roundRect">
            <a:avLst>
              <a:gd name="adj" fmla="val 4211"/>
            </a:avLst>
          </a:prstGeom>
          <a:solidFill>
            <a:srgbClr val="1B5A52"/>
          </a:solidFill>
          <a:ln w="12700">
            <a:solidFill>
              <a:srgbClr val="1B5A52"/>
            </a:solidFill>
            <a:prstDash val="solid"/>
          </a:ln>
          <a:effectLst>
            <a:outerShdw sx="100000" sy="100000" kx="0" ky="0" algn="bl" rotWithShape="0" blurRad="101600" dist="25400" dir="5400000">
              <a:srgbClr val="1B2A28">
                <a:alpha val="12000"/>
              </a:srgbClr>
            </a:outerShdw>
          </a:effectLst>
        </p:spPr>
      </p:sp>
      <p:sp>
        <p:nvSpPr>
          <p:cNvPr id="8" name="Text 6"/>
          <p:cNvSpPr txBox="1"/>
          <p:nvPr/>
        </p:nvSpPr>
        <p:spPr>
          <a:xfrm>
            <a:off x="4617720" y="3794760"/>
            <a:ext cx="2926080" cy="36576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Next</a:t>
            </a:r>
            <a:endParaRPr lang="en-US" sz="2000" dirty="0"/>
          </a:p>
        </p:txBody>
      </p:sp>
      <p:sp>
        <p:nvSpPr>
          <p:cNvPr id="9" name="Text 7"/>
          <p:cNvSpPr txBox="1"/>
          <p:nvPr/>
        </p:nvSpPr>
        <p:spPr>
          <a:xfrm>
            <a:off x="4617720" y="4297680"/>
            <a:ext cx="292608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Gold-question benchmark, stronger grounding check</a:t>
            </a:r>
            <a:endParaRPr lang="en-US" sz="1500" dirty="0"/>
          </a:p>
        </p:txBody>
      </p:sp>
      <p:sp>
        <p:nvSpPr>
          <p:cNvPr id="10" name="card"/>
          <p:cNvSpPr/>
          <p:nvPr/>
        </p:nvSpPr>
        <p:spPr>
          <a:xfrm>
            <a:off x="8046720" y="3657600"/>
            <a:ext cx="3383280" cy="1737360"/>
          </a:xfrm>
          <a:prstGeom prst="roundRect">
            <a:avLst>
              <a:gd name="adj" fmla="val 4211"/>
            </a:avLst>
          </a:prstGeom>
          <a:solidFill>
            <a:srgbClr val="1B5A52"/>
          </a:solidFill>
          <a:ln w="12700">
            <a:solidFill>
              <a:srgbClr val="1B5A52"/>
            </a:solidFill>
            <a:prstDash val="solid"/>
          </a:ln>
          <a:effectLst>
            <a:outerShdw sx="100000" sy="100000" kx="0" ky="0" algn="bl" rotWithShape="0" blurRad="101600" dist="25400" dir="5400000">
              <a:srgbClr val="1B2A28">
                <a:alpha val="12000"/>
              </a:srgbClr>
            </a:outerShdw>
          </a:effectLst>
        </p:spPr>
      </p:sp>
      <p:sp>
        <p:nvSpPr>
          <p:cNvPr id="11" name="Text 9"/>
          <p:cNvSpPr txBox="1"/>
          <p:nvPr/>
        </p:nvSpPr>
        <p:spPr>
          <a:xfrm>
            <a:off x="8275320" y="3794760"/>
            <a:ext cx="2926080" cy="36576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Later</a:t>
            </a:r>
            <a:endParaRPr lang="en-US" sz="2000" dirty="0"/>
          </a:p>
        </p:txBody>
      </p:sp>
      <p:sp>
        <p:nvSpPr>
          <p:cNvPr id="12" name="Text 10"/>
          <p:cNvSpPr txBox="1"/>
          <p:nvPr/>
        </p:nvSpPr>
        <p:spPr>
          <a:xfrm>
            <a:off x="8275320" y="4297680"/>
            <a:ext cx="292608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Other Bank matrices, Redis for scale</a:t>
            </a:r>
            <a:endParaRPr lang="en-US" sz="1500" dirty="0"/>
          </a:p>
        </p:txBody>
      </p:sp>
      <p:sp>
        <p:nvSpPr>
          <p:cNvPr id="13" name="Text 11"/>
          <p:cNvSpPr txBox="1"/>
          <p:nvPr/>
        </p:nvSpPr>
        <p:spPr>
          <a:xfrm>
            <a:off x="731520" y="5760720"/>
            <a:ext cx="7315200" cy="457200"/>
          </a:xfrm>
          <a:prstGeom prst="rect">
            <a:avLst/>
          </a:prstGeom>
          <a:noFill/>
          <a:ln/>
        </p:spPr>
        <p:txBody>
          <a:bodyPr wrap="square" lIns="0" tIns="0" rIns="0" bIns="0" rtlCol="0" anchor="t"/>
          <a:lstStyle/>
          <a:p>
            <a:pPr indent="0" marL="0">
              <a:buNone/>
            </a:pPr>
            <a:r>
              <a:rPr lang="en-US" sz="2200" dirty="0">
                <a:solidFill>
                  <a:srgbClr val="9DC3BD"/>
                </a:solidFill>
                <a:latin typeface="Cambria" pitchFamily="34" charset="0"/>
                <a:ea typeface="Cambria" pitchFamily="34" charset="-122"/>
                <a:cs typeface="Cambria" pitchFamily="34" charset="-120"/>
              </a:rPr>
              <a:t>Thank you.  Questions?</a:t>
            </a:r>
            <a:endParaRPr lang="en-US" sz="2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DAM AI Agent: technical defense</dc:title>
  <dc:subject>PptxGenJS Presentation</dc:subject>
  <dc:creator>Adem Mrabet</dc:creator>
  <cp:lastModifiedBy>Adem Mrabet</cp:lastModifiedBy>
  <cp:revision>1</cp:revision>
  <dcterms:created xsi:type="dcterms:W3CDTF">2026-10-18T18:01:26Z</dcterms:created>
  <dcterms:modified xsi:type="dcterms:W3CDTF">2026-10-18T18:01:26Z</dcterms:modified>
</cp:coreProperties>
</file>