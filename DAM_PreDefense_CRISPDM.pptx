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HOOK. Do not read the slide. Say: 'Imagine you are a new employee at the Bank and need to know who must approve a mission program. The answer lives in a document of hundreds of pages. I built an agent that answers in two seconds, and shows its source.' Then introduce yourself, the internship at the African Development Bank (April to October) and announce the plan: we follow CRISP-DM, six phases, and you will see the live product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[0:45-1:45] BUSINESS UNDERSTANDING. Explain what the DAM is: the document that says who initiates, approves, checks and is informed for each task. Tell one concrete story. Land the key sentence: a plain LLM hallucinates plausible roles, which is unacceptable in governance. This is why the project is not 'just a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[1:45-2:30] Three goals. Precise, instant, trusted. Be ready for the question: how do you measure precise? Answer: unit tests on known nodes plus the grounding check on every generated answer (see Evaluation). Be honest that a larger benchmark of questions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[2:30-3:30] DATA UNDERSTANDING. Key message: the quality of the answer is decided before any AI is involved. Give the superscript example: a footnote '1' next to level '2' reads as 21 in plain text extraction. Mention that action codes and cross-references were discovered by exploring the PDF, not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[3:30-5:00] DATA PREPARATION. Walk the four steps with one example each. Justify the choices briefly: pdfplumber because of character geometry, Pydantic because the schema is one place to change, caching because Render ran out of memory when parsing on every start (a real incident). Do not list libraries for their own sake.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[5:00-6:30] MODELING, part 1. Three retrieval outcomes. Why TF-IDF and not embeddings: short keyword-rich titles, no GPU, no labelled data, scores you can explain to a jury. Why a graph: relations such as 'see 1.117.2' are followed automatically. Typo tolerance is deterministic (difflib), works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[6:30-7:30] MODELING, part 2. This is the slide that answers 'why should we trust it'. Be candid about the limit: the grounding check verifies required roles are present, it does not yet detect an added role. That is on the roadmap. Mention hybrid LLM: Groq in the cloud by default, Ollama locally for data that must not leave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[7:30-9:00] DEMO 1, about 50 seconds of video. Talk over it live, do not let it play silently. Point at: the Check/Verify and informed parties are added automatically; the language badge; the refusal. If the video fails, you have the live app as a backup (Auto mode, hosted instance already warmed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[9:00-10:30] DEMO 2, about 50 seconds of video. Features beyond Q&amp;A: auth, sharing with live notifications, voice via Whisper, attachments (PDF, Word, images through a vision model), dashboard. Pick two to talk about, not all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[10:30-12:00] EVALUATION. Be honest and confident: the jury respects a student who names the limit. 137 tests is a code-quality number, not an accuracy number. Say so, then say the next step is a gold set of questions with expected roles to measure precision (answers the supervisor's KPI request). Pick two bugs and tell them as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[12:00-13:00] DEPLOYMENT. One sentence per card. Mention honestly that rate limiting and real-time notifications are per-process today, and would move to Redis for multi-instance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[13:00-14:00] CLOSE. Three sentences: what was built, what is honestly missing, what comes next. End on the value: seconds instead of minutes, sources instead of guesses. Then stop talking and invite questions. Total 14 minutes leaves a 1 minute buffer under the 15 minute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B3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DAM AI Agent · technical defense</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098280" y="1508760"/>
            <a:ext cx="1920240" cy="640080"/>
          </a:xfrm>
          <a:prstGeom prst="line">
            <a:avLst/>
          </a:prstGeom>
          <a:noFill/>
          <a:ln w="19050">
            <a:solidFill>
              <a:srgbClr val="2A7F77"/>
            </a:solidFill>
            <a:prstDash val="solid"/>
          </a:ln>
        </p:spPr>
      </p:sp>
      <p:sp>
        <p:nvSpPr>
          <p:cNvPr id="3" name="Shape 1"/>
          <p:cNvSpPr/>
          <p:nvPr/>
        </p:nvSpPr>
        <p:spPr>
          <a:xfrm>
            <a:off x="9098280" y="1508760"/>
            <a:ext cx="822960" cy="2103120"/>
          </a:xfrm>
          <a:prstGeom prst="line">
            <a:avLst/>
          </a:prstGeom>
          <a:noFill/>
          <a:ln w="19050">
            <a:solidFill>
              <a:srgbClr val="2A7F77"/>
            </a:solidFill>
            <a:prstDash val="solid"/>
          </a:ln>
        </p:spPr>
      </p:sp>
      <p:sp>
        <p:nvSpPr>
          <p:cNvPr id="4" name="Shape 2"/>
          <p:cNvSpPr/>
          <p:nvPr/>
        </p:nvSpPr>
        <p:spPr>
          <a:xfrm flipV="1">
            <a:off x="9921240" y="2148840"/>
            <a:ext cx="1097280" cy="1463040"/>
          </a:xfrm>
          <a:prstGeom prst="line">
            <a:avLst/>
          </a:prstGeom>
          <a:noFill/>
          <a:ln w="19050">
            <a:solidFill>
              <a:srgbClr val="2A7F77"/>
            </a:solidFill>
            <a:prstDash val="solid"/>
          </a:ln>
        </p:spPr>
      </p:sp>
      <p:sp>
        <p:nvSpPr>
          <p:cNvPr id="5" name="Shape 3"/>
          <p:cNvSpPr/>
          <p:nvPr/>
        </p:nvSpPr>
        <p:spPr>
          <a:xfrm>
            <a:off x="9921240" y="3611880"/>
            <a:ext cx="1508760" cy="777240"/>
          </a:xfrm>
          <a:prstGeom prst="line">
            <a:avLst/>
          </a:prstGeom>
          <a:noFill/>
          <a:ln w="19050">
            <a:solidFill>
              <a:srgbClr val="2A7F77"/>
            </a:solidFill>
            <a:prstDash val="solid"/>
          </a:ln>
        </p:spPr>
      </p:sp>
      <p:sp>
        <p:nvSpPr>
          <p:cNvPr id="6" name="Shape 4"/>
          <p:cNvSpPr/>
          <p:nvPr/>
        </p:nvSpPr>
        <p:spPr>
          <a:xfrm flipV="1">
            <a:off x="8755380" y="3611880"/>
            <a:ext cx="1165860" cy="1577340"/>
          </a:xfrm>
          <a:prstGeom prst="line">
            <a:avLst/>
          </a:prstGeom>
          <a:noFill/>
          <a:ln w="19050">
            <a:solidFill>
              <a:srgbClr val="2A7F77"/>
            </a:solidFill>
            <a:prstDash val="solid"/>
          </a:ln>
        </p:spPr>
      </p:sp>
      <p:sp>
        <p:nvSpPr>
          <p:cNvPr id="7" name="Shape 5"/>
          <p:cNvSpPr/>
          <p:nvPr/>
        </p:nvSpPr>
        <p:spPr>
          <a:xfrm>
            <a:off x="9921240" y="3611880"/>
            <a:ext cx="754380" cy="2125980"/>
          </a:xfrm>
          <a:prstGeom prst="line">
            <a:avLst/>
          </a:prstGeom>
          <a:noFill/>
          <a:ln w="19050">
            <a:solidFill>
              <a:srgbClr val="2A7F77"/>
            </a:solidFill>
            <a:prstDash val="solid"/>
          </a:ln>
        </p:spPr>
      </p:sp>
      <p:sp>
        <p:nvSpPr>
          <p:cNvPr id="8" name="Shape 6"/>
          <p:cNvSpPr/>
          <p:nvPr/>
        </p:nvSpPr>
        <p:spPr>
          <a:xfrm flipV="1">
            <a:off x="10675620" y="4389120"/>
            <a:ext cx="754380" cy="1348740"/>
          </a:xfrm>
          <a:prstGeom prst="line">
            <a:avLst/>
          </a:prstGeom>
          <a:noFill/>
          <a:ln w="19050">
            <a:solidFill>
              <a:srgbClr val="2A7F77"/>
            </a:solidFill>
            <a:prstDash val="solid"/>
          </a:ln>
        </p:spPr>
      </p:sp>
      <p:sp>
        <p:nvSpPr>
          <p:cNvPr id="9" name="Shape 7"/>
          <p:cNvSpPr/>
          <p:nvPr/>
        </p:nvSpPr>
        <p:spPr>
          <a:xfrm>
            <a:off x="8755380" y="5189220"/>
            <a:ext cx="1920240" cy="548640"/>
          </a:xfrm>
          <a:prstGeom prst="line">
            <a:avLst/>
          </a:prstGeom>
          <a:noFill/>
          <a:ln w="19050">
            <a:solidFill>
              <a:srgbClr val="2A7F77"/>
            </a:solidFill>
            <a:prstDash val="solid"/>
          </a:ln>
        </p:spPr>
      </p:sp>
      <p:sp>
        <p:nvSpPr>
          <p:cNvPr id="10" name="Shape 8"/>
          <p:cNvSpPr/>
          <p:nvPr/>
        </p:nvSpPr>
        <p:spPr>
          <a:xfrm>
            <a:off x="8778240" y="1188720"/>
            <a:ext cx="640080" cy="640080"/>
          </a:xfrm>
          <a:prstGeom prst="ellipse">
            <a:avLst/>
          </a:prstGeom>
          <a:solidFill>
            <a:srgbClr val="E8A33D"/>
          </a:solidFill>
          <a:ln w="12700">
            <a:solidFill>
              <a:srgbClr val="E8A33D"/>
            </a:solidFill>
            <a:prstDash val="solid"/>
          </a:ln>
        </p:spPr>
      </p:sp>
      <p:sp>
        <p:nvSpPr>
          <p:cNvPr id="11" name="Shape 9"/>
          <p:cNvSpPr/>
          <p:nvPr/>
        </p:nvSpPr>
        <p:spPr>
          <a:xfrm>
            <a:off x="10789920" y="1920240"/>
            <a:ext cx="457200" cy="457200"/>
          </a:xfrm>
          <a:prstGeom prst="ellipse">
            <a:avLst/>
          </a:prstGeom>
          <a:solidFill>
            <a:srgbClr val="9DC3BD"/>
          </a:solidFill>
          <a:ln w="12700">
            <a:solidFill>
              <a:srgbClr val="9DC3BD"/>
            </a:solidFill>
            <a:prstDash val="solid"/>
          </a:ln>
        </p:spPr>
      </p:sp>
      <p:sp>
        <p:nvSpPr>
          <p:cNvPr id="12" name="Shape 10"/>
          <p:cNvSpPr/>
          <p:nvPr/>
        </p:nvSpPr>
        <p:spPr>
          <a:xfrm>
            <a:off x="9509760" y="3200400"/>
            <a:ext cx="822960" cy="822960"/>
          </a:xfrm>
          <a:prstGeom prst="ellipse">
            <a:avLst/>
          </a:prstGeom>
          <a:solidFill>
            <a:srgbClr val="2A7F77"/>
          </a:solidFill>
          <a:ln w="12700">
            <a:solidFill>
              <a:srgbClr val="2A7F77"/>
            </a:solidFill>
            <a:prstDash val="solid"/>
          </a:ln>
        </p:spPr>
      </p:sp>
      <p:sp>
        <p:nvSpPr>
          <p:cNvPr id="13" name="Shape 11"/>
          <p:cNvSpPr/>
          <p:nvPr/>
        </p:nvSpPr>
        <p:spPr>
          <a:xfrm>
            <a:off x="11155680" y="4114800"/>
            <a:ext cx="548640" cy="548640"/>
          </a:xfrm>
          <a:prstGeom prst="ellipse">
            <a:avLst/>
          </a:prstGeom>
          <a:solidFill>
            <a:srgbClr val="E8A33D"/>
          </a:solidFill>
          <a:ln w="12700">
            <a:solidFill>
              <a:srgbClr val="E8A33D"/>
            </a:solidFill>
            <a:prstDash val="solid"/>
          </a:ln>
        </p:spPr>
      </p:sp>
      <p:sp>
        <p:nvSpPr>
          <p:cNvPr id="14" name="Shape 12"/>
          <p:cNvSpPr/>
          <p:nvPr/>
        </p:nvSpPr>
        <p:spPr>
          <a:xfrm>
            <a:off x="8503920" y="4937760"/>
            <a:ext cx="502920" cy="502920"/>
          </a:xfrm>
          <a:prstGeom prst="ellipse">
            <a:avLst/>
          </a:prstGeom>
          <a:solidFill>
            <a:srgbClr val="9DC3BD"/>
          </a:solidFill>
          <a:ln w="12700">
            <a:solidFill>
              <a:srgbClr val="9DC3BD"/>
            </a:solidFill>
            <a:prstDash val="solid"/>
          </a:ln>
        </p:spPr>
      </p:sp>
      <p:sp>
        <p:nvSpPr>
          <p:cNvPr id="15" name="Shape 13"/>
          <p:cNvSpPr/>
          <p:nvPr/>
        </p:nvSpPr>
        <p:spPr>
          <a:xfrm>
            <a:off x="10332720" y="5394960"/>
            <a:ext cx="685800" cy="685800"/>
          </a:xfrm>
          <a:prstGeom prst="ellipse">
            <a:avLst/>
          </a:prstGeom>
          <a:solidFill>
            <a:srgbClr val="2A7F77"/>
          </a:solidFill>
          <a:ln w="12700">
            <a:solidFill>
              <a:srgbClr val="2A7F77"/>
            </a:solidFill>
            <a:prstDash val="solid"/>
          </a:ln>
        </p:spPr>
      </p:sp>
      <p:sp>
        <p:nvSpPr>
          <p:cNvPr id="16" name="Text 14"/>
          <p:cNvSpPr txBox="1"/>
          <p:nvPr/>
        </p:nvSpPr>
        <p:spPr>
          <a:xfrm>
            <a:off x="731520" y="914400"/>
            <a:ext cx="6400800" cy="365760"/>
          </a:xfrm>
          <a:prstGeom prst="rect">
            <a:avLst/>
          </a:prstGeom>
          <a:noFill/>
          <a:ln/>
        </p:spPr>
        <p:txBody>
          <a:bodyPr wrap="square" lIns="0" tIns="0" rIns="0" bIns="0" rtlCol="0" anchor="t"/>
          <a:lstStyle/>
          <a:p>
            <a:pPr indent="0" marL="0">
              <a:buNone/>
            </a:pPr>
            <a:r>
              <a:rPr lang="en-US" sz="1400" b="1" spc="400" kern="0" dirty="0">
                <a:solidFill>
                  <a:srgbClr val="E8A33D"/>
                </a:solidFill>
                <a:latin typeface="Calibri" pitchFamily="34" charset="0"/>
                <a:ea typeface="Calibri" pitchFamily="34" charset="-122"/>
                <a:cs typeface="Calibri" pitchFamily="34" charset="-120"/>
              </a:rPr>
              <a:t>PRE-DEFENSE  ·  PFE 2026</a:t>
            </a:r>
            <a:endParaRPr lang="en-US" sz="1400" dirty="0"/>
          </a:p>
        </p:txBody>
      </p:sp>
      <p:sp>
        <p:nvSpPr>
          <p:cNvPr id="17" name="Text 15"/>
          <p:cNvSpPr txBox="1"/>
          <p:nvPr/>
        </p:nvSpPr>
        <p:spPr>
          <a:xfrm>
            <a:off x="731520" y="1554480"/>
            <a:ext cx="7315200" cy="256032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Ask the DAM.</a:t>
            </a:r>
            <a:endParaRPr lang="en-US" sz="5400" dirty="0"/>
          </a:p>
          <a:p>
            <a:pPr indent="0" marL="0">
              <a:buNone/>
            </a:pPr>
            <a:r>
              <a:rPr lang="en-US" sz="5400" b="1" dirty="0">
                <a:solidFill>
                  <a:srgbClr val="FFFFFF"/>
                </a:solidFill>
                <a:latin typeface="Cambria" pitchFamily="34" charset="0"/>
                <a:ea typeface="Cambria" pitchFamily="34" charset="-122"/>
                <a:cs typeface="Cambria" pitchFamily="34" charset="-120"/>
              </a:rPr>
              <a:t>Get the answer.</a:t>
            </a:r>
            <a:endParaRPr lang="en-US" sz="5400" dirty="0"/>
          </a:p>
          <a:p>
            <a:pPr indent="0" marL="0">
              <a:buNone/>
            </a:pPr>
            <a:r>
              <a:rPr lang="en-US" sz="5400" b="1" dirty="0">
                <a:solidFill>
                  <a:srgbClr val="FFFFFF"/>
                </a:solidFill>
                <a:latin typeface="Cambria" pitchFamily="34" charset="0"/>
                <a:ea typeface="Cambria" pitchFamily="34" charset="-122"/>
                <a:cs typeface="Cambria" pitchFamily="34" charset="-120"/>
              </a:rPr>
              <a:t>With proof.</a:t>
            </a:r>
            <a:endParaRPr lang="en-US" sz="5400" dirty="0"/>
          </a:p>
        </p:txBody>
      </p:sp>
      <p:sp>
        <p:nvSpPr>
          <p:cNvPr id="18" name="Text 16"/>
          <p:cNvSpPr txBox="1"/>
          <p:nvPr/>
        </p:nvSpPr>
        <p:spPr>
          <a:xfrm>
            <a:off x="731520" y="4297680"/>
            <a:ext cx="6949440" cy="822960"/>
          </a:xfrm>
          <a:prstGeom prst="rect">
            <a:avLst/>
          </a:prstGeom>
          <a:noFill/>
          <a:ln/>
        </p:spPr>
        <p:txBody>
          <a:bodyPr wrap="square" lIns="0" tIns="0" rIns="0" bIns="0" rtlCol="0" anchor="t"/>
          <a:lstStyle/>
          <a:p>
            <a:pPr indent="0" marL="0">
              <a:buNone/>
            </a:pPr>
            <a:r>
              <a:rPr lang="en-US" sz="1800" dirty="0">
                <a:solidFill>
                  <a:srgbClr val="9DC3BD"/>
                </a:solidFill>
                <a:latin typeface="Calibri" pitchFamily="34" charset="0"/>
                <a:ea typeface="Calibri" pitchFamily="34" charset="-122"/>
                <a:cs typeface="Calibri" pitchFamily="34" charset="-120"/>
              </a:rPr>
              <a:t>An AI agent that turns the African Development Bank's Delegation of Authority Matrix into instant, grounded answers</a:t>
            </a:r>
            <a:endParaRPr lang="en-US" sz="1800" dirty="0"/>
          </a:p>
        </p:txBody>
      </p:sp>
      <p:sp>
        <p:nvSpPr>
          <p:cNvPr id="19" name="Text 17"/>
          <p:cNvSpPr txBox="1"/>
          <p:nvPr/>
        </p:nvSpPr>
        <p:spPr>
          <a:xfrm>
            <a:off x="731520" y="5760720"/>
            <a:ext cx="731520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Adem Mrabet  ·  Polytech Intl  ·  Supervisor: [name]</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 200-page matrix nobody can search</a:t>
            </a:r>
            <a:endParaRPr lang="en-US" sz="3400" dirty="0"/>
          </a:p>
        </p:txBody>
      </p:sp>
      <p:sp>
        <p:nvSpPr>
          <p:cNvPr id="3" name="Shape 1"/>
          <p:cNvSpPr/>
          <p:nvPr/>
        </p:nvSpPr>
        <p:spPr>
          <a:xfrm>
            <a:off x="4572000" y="6373368"/>
            <a:ext cx="1005840" cy="237744"/>
          </a:xfrm>
          <a:prstGeom prst="roundRect">
            <a:avLst>
              <a:gd name="adj" fmla="val 50000"/>
            </a:avLst>
          </a:prstGeom>
          <a:solidFill>
            <a:srgbClr val="E8A33D"/>
          </a:solidFill>
          <a:ln w="12700">
            <a:solidFill>
              <a:srgbClr val="E8A33D"/>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3520440" cy="3566160"/>
          </a:xfrm>
          <a:prstGeom prst="roundRect">
            <a:avLst>
              <a:gd name="adj" fmla="val 2078"/>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16" name="Image 0" descr="preencoded.png">    </p:cNvPr>
          <p:cNvPicPr>
            <a:picLocks noChangeAspect="1"/>
          </p:cNvPicPr>
          <p:nvPr/>
        </p:nvPicPr>
        <p:blipFill>
          <a:blip r:embed="rId1"/>
          <a:stretch>
            <a:fillRect/>
          </a:stretch>
        </p:blipFill>
        <p:spPr>
          <a:xfrm>
            <a:off x="822960" y="1828800"/>
            <a:ext cx="548640" cy="548640"/>
          </a:xfrm>
          <a:prstGeom prst="rect">
            <a:avLst/>
          </a:prstGeom>
        </p:spPr>
      </p:pic>
      <p:sp>
        <p:nvSpPr>
          <p:cNvPr id="17" name="Text 14"/>
          <p:cNvSpPr txBox="1"/>
          <p:nvPr/>
        </p:nvSpPr>
        <p:spPr>
          <a:xfrm>
            <a:off x="82296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Who approves? Who checks? Who must be informed?</a:t>
            </a:r>
            <a:endParaRPr lang="en-US" sz="2100" dirty="0"/>
          </a:p>
        </p:txBody>
      </p:sp>
      <p:sp>
        <p:nvSpPr>
          <p:cNvPr id="18" name="Text 15"/>
          <p:cNvSpPr txBox="1"/>
          <p:nvPr/>
        </p:nvSpPr>
        <p:spPr>
          <a:xfrm>
            <a:off x="82296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Every task in the DAM has an answer, but it is buried in a dense PDF table.</a:t>
            </a:r>
            <a:endParaRPr lang="en-US" sz="1500" dirty="0"/>
          </a:p>
        </p:txBody>
      </p:sp>
      <p:sp>
        <p:nvSpPr>
          <p:cNvPr id="19" name="card"/>
          <p:cNvSpPr/>
          <p:nvPr/>
        </p:nvSpPr>
        <p:spPr>
          <a:xfrm>
            <a:off x="4297680" y="1554480"/>
            <a:ext cx="3520440" cy="3566160"/>
          </a:xfrm>
          <a:prstGeom prst="roundRect">
            <a:avLst>
              <a:gd name="adj" fmla="val 2078"/>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20" name="Image 1" descr="preencoded.png">    </p:cNvPr>
          <p:cNvPicPr>
            <a:picLocks noChangeAspect="1"/>
          </p:cNvPicPr>
          <p:nvPr/>
        </p:nvPicPr>
        <p:blipFill>
          <a:blip r:embed="rId2"/>
          <a:stretch>
            <a:fillRect/>
          </a:stretch>
        </p:blipFill>
        <p:spPr>
          <a:xfrm>
            <a:off x="4572000" y="1828800"/>
            <a:ext cx="548640" cy="548640"/>
          </a:xfrm>
          <a:prstGeom prst="rect">
            <a:avLst/>
          </a:prstGeom>
        </p:spPr>
      </p:pic>
      <p:sp>
        <p:nvSpPr>
          <p:cNvPr id="21" name="Text 17"/>
          <p:cNvSpPr txBox="1"/>
          <p:nvPr/>
        </p:nvSpPr>
        <p:spPr>
          <a:xfrm>
            <a:off x="457200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Minutes lost, every time</a:t>
            </a:r>
            <a:endParaRPr lang="en-US" sz="2100" dirty="0"/>
          </a:p>
        </p:txBody>
      </p:sp>
      <p:sp>
        <p:nvSpPr>
          <p:cNvPr id="22" name="Text 18"/>
          <p:cNvSpPr txBox="1"/>
          <p:nvPr/>
        </p:nvSpPr>
        <p:spPr>
          <a:xfrm>
            <a:off x="457200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Staff scroll, cross-reference footnotes and ask colleagues, who may also guess.</a:t>
            </a:r>
            <a:endParaRPr lang="en-US" sz="1500" dirty="0"/>
          </a:p>
        </p:txBody>
      </p:sp>
      <p:sp>
        <p:nvSpPr>
          <p:cNvPr id="23" name="card"/>
          <p:cNvSpPr/>
          <p:nvPr/>
        </p:nvSpPr>
        <p:spPr>
          <a:xfrm>
            <a:off x="8046720" y="1554480"/>
            <a:ext cx="3520440" cy="3566160"/>
          </a:xfrm>
          <a:prstGeom prst="roundRect">
            <a:avLst>
              <a:gd name="adj" fmla="val 2078"/>
            </a:avLst>
          </a:prstGeom>
          <a:solidFill>
            <a:srgbClr val="C8553D"/>
          </a:solidFill>
          <a:ln w="12700">
            <a:solidFill>
              <a:srgbClr val="C8553D"/>
            </a:solidFill>
            <a:prstDash val="solid"/>
          </a:ln>
          <a:effectLst>
            <a:outerShdw sx="100000" sy="100000" kx="0" ky="0" algn="bl" rotWithShape="0" blurRad="101600" dist="25400" dir="5400000">
              <a:srgbClr val="1B2A28">
                <a:alpha val="12000"/>
              </a:srgbClr>
            </a:outerShdw>
          </a:effectLst>
        </p:spPr>
      </p:sp>
      <p:pic>
        <p:nvPicPr>
          <p:cNvPr id="24" name="Image 2" descr="preencoded.png">    </p:cNvPr>
          <p:cNvPicPr>
            <a:picLocks noChangeAspect="1"/>
          </p:cNvPicPr>
          <p:nvPr/>
        </p:nvPicPr>
        <p:blipFill>
          <a:blip r:embed="rId3"/>
          <a:stretch>
            <a:fillRect/>
          </a:stretch>
        </p:blipFill>
        <p:spPr>
          <a:xfrm>
            <a:off x="8321040" y="1828800"/>
            <a:ext cx="548640" cy="548640"/>
          </a:xfrm>
          <a:prstGeom prst="rect">
            <a:avLst/>
          </a:prstGeom>
        </p:spPr>
      </p:pic>
      <p:sp>
        <p:nvSpPr>
          <p:cNvPr id="25" name="Text 20"/>
          <p:cNvSpPr txBox="1"/>
          <p:nvPr/>
        </p:nvSpPr>
        <p:spPr>
          <a:xfrm>
            <a:off x="832104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A wrong answer has a price</a:t>
            </a:r>
            <a:endParaRPr lang="en-US" sz="2100" dirty="0"/>
          </a:p>
        </p:txBody>
      </p:sp>
      <p:sp>
        <p:nvSpPr>
          <p:cNvPr id="26" name="Text 21"/>
          <p:cNvSpPr txBox="1"/>
          <p:nvPr/>
        </p:nvSpPr>
        <p:spPr>
          <a:xfrm>
            <a:off x="832104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An unapproved decision is a governance and compliance risk for a development bank.</a:t>
            </a:r>
            <a:endParaRPr lang="en-US" sz="1500" dirty="0"/>
          </a:p>
        </p:txBody>
      </p:sp>
      <p:sp>
        <p:nvSpPr>
          <p:cNvPr id="27" name="Text 22"/>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800" i="1" dirty="0">
                <a:solidFill>
                  <a:srgbClr val="0F3B36"/>
                </a:solidFill>
                <a:latin typeface="Cambria" pitchFamily="34" charset="0"/>
                <a:ea typeface="Cambria" pitchFamily="34" charset="-122"/>
                <a:cs typeface="Cambria" pitchFamily="34" charset="-120"/>
              </a:rPr>
              <a:t>Generic chatbots cannot be the answer: they invent roles that sound right.</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Our promise, in three measurable goals</a:t>
            </a:r>
            <a:endParaRPr lang="en-US" sz="3400" dirty="0"/>
          </a:p>
        </p:txBody>
      </p:sp>
      <p:sp>
        <p:nvSpPr>
          <p:cNvPr id="3" name="Shape 1"/>
          <p:cNvSpPr/>
          <p:nvPr/>
        </p:nvSpPr>
        <p:spPr>
          <a:xfrm>
            <a:off x="4572000" y="6373368"/>
            <a:ext cx="1005840" cy="237744"/>
          </a:xfrm>
          <a:prstGeom prst="roundRect">
            <a:avLst>
              <a:gd name="adj" fmla="val 50000"/>
            </a:avLst>
          </a:prstGeom>
          <a:solidFill>
            <a:srgbClr val="E8A33D"/>
          </a:solidFill>
          <a:ln w="12700">
            <a:solidFill>
              <a:srgbClr val="E8A33D"/>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16" name="num-1"/>
          <p:cNvSpPr/>
          <p:nvPr/>
        </p:nvSpPr>
        <p:spPr>
          <a:xfrm>
            <a:off x="822960" y="1901952"/>
            <a:ext cx="548640" cy="548640"/>
          </a:xfrm>
          <a:prstGeom prst="ellipse">
            <a:avLst/>
          </a:prstGeom>
          <a:solidFill>
            <a:srgbClr val="2A7F77"/>
          </a:solidFill>
          <a:ln w="12700">
            <a:solidFill>
              <a:srgbClr val="2A7F77"/>
            </a:solidFill>
            <a:prstDash val="solid"/>
          </a:ln>
        </p:spPr>
      </p:sp>
      <p:sp>
        <p:nvSpPr>
          <p:cNvPr id="17" name="Text 15"/>
          <p:cNvSpPr txBox="1"/>
          <p:nvPr/>
        </p:nvSpPr>
        <p:spPr>
          <a:xfrm>
            <a:off x="822960" y="190195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6"/>
          <p:cNvSpPr txBox="1"/>
          <p:nvPr/>
        </p:nvSpPr>
        <p:spPr>
          <a:xfrm>
            <a:off x="1645920" y="171907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Precise</a:t>
            </a:r>
            <a:endParaRPr lang="en-US" sz="2200" dirty="0"/>
          </a:p>
        </p:txBody>
      </p:sp>
      <p:sp>
        <p:nvSpPr>
          <p:cNvPr id="19" name="Text 17"/>
          <p:cNvSpPr txBox="1"/>
          <p:nvPr/>
        </p:nvSpPr>
        <p:spPr>
          <a:xfrm>
            <a:off x="1645920" y="217627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Every answer traces to a node of the DAM. No source, no answer.</a:t>
            </a:r>
            <a:endParaRPr lang="en-US" sz="1500" dirty="0"/>
          </a:p>
        </p:txBody>
      </p:sp>
      <p:sp>
        <p:nvSpPr>
          <p:cNvPr id="20" name="card"/>
          <p:cNvSpPr/>
          <p:nvPr/>
        </p:nvSpPr>
        <p:spPr>
          <a:xfrm>
            <a:off x="548640" y="297180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1" name="num-2"/>
          <p:cNvSpPr/>
          <p:nvPr/>
        </p:nvSpPr>
        <p:spPr>
          <a:xfrm>
            <a:off x="822960" y="3319272"/>
            <a:ext cx="548640" cy="548640"/>
          </a:xfrm>
          <a:prstGeom prst="ellipse">
            <a:avLst/>
          </a:prstGeom>
          <a:solidFill>
            <a:srgbClr val="2A7F77"/>
          </a:solidFill>
          <a:ln w="12700">
            <a:solidFill>
              <a:srgbClr val="2A7F77"/>
            </a:solidFill>
            <a:prstDash val="solid"/>
          </a:ln>
        </p:spPr>
      </p:sp>
      <p:sp>
        <p:nvSpPr>
          <p:cNvPr id="22" name="Text 20"/>
          <p:cNvSpPr txBox="1"/>
          <p:nvPr/>
        </p:nvSpPr>
        <p:spPr>
          <a:xfrm>
            <a:off x="822960" y="331927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3" name="Text 21"/>
          <p:cNvSpPr txBox="1"/>
          <p:nvPr/>
        </p:nvSpPr>
        <p:spPr>
          <a:xfrm>
            <a:off x="1645920" y="313639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Instant</a:t>
            </a:r>
            <a:endParaRPr lang="en-US" sz="2200" dirty="0"/>
          </a:p>
        </p:txBody>
      </p:sp>
      <p:sp>
        <p:nvSpPr>
          <p:cNvPr id="24" name="Text 22"/>
          <p:cNvSpPr txBox="1"/>
          <p:nvPr/>
        </p:nvSpPr>
        <p:spPr>
          <a:xfrm>
            <a:off x="1645920" y="359359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Natural language, typos and four languages: French, Spanish, Portuguese, Arabic.</a:t>
            </a:r>
            <a:endParaRPr lang="en-US" sz="1500" dirty="0"/>
          </a:p>
        </p:txBody>
      </p:sp>
      <p:sp>
        <p:nvSpPr>
          <p:cNvPr id="25" name="card"/>
          <p:cNvSpPr/>
          <p:nvPr/>
        </p:nvSpPr>
        <p:spPr>
          <a:xfrm>
            <a:off x="548640" y="438912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6" name="num-3"/>
          <p:cNvSpPr/>
          <p:nvPr/>
        </p:nvSpPr>
        <p:spPr>
          <a:xfrm>
            <a:off x="822960" y="4736592"/>
            <a:ext cx="548640" cy="548640"/>
          </a:xfrm>
          <a:prstGeom prst="ellipse">
            <a:avLst/>
          </a:prstGeom>
          <a:solidFill>
            <a:srgbClr val="2A7F77"/>
          </a:solidFill>
          <a:ln w="12700">
            <a:solidFill>
              <a:srgbClr val="2A7F77"/>
            </a:solidFill>
            <a:prstDash val="solid"/>
          </a:ln>
        </p:spPr>
      </p:sp>
      <p:sp>
        <p:nvSpPr>
          <p:cNvPr id="27" name="Text 25"/>
          <p:cNvSpPr txBox="1"/>
          <p:nvPr/>
        </p:nvSpPr>
        <p:spPr>
          <a:xfrm>
            <a:off x="822960" y="473659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8" name="Text 26"/>
          <p:cNvSpPr txBox="1"/>
          <p:nvPr/>
        </p:nvSpPr>
        <p:spPr>
          <a:xfrm>
            <a:off x="1645920" y="455371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Trusted</a:t>
            </a:r>
            <a:endParaRPr lang="en-US" sz="2200" dirty="0"/>
          </a:p>
        </p:txBody>
      </p:sp>
      <p:sp>
        <p:nvSpPr>
          <p:cNvPr id="29" name="Text 27"/>
          <p:cNvSpPr txBox="1"/>
          <p:nvPr/>
        </p:nvSpPr>
        <p:spPr>
          <a:xfrm>
            <a:off x="1645920" y="501091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Honest refusal when the question is outside the document.</a:t>
            </a:r>
            <a:endParaRPr lang="en-US" sz="1500" dirty="0"/>
          </a:p>
        </p:txBody>
      </p:sp>
      <p:sp>
        <p:nvSpPr>
          <p:cNvPr id="30" name="card"/>
          <p:cNvSpPr/>
          <p:nvPr/>
        </p:nvSpPr>
        <p:spPr>
          <a:xfrm>
            <a:off x="8046720" y="1554480"/>
            <a:ext cx="3566160" cy="4069080"/>
          </a:xfrm>
          <a:prstGeom prst="roundRect">
            <a:avLst>
              <a:gd name="adj" fmla="val 205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31" name="Text 29"/>
          <p:cNvSpPr txBox="1"/>
          <p:nvPr/>
        </p:nvSpPr>
        <p:spPr>
          <a:xfrm>
            <a:off x="8321040" y="1783080"/>
            <a:ext cx="301752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Success looks like</a:t>
            </a:r>
            <a:endParaRPr lang="en-US" sz="1400" dirty="0"/>
          </a:p>
        </p:txBody>
      </p:sp>
      <p:sp>
        <p:nvSpPr>
          <p:cNvPr id="32" name="Text 30"/>
          <p:cNvSpPr txBox="1"/>
          <p:nvPr/>
        </p:nvSpPr>
        <p:spPr>
          <a:xfrm>
            <a:off x="8321040" y="2286000"/>
            <a:ext cx="3017520" cy="2011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Right role,</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right level,</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right footnote.</a:t>
            </a:r>
            <a:endParaRPr lang="en-US" sz="3000" dirty="0"/>
          </a:p>
        </p:txBody>
      </p:sp>
      <p:sp>
        <p:nvSpPr>
          <p:cNvPr id="33" name="Text 31"/>
          <p:cNvSpPr txBox="1"/>
          <p:nvPr/>
        </p:nvSpPr>
        <p:spPr>
          <a:xfrm>
            <a:off x="8321040" y="4389120"/>
            <a:ext cx="3017520" cy="1097280"/>
          </a:xfrm>
          <a:prstGeom prst="rect">
            <a:avLst/>
          </a:prstGeom>
          <a:noFill/>
          <a:ln/>
        </p:spPr>
        <p:txBody>
          <a:bodyPr wrap="square" lIns="0" tIns="0" rIns="0" bIns="0" rtlCol="0" anchor="t"/>
          <a:lstStyle/>
          <a:p>
            <a:pPr indent="0" marL="0">
              <a:buNone/>
            </a:pPr>
            <a:r>
              <a:rPr lang="en-US" sz="1400" dirty="0">
                <a:solidFill>
                  <a:srgbClr val="9DC3BD"/>
                </a:solidFill>
                <a:latin typeface="Calibri" pitchFamily="34" charset="0"/>
                <a:ea typeface="Calibri" pitchFamily="34" charset="-122"/>
                <a:cs typeface="Calibri" pitchFamily="34" charset="-120"/>
              </a:rPr>
              <a:t>Not a demo that sounds smart: an assistant a Bank employee can rely on.</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Inside the document: 459 tasks, 2,108 relations</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8A33D"/>
          </a:solidFill>
          <a:ln w="12700">
            <a:solidFill>
              <a:srgbClr val="E8A33D"/>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2651760" cy="1463040"/>
          </a:xfrm>
          <a:prstGeom prst="roundRect">
            <a:avLst>
              <a:gd name="adj" fmla="val 5000"/>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16" name="Text 14"/>
          <p:cNvSpPr txBox="1"/>
          <p:nvPr/>
        </p:nvSpPr>
        <p:spPr>
          <a:xfrm>
            <a:off x="73152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459</a:t>
            </a:r>
            <a:endParaRPr lang="en-US" sz="4000" dirty="0"/>
          </a:p>
        </p:txBody>
      </p:sp>
      <p:sp>
        <p:nvSpPr>
          <p:cNvPr id="17" name="Text 15"/>
          <p:cNvSpPr txBox="1"/>
          <p:nvPr/>
        </p:nvSpPr>
        <p:spPr>
          <a:xfrm>
            <a:off x="73152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tasks parsed from the PDF</a:t>
            </a:r>
            <a:endParaRPr lang="en-US" sz="1400" dirty="0"/>
          </a:p>
        </p:txBody>
      </p:sp>
      <p:sp>
        <p:nvSpPr>
          <p:cNvPr id="18" name="card"/>
          <p:cNvSpPr/>
          <p:nvPr/>
        </p:nvSpPr>
        <p:spPr>
          <a:xfrm>
            <a:off x="3383280" y="1554480"/>
            <a:ext cx="2651760" cy="1463040"/>
          </a:xfrm>
          <a:prstGeom prst="roundRect">
            <a:avLst>
              <a:gd name="adj" fmla="val 5000"/>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19" name="Text 17"/>
          <p:cNvSpPr txBox="1"/>
          <p:nvPr/>
        </p:nvSpPr>
        <p:spPr>
          <a:xfrm>
            <a:off x="356616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2,108</a:t>
            </a:r>
            <a:endParaRPr lang="en-US" sz="4000" dirty="0"/>
          </a:p>
        </p:txBody>
      </p:sp>
      <p:sp>
        <p:nvSpPr>
          <p:cNvPr id="20" name="Text 18"/>
          <p:cNvSpPr txBox="1"/>
          <p:nvPr/>
        </p:nvSpPr>
        <p:spPr>
          <a:xfrm>
            <a:off x="356616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links between them</a:t>
            </a:r>
            <a:endParaRPr lang="en-US" sz="1400" dirty="0"/>
          </a:p>
        </p:txBody>
      </p:sp>
      <p:sp>
        <p:nvSpPr>
          <p:cNvPr id="21" name="card"/>
          <p:cNvSpPr/>
          <p:nvPr/>
        </p:nvSpPr>
        <p:spPr>
          <a:xfrm>
            <a:off x="6217920" y="1554480"/>
            <a:ext cx="2651760" cy="1463040"/>
          </a:xfrm>
          <a:prstGeom prst="roundRect">
            <a:avLst>
              <a:gd name="adj" fmla="val 5000"/>
            </a:avLst>
          </a:prstGeom>
          <a:solidFill>
            <a:srgbClr val="E8A33D"/>
          </a:solidFill>
          <a:ln w="12700">
            <a:solidFill>
              <a:srgbClr val="E8A33D"/>
            </a:solidFill>
            <a:prstDash val="solid"/>
          </a:ln>
          <a:effectLst>
            <a:outerShdw sx="100000" sy="100000" kx="0" ky="0" algn="bl" rotWithShape="0" blurRad="101600" dist="25400" dir="5400000">
              <a:srgbClr val="1B2A28">
                <a:alpha val="12000"/>
              </a:srgbClr>
            </a:outerShdw>
          </a:effectLst>
        </p:spPr>
      </p:sp>
      <p:sp>
        <p:nvSpPr>
          <p:cNvPr id="22" name="Text 20"/>
          <p:cNvSpPr txBox="1"/>
          <p:nvPr/>
        </p:nvSpPr>
        <p:spPr>
          <a:xfrm>
            <a:off x="640080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23" name="Text 21"/>
          <p:cNvSpPr txBox="1"/>
          <p:nvPr/>
        </p:nvSpPr>
        <p:spPr>
          <a:xfrm>
            <a:off x="640080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action codes: Initiate, Approve, Check, Verify, Inform, more</a:t>
            </a:r>
            <a:endParaRPr lang="en-US" sz="1400" dirty="0"/>
          </a:p>
        </p:txBody>
      </p:sp>
      <p:sp>
        <p:nvSpPr>
          <p:cNvPr id="24" name="Text 22"/>
          <p:cNvSpPr txBox="1"/>
          <p:nvPr/>
        </p:nvSpPr>
        <p:spPr>
          <a:xfrm>
            <a:off x="548640" y="3337560"/>
            <a:ext cx="5486400" cy="365760"/>
          </a:xfrm>
          <a:prstGeom prst="rect">
            <a:avLst/>
          </a:prstGeom>
          <a:noFill/>
          <a:ln/>
        </p:spPr>
        <p:txBody>
          <a:bodyPr wrap="square" lIns="0" tIns="0" rIns="0" bIns="0" rtlCol="0" anchor="t"/>
          <a:lstStyle/>
          <a:p>
            <a:pPr indent="0" marL="0">
              <a:buNone/>
            </a:pPr>
            <a:r>
              <a:rPr lang="en-US" sz="1800" b="1" dirty="0">
                <a:solidFill>
                  <a:srgbClr val="0F3B36"/>
                </a:solidFill>
                <a:latin typeface="Cambria" pitchFamily="34" charset="0"/>
                <a:ea typeface="Cambria" pitchFamily="34" charset="-122"/>
                <a:cs typeface="Cambria" pitchFamily="34" charset="-120"/>
              </a:rPr>
              <a:t>What made it hard</a:t>
            </a:r>
            <a:endParaRPr lang="en-US" sz="1800" dirty="0"/>
          </a:p>
        </p:txBody>
      </p:sp>
      <p:sp>
        <p:nvSpPr>
          <p:cNvPr id="25" name="Text 23"/>
          <p:cNvSpPr txBox="1"/>
          <p:nvPr/>
        </p:nvSpPr>
        <p:spPr>
          <a:xfrm>
            <a:off x="548640" y="3794760"/>
            <a:ext cx="8229600" cy="2103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Footnote digits look like level digits once text is extracted</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Rows split across pages, merged cells hide roles</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Tasks point to each other: "See 1.117.2"</a:t>
            </a:r>
            <a:endParaRPr lang="en-US" sz="1700" dirty="0"/>
          </a:p>
        </p:txBody>
      </p:sp>
      <p:sp>
        <p:nvSpPr>
          <p:cNvPr id="26" name="card"/>
          <p:cNvSpPr/>
          <p:nvPr/>
        </p:nvSpPr>
        <p:spPr>
          <a:xfrm>
            <a:off x="9144000" y="1554480"/>
            <a:ext cx="2514600" cy="4114800"/>
          </a:xfrm>
          <a:prstGeom prst="roundRect">
            <a:avLst>
              <a:gd name="adj" fmla="val 2909"/>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7" name="Text 25"/>
          <p:cNvSpPr txBox="1"/>
          <p:nvPr/>
        </p:nvSpPr>
        <p:spPr>
          <a:xfrm>
            <a:off x="9372600" y="1828800"/>
            <a:ext cx="2103120" cy="146304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Dirty data in,</a:t>
            </a:r>
            <a:endParaRPr lang="en-US" sz="2200" dirty="0"/>
          </a:p>
          <a:p>
            <a:pPr indent="0" marL="0">
              <a:buNone/>
            </a:pPr>
            <a:r>
              <a:rPr lang="en-US" sz="2200" b="1" dirty="0">
                <a:solidFill>
                  <a:srgbClr val="0F3B36"/>
                </a:solidFill>
                <a:latin typeface="Cambria" pitchFamily="34" charset="0"/>
                <a:ea typeface="Cambria" pitchFamily="34" charset="-122"/>
                <a:cs typeface="Cambria" pitchFamily="34" charset="-120"/>
              </a:rPr>
              <a:t>wrong answer out.</a:t>
            </a:r>
            <a:endParaRPr lang="en-US" sz="2200" dirty="0"/>
          </a:p>
        </p:txBody>
      </p:sp>
      <p:sp>
        <p:nvSpPr>
          <p:cNvPr id="28" name="Text 26"/>
          <p:cNvSpPr txBox="1"/>
          <p:nvPr/>
        </p:nvSpPr>
        <p:spPr>
          <a:xfrm>
            <a:off x="9372600" y="3474720"/>
            <a:ext cx="2103120" cy="1645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So the real work of this project was the data, not the model.</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From a PDF to a clean, typed knowledge base</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8A33D"/>
          </a:solidFill>
          <a:ln w="12700">
            <a:solidFill>
              <a:srgbClr val="E8A33D"/>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sessions/ecstatic-vibrant-goodall/mnt/damaiagent/chapters_ready/figures/fig2_pipeline.png">    </p:cNvPr>
          <p:cNvPicPr>
            <a:picLocks noChangeAspect="1"/>
          </p:cNvPicPr>
          <p:nvPr/>
        </p:nvPicPr>
        <p:blipFill>
          <a:blip r:embed="rId1"/>
          <a:stretch>
            <a:fillRect/>
          </a:stretch>
        </p:blipFill>
        <p:spPr>
          <a:xfrm>
            <a:off x="731520" y="1325880"/>
            <a:ext cx="1508760" cy="4270248"/>
          </a:xfrm>
          <a:prstGeom prst="rect">
            <a:avLst/>
          </a:prstGeom>
        </p:spPr>
      </p:pic>
      <p:sp>
        <p:nvSpPr>
          <p:cNvPr id="16" name="num-1"/>
          <p:cNvSpPr/>
          <p:nvPr/>
        </p:nvSpPr>
        <p:spPr>
          <a:xfrm>
            <a:off x="2377440" y="1463040"/>
            <a:ext cx="457200" cy="457200"/>
          </a:xfrm>
          <a:prstGeom prst="ellipse">
            <a:avLst/>
          </a:prstGeom>
          <a:solidFill>
            <a:srgbClr val="E8A33D"/>
          </a:solidFill>
          <a:ln w="12700">
            <a:solidFill>
              <a:srgbClr val="E8A33D"/>
            </a:solidFill>
            <a:prstDash val="solid"/>
          </a:ln>
        </p:spPr>
      </p:sp>
      <p:sp>
        <p:nvSpPr>
          <p:cNvPr id="17" name="Text 14"/>
          <p:cNvSpPr txBox="1"/>
          <p:nvPr/>
        </p:nvSpPr>
        <p:spPr>
          <a:xfrm>
            <a:off x="237744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5"/>
          <p:cNvSpPr txBox="1"/>
          <p:nvPr/>
        </p:nvSpPr>
        <p:spPr>
          <a:xfrm>
            <a:off x="3017520" y="137160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Read characters, not words</a:t>
            </a:r>
            <a:endParaRPr lang="en-US" sz="2000" dirty="0"/>
          </a:p>
        </p:txBody>
      </p:sp>
      <p:sp>
        <p:nvSpPr>
          <p:cNvPr id="19" name="Text 16"/>
          <p:cNvSpPr txBox="1"/>
          <p:nvPr/>
        </p:nvSpPr>
        <p:spPr>
          <a:xfrm>
            <a:off x="3017520" y="178308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pdfplumber exposes size and position, so footnotes are told apart from levels.</a:t>
            </a:r>
            <a:endParaRPr lang="en-US" sz="1500" dirty="0"/>
          </a:p>
        </p:txBody>
      </p:sp>
      <p:sp>
        <p:nvSpPr>
          <p:cNvPr id="20" name="num-2"/>
          <p:cNvSpPr/>
          <p:nvPr/>
        </p:nvSpPr>
        <p:spPr>
          <a:xfrm>
            <a:off x="2377440" y="2560320"/>
            <a:ext cx="457200" cy="457200"/>
          </a:xfrm>
          <a:prstGeom prst="ellipse">
            <a:avLst/>
          </a:prstGeom>
          <a:solidFill>
            <a:srgbClr val="E8A33D"/>
          </a:solidFill>
          <a:ln w="12700">
            <a:solidFill>
              <a:srgbClr val="E8A33D"/>
            </a:solidFill>
            <a:prstDash val="solid"/>
          </a:ln>
        </p:spPr>
      </p:sp>
      <p:sp>
        <p:nvSpPr>
          <p:cNvPr id="21" name="Text 18"/>
          <p:cNvSpPr txBox="1"/>
          <p:nvPr/>
        </p:nvSpPr>
        <p:spPr>
          <a:xfrm>
            <a:off x="2377440" y="2560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2" name="Text 19"/>
          <p:cNvSpPr txBox="1"/>
          <p:nvPr/>
        </p:nvSpPr>
        <p:spPr>
          <a:xfrm>
            <a:off x="3017520" y="246888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Rebuild rows and task blocks</a:t>
            </a:r>
            <a:endParaRPr lang="en-US" sz="2000" dirty="0"/>
          </a:p>
        </p:txBody>
      </p:sp>
      <p:sp>
        <p:nvSpPr>
          <p:cNvPr id="23" name="Text 20"/>
          <p:cNvSpPr txBox="1"/>
          <p:nvPr/>
        </p:nvSpPr>
        <p:spPr>
          <a:xfrm>
            <a:off x="3017520" y="288036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Merged and split rows are reassembled into one task each.</a:t>
            </a:r>
            <a:endParaRPr lang="en-US" sz="1500" dirty="0"/>
          </a:p>
        </p:txBody>
      </p:sp>
      <p:sp>
        <p:nvSpPr>
          <p:cNvPr id="24" name="num-3"/>
          <p:cNvSpPr/>
          <p:nvPr/>
        </p:nvSpPr>
        <p:spPr>
          <a:xfrm>
            <a:off x="2377440" y="3657600"/>
            <a:ext cx="457200" cy="457200"/>
          </a:xfrm>
          <a:prstGeom prst="ellipse">
            <a:avLst/>
          </a:prstGeom>
          <a:solidFill>
            <a:srgbClr val="E8A33D"/>
          </a:solidFill>
          <a:ln w="12700">
            <a:solidFill>
              <a:srgbClr val="E8A33D"/>
            </a:solidFill>
            <a:prstDash val="solid"/>
          </a:ln>
        </p:spPr>
      </p:sp>
      <p:sp>
        <p:nvSpPr>
          <p:cNvPr id="25" name="Text 22"/>
          <p:cNvSpPr txBox="1"/>
          <p:nvPr/>
        </p:nvSpPr>
        <p:spPr>
          <a:xfrm>
            <a:off x="2377440" y="3657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6" name="Text 23"/>
          <p:cNvSpPr txBox="1"/>
          <p:nvPr/>
        </p:nvSpPr>
        <p:spPr>
          <a:xfrm>
            <a:off x="3017520" y="356616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Validate with Pydantic</a:t>
            </a:r>
            <a:endParaRPr lang="en-US" sz="2000" dirty="0"/>
          </a:p>
        </p:txBody>
      </p:sp>
      <p:sp>
        <p:nvSpPr>
          <p:cNvPr id="27" name="Text 24"/>
          <p:cNvSpPr txBox="1"/>
          <p:nvPr/>
        </p:nvSpPr>
        <p:spPr>
          <a:xfrm>
            <a:off x="3017520" y="397764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Typed contract between parser and graph: bad data fails loudly.</a:t>
            </a:r>
            <a:endParaRPr lang="en-US" sz="1500" dirty="0"/>
          </a:p>
        </p:txBody>
      </p:sp>
      <p:sp>
        <p:nvSpPr>
          <p:cNvPr id="28" name="num-4"/>
          <p:cNvSpPr/>
          <p:nvPr/>
        </p:nvSpPr>
        <p:spPr>
          <a:xfrm>
            <a:off x="2377440" y="4754880"/>
            <a:ext cx="457200" cy="457200"/>
          </a:xfrm>
          <a:prstGeom prst="ellipse">
            <a:avLst/>
          </a:prstGeom>
          <a:solidFill>
            <a:srgbClr val="E8A33D"/>
          </a:solidFill>
          <a:ln w="12700">
            <a:solidFill>
              <a:srgbClr val="E8A33D"/>
            </a:solidFill>
            <a:prstDash val="solid"/>
          </a:ln>
        </p:spPr>
      </p:sp>
      <p:sp>
        <p:nvSpPr>
          <p:cNvPr id="29" name="Text 26"/>
          <p:cNvSpPr txBox="1"/>
          <p:nvPr/>
        </p:nvSpPr>
        <p:spPr>
          <a:xfrm>
            <a:off x="2377440" y="4754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30" name="Text 27"/>
          <p:cNvSpPr txBox="1"/>
          <p:nvPr/>
        </p:nvSpPr>
        <p:spPr>
          <a:xfrm>
            <a:off x="3017520" y="466344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Cache as nodes.json</a:t>
            </a:r>
            <a:endParaRPr lang="en-US" sz="2000" dirty="0"/>
          </a:p>
        </p:txBody>
      </p:sp>
      <p:sp>
        <p:nvSpPr>
          <p:cNvPr id="31" name="Text 28"/>
          <p:cNvSpPr txBox="1"/>
          <p:nvPr/>
        </p:nvSpPr>
        <p:spPr>
          <a:xfrm>
            <a:off x="3017520" y="507492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Parse once at build time, so the free hosting tier does not run out of memory.</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 graph that knows who does what</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sessions/ecstatic-vibrant-goodall/mnt/damaiagent/chapters_ready/figures/fig3_graph.png">    </p:cNvPr>
          <p:cNvPicPr>
            <a:picLocks noChangeAspect="1"/>
          </p:cNvPicPr>
          <p:nvPr/>
        </p:nvPicPr>
        <p:blipFill>
          <a:blip r:embed="rId1"/>
          <a:stretch>
            <a:fillRect/>
          </a:stretch>
        </p:blipFill>
        <p:spPr>
          <a:xfrm>
            <a:off x="548640" y="1463040"/>
            <a:ext cx="7498080" cy="2221992"/>
          </a:xfrm>
          <a:prstGeom prst="rect">
            <a:avLst/>
          </a:prstGeom>
        </p:spPr>
      </p:pic>
      <p:sp>
        <p:nvSpPr>
          <p:cNvPr id="16" name="card"/>
          <p:cNvSpPr/>
          <p:nvPr/>
        </p:nvSpPr>
        <p:spPr>
          <a:xfrm>
            <a:off x="548640" y="4069080"/>
            <a:ext cx="3520440" cy="1783080"/>
          </a:xfrm>
          <a:prstGeom prst="roundRect">
            <a:avLst>
              <a:gd name="adj" fmla="val 4103"/>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17" name="Text 14"/>
          <p:cNvSpPr txBox="1"/>
          <p:nvPr/>
        </p:nvSpPr>
        <p:spPr>
          <a:xfrm>
            <a:off x="77724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Exact</a:t>
            </a:r>
            <a:endParaRPr lang="en-US" sz="2200" dirty="0"/>
          </a:p>
        </p:txBody>
      </p:sp>
      <p:sp>
        <p:nvSpPr>
          <p:cNvPr id="18" name="Text 15"/>
          <p:cNvSpPr txBox="1"/>
          <p:nvPr/>
        </p:nvSpPr>
        <p:spPr>
          <a:xfrm>
            <a:off x="77724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Type 2.126: resolved with certainty, confidence 1.0.</a:t>
            </a:r>
            <a:endParaRPr lang="en-US" sz="1500" dirty="0"/>
          </a:p>
        </p:txBody>
      </p:sp>
      <p:sp>
        <p:nvSpPr>
          <p:cNvPr id="19" name="card"/>
          <p:cNvSpPr/>
          <p:nvPr/>
        </p:nvSpPr>
        <p:spPr>
          <a:xfrm>
            <a:off x="4297680" y="4069080"/>
            <a:ext cx="3520440" cy="1783080"/>
          </a:xfrm>
          <a:prstGeom prst="roundRect">
            <a:avLst>
              <a:gd name="adj" fmla="val 4103"/>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20" name="Text 17"/>
          <p:cNvSpPr txBox="1"/>
          <p:nvPr/>
        </p:nvSpPr>
        <p:spPr>
          <a:xfrm>
            <a:off x="452628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Semantic</a:t>
            </a:r>
            <a:endParaRPr lang="en-US" sz="2200" dirty="0"/>
          </a:p>
        </p:txBody>
      </p:sp>
      <p:sp>
        <p:nvSpPr>
          <p:cNvPr id="21" name="Text 18"/>
          <p:cNvSpPr txBox="1"/>
          <p:nvPr/>
        </p:nvSpPr>
        <p:spPr>
          <a:xfrm>
            <a:off x="452628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Describe the task: TF-IDF finds it, with an explainable score.</a:t>
            </a:r>
            <a:endParaRPr lang="en-US" sz="1500" dirty="0"/>
          </a:p>
        </p:txBody>
      </p:sp>
      <p:sp>
        <p:nvSpPr>
          <p:cNvPr id="22" name="card"/>
          <p:cNvSpPr/>
          <p:nvPr/>
        </p:nvSpPr>
        <p:spPr>
          <a:xfrm>
            <a:off x="8046720" y="4069080"/>
            <a:ext cx="3520440" cy="1783080"/>
          </a:xfrm>
          <a:prstGeom prst="roundRect">
            <a:avLst>
              <a:gd name="adj" fmla="val 4103"/>
            </a:avLst>
          </a:prstGeom>
          <a:solidFill>
            <a:srgbClr val="C8553D"/>
          </a:solidFill>
          <a:ln w="12700">
            <a:solidFill>
              <a:srgbClr val="C8553D"/>
            </a:solidFill>
            <a:prstDash val="solid"/>
          </a:ln>
          <a:effectLst>
            <a:outerShdw sx="100000" sy="100000" kx="0" ky="0" algn="bl" rotWithShape="0" blurRad="101600" dist="25400" dir="5400000">
              <a:srgbClr val="1B2A28">
                <a:alpha val="12000"/>
              </a:srgbClr>
            </a:outerShdw>
          </a:effectLst>
        </p:spPr>
      </p:sp>
      <p:sp>
        <p:nvSpPr>
          <p:cNvPr id="23" name="Text 20"/>
          <p:cNvSpPr txBox="1"/>
          <p:nvPr/>
        </p:nvSpPr>
        <p:spPr>
          <a:xfrm>
            <a:off x="827532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Honest</a:t>
            </a:r>
            <a:endParaRPr lang="en-US" sz="2200" dirty="0"/>
          </a:p>
        </p:txBody>
      </p:sp>
      <p:sp>
        <p:nvSpPr>
          <p:cNvPr id="24" name="Text 21"/>
          <p:cNvSpPr txBox="1"/>
          <p:nvPr/>
        </p:nvSpPr>
        <p:spPr>
          <a:xfrm>
            <a:off x="827532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Unknown id: it says so instead of guessing.</a:t>
            </a:r>
            <a:endParaRPr lang="en-US" sz="1500" dirty="0"/>
          </a:p>
        </p:txBody>
      </p:sp>
      <p:sp>
        <p:nvSpPr>
          <p:cNvPr id="25" name="Text 22"/>
          <p:cNvSpPr txBox="1"/>
          <p:nvPr/>
        </p:nvSpPr>
        <p:spPr>
          <a:xfrm>
            <a:off x="8412480" y="1645920"/>
            <a:ext cx="3200400" cy="914400"/>
          </a:xfrm>
          <a:prstGeom prst="rect">
            <a:avLst/>
          </a:prstGeom>
          <a:noFill/>
          <a:ln/>
        </p:spPr>
        <p:txBody>
          <a:bodyPr wrap="square" lIns="0" tIns="0" rIns="0" bIns="0" rtlCol="0" anchor="t"/>
          <a:lstStyle/>
          <a:p>
            <a:pPr indent="0" marL="0">
              <a:buNone/>
            </a:pPr>
            <a:r>
              <a:rPr lang="en-US" sz="2400" b="1" dirty="0">
                <a:solidFill>
                  <a:srgbClr val="2A7F77"/>
                </a:solidFill>
                <a:latin typeface="Cambria" pitchFamily="34" charset="0"/>
                <a:ea typeface="Cambria" pitchFamily="34" charset="-122"/>
                <a:cs typeface="Cambria" pitchFamily="34" charset="-120"/>
              </a:rPr>
              <a:t>NetworkX</a:t>
            </a:r>
            <a:endParaRPr lang="en-US" sz="2400" dirty="0"/>
          </a:p>
          <a:p>
            <a:pPr indent="0" marL="0">
              <a:buNone/>
            </a:pPr>
            <a:r>
              <a:rPr lang="en-US" sz="2400" b="1" dirty="0">
                <a:solidFill>
                  <a:srgbClr val="2A7F77"/>
                </a:solidFill>
                <a:latin typeface="Cambria" pitchFamily="34" charset="0"/>
                <a:ea typeface="Cambria" pitchFamily="34" charset="-122"/>
                <a:cs typeface="Cambria" pitchFamily="34" charset="-120"/>
              </a:rPr>
              <a:t>MultiDiGraph</a:t>
            </a:r>
            <a:endParaRPr lang="en-US" sz="2400" dirty="0"/>
          </a:p>
        </p:txBody>
      </p:sp>
      <p:sp>
        <p:nvSpPr>
          <p:cNvPr id="26" name="Text 23"/>
          <p:cNvSpPr txBox="1"/>
          <p:nvPr/>
        </p:nvSpPr>
        <p:spPr>
          <a:xfrm>
            <a:off x="8412480" y="2606040"/>
            <a:ext cx="320040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Parallel edges: one role can act on one task in several ways.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AI talks. The matrix decides.</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sessions/ecstatic-vibrant-goodall/mnt/damaiagent/chapters_ready/figures/fig4_grounding.png">    </p:cNvPr>
          <p:cNvPicPr>
            <a:picLocks noChangeAspect="1"/>
          </p:cNvPicPr>
          <p:nvPr/>
        </p:nvPicPr>
        <p:blipFill>
          <a:blip r:embed="rId1"/>
          <a:stretch>
            <a:fillRect/>
          </a:stretch>
        </p:blipFill>
        <p:spPr>
          <a:xfrm>
            <a:off x="731520" y="1325880"/>
            <a:ext cx="3931920" cy="4398264"/>
          </a:xfrm>
          <a:prstGeom prst="rect">
            <a:avLst/>
          </a:prstGeom>
        </p:spPr>
      </p:pic>
      <p:sp>
        <p:nvSpPr>
          <p:cNvPr id="16" name="num-1"/>
          <p:cNvSpPr/>
          <p:nvPr/>
        </p:nvSpPr>
        <p:spPr>
          <a:xfrm>
            <a:off x="4754880" y="1417320"/>
            <a:ext cx="457200" cy="457200"/>
          </a:xfrm>
          <a:prstGeom prst="ellipse">
            <a:avLst/>
          </a:prstGeom>
          <a:solidFill>
            <a:srgbClr val="2A7F77"/>
          </a:solidFill>
          <a:ln w="12700">
            <a:solidFill>
              <a:srgbClr val="2A7F77"/>
            </a:solidFill>
            <a:prstDash val="solid"/>
          </a:ln>
        </p:spPr>
      </p:sp>
      <p:sp>
        <p:nvSpPr>
          <p:cNvPr id="17" name="Text 14"/>
          <p:cNvSpPr txBox="1"/>
          <p:nvPr/>
        </p:nvSpPr>
        <p:spPr>
          <a:xfrm>
            <a:off x="475488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5"/>
          <p:cNvSpPr txBox="1"/>
          <p:nvPr/>
        </p:nvSpPr>
        <p:spPr>
          <a:xfrm>
            <a:off x="5440680" y="137160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Facts come from the graph</a:t>
            </a:r>
            <a:endParaRPr lang="en-US" sz="2000" dirty="0"/>
          </a:p>
        </p:txBody>
      </p:sp>
      <p:sp>
        <p:nvSpPr>
          <p:cNvPr id="19" name="Text 16"/>
          <p:cNvSpPr txBox="1"/>
          <p:nvPr/>
        </p:nvSpPr>
        <p:spPr>
          <a:xfrm>
            <a:off x="5440680" y="178308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 LLM never sees the whole document, only the retrieved node.</a:t>
            </a:r>
            <a:endParaRPr lang="en-US" sz="1500" dirty="0"/>
          </a:p>
        </p:txBody>
      </p:sp>
      <p:sp>
        <p:nvSpPr>
          <p:cNvPr id="20" name="num-2"/>
          <p:cNvSpPr/>
          <p:nvPr/>
        </p:nvSpPr>
        <p:spPr>
          <a:xfrm>
            <a:off x="4754880" y="2514600"/>
            <a:ext cx="457200" cy="457200"/>
          </a:xfrm>
          <a:prstGeom prst="ellipse">
            <a:avLst/>
          </a:prstGeom>
          <a:solidFill>
            <a:srgbClr val="2A7F77"/>
          </a:solidFill>
          <a:ln w="12700">
            <a:solidFill>
              <a:srgbClr val="2A7F77"/>
            </a:solidFill>
            <a:prstDash val="solid"/>
          </a:ln>
        </p:spPr>
      </p:sp>
      <p:sp>
        <p:nvSpPr>
          <p:cNvPr id="21" name="Text 18"/>
          <p:cNvSpPr txBox="1"/>
          <p:nvPr/>
        </p:nvSpPr>
        <p:spPr>
          <a:xfrm>
            <a:off x="4754880" y="2514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2" name="Text 19"/>
          <p:cNvSpPr txBox="1"/>
          <p:nvPr/>
        </p:nvSpPr>
        <p:spPr>
          <a:xfrm>
            <a:off x="5440680" y="246888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Strict prompt, low temperature</a:t>
            </a:r>
            <a:endParaRPr lang="en-US" sz="2000" dirty="0"/>
          </a:p>
        </p:txBody>
      </p:sp>
      <p:sp>
        <p:nvSpPr>
          <p:cNvPr id="23" name="Text 20"/>
          <p:cNvSpPr txBox="1"/>
          <p:nvPr/>
        </p:nvSpPr>
        <p:spPr>
          <a:xfrm>
            <a:off x="5440680" y="288036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It may rephrase. It may not add a role.</a:t>
            </a:r>
            <a:endParaRPr lang="en-US" sz="1500" dirty="0"/>
          </a:p>
        </p:txBody>
      </p:sp>
      <p:sp>
        <p:nvSpPr>
          <p:cNvPr id="24" name="num-3"/>
          <p:cNvSpPr/>
          <p:nvPr/>
        </p:nvSpPr>
        <p:spPr>
          <a:xfrm>
            <a:off x="4754880" y="3611880"/>
            <a:ext cx="457200" cy="457200"/>
          </a:xfrm>
          <a:prstGeom prst="ellipse">
            <a:avLst/>
          </a:prstGeom>
          <a:solidFill>
            <a:srgbClr val="2A7F77"/>
          </a:solidFill>
          <a:ln w="12700">
            <a:solidFill>
              <a:srgbClr val="2A7F77"/>
            </a:solidFill>
            <a:prstDash val="solid"/>
          </a:ln>
        </p:spPr>
      </p:sp>
      <p:sp>
        <p:nvSpPr>
          <p:cNvPr id="25" name="Text 22"/>
          <p:cNvSpPr txBox="1"/>
          <p:nvPr/>
        </p:nvSpPr>
        <p:spPr>
          <a:xfrm>
            <a:off x="4754880" y="3611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6" name="Text 23"/>
          <p:cNvSpPr txBox="1"/>
          <p:nvPr/>
        </p:nvSpPr>
        <p:spPr>
          <a:xfrm>
            <a:off x="5440680" y="356616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Grounding check</a:t>
            </a:r>
            <a:endParaRPr lang="en-US" sz="2000" dirty="0"/>
          </a:p>
        </p:txBody>
      </p:sp>
      <p:sp>
        <p:nvSpPr>
          <p:cNvPr id="27" name="Text 24"/>
          <p:cNvSpPr txBox="1"/>
          <p:nvPr/>
        </p:nvSpPr>
        <p:spPr>
          <a:xfrm>
            <a:off x="5440680" y="397764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If an expected role is missing from the answer, we discard it.</a:t>
            </a:r>
            <a:endParaRPr lang="en-US" sz="1500" dirty="0"/>
          </a:p>
        </p:txBody>
      </p:sp>
      <p:sp>
        <p:nvSpPr>
          <p:cNvPr id="28" name="num-4"/>
          <p:cNvSpPr/>
          <p:nvPr/>
        </p:nvSpPr>
        <p:spPr>
          <a:xfrm>
            <a:off x="4754880" y="4709160"/>
            <a:ext cx="457200" cy="457200"/>
          </a:xfrm>
          <a:prstGeom prst="ellipse">
            <a:avLst/>
          </a:prstGeom>
          <a:solidFill>
            <a:srgbClr val="2A7F77"/>
          </a:solidFill>
          <a:ln w="12700">
            <a:solidFill>
              <a:srgbClr val="2A7F77"/>
            </a:solidFill>
            <a:prstDash val="solid"/>
          </a:ln>
        </p:spPr>
      </p:sp>
      <p:sp>
        <p:nvSpPr>
          <p:cNvPr id="29" name="Text 26"/>
          <p:cNvSpPr txBox="1"/>
          <p:nvPr/>
        </p:nvSpPr>
        <p:spPr>
          <a:xfrm>
            <a:off x="4754880" y="4709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30" name="Text 27"/>
          <p:cNvSpPr txBox="1"/>
          <p:nvPr/>
        </p:nvSpPr>
        <p:spPr>
          <a:xfrm>
            <a:off x="5440680" y="466344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Deterministic fallback</a:t>
            </a:r>
            <a:endParaRPr lang="en-US" sz="2000" dirty="0"/>
          </a:p>
        </p:txBody>
      </p:sp>
      <p:sp>
        <p:nvSpPr>
          <p:cNvPr id="31" name="Text 28"/>
          <p:cNvSpPr txBox="1"/>
          <p:nvPr/>
        </p:nvSpPr>
        <p:spPr>
          <a:xfrm>
            <a:off x="5440680" y="507492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Groq, Ollama or no LLM at all: the answer is always available.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See it work: ask like a human</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video-placeholder"/>
          <p:cNvSpPr/>
          <p:nvPr/>
        </p:nvSpPr>
        <p:spPr>
          <a:xfrm>
            <a:off x="548640" y="1417320"/>
            <a:ext cx="6949440" cy="4114800"/>
          </a:xfrm>
          <a:prstGeom prst="roundRect">
            <a:avLst>
              <a:gd name="adj" fmla="val 2222"/>
            </a:avLst>
          </a:prstGeom>
          <a:solidFill>
            <a:srgbClr val="0F3B36"/>
          </a:solidFill>
          <a:ln w="25400">
            <a:solidFill>
              <a:srgbClr val="E8A33D"/>
            </a:solidFill>
            <a:prstDash val="dash"/>
          </a:ln>
        </p:spPr>
      </p:sp>
      <p:sp>
        <p:nvSpPr>
          <p:cNvPr id="16" name="Shape 14"/>
          <p:cNvSpPr/>
          <p:nvPr/>
        </p:nvSpPr>
        <p:spPr>
          <a:xfrm>
            <a:off x="3566160" y="2880360"/>
            <a:ext cx="914400" cy="914400"/>
          </a:xfrm>
          <a:prstGeom prst="ellipse">
            <a:avLst/>
          </a:prstGeom>
          <a:solidFill>
            <a:srgbClr val="E8A33D"/>
          </a:solidFill>
          <a:ln w="12700">
            <a:solidFill>
              <a:srgbClr val="E8A33D"/>
            </a:solidFill>
            <a:prstDash val="solid"/>
          </a:ln>
        </p:spPr>
      </p:sp>
      <p:pic>
        <p:nvPicPr>
          <p:cNvPr id="17" name="Image 0" descr="preencoded.png">    </p:cNvPr>
          <p:cNvPicPr>
            <a:picLocks noChangeAspect="1"/>
          </p:cNvPicPr>
          <p:nvPr/>
        </p:nvPicPr>
        <p:blipFill>
          <a:blip r:embed="rId1"/>
          <a:stretch>
            <a:fillRect/>
          </a:stretch>
        </p:blipFill>
        <p:spPr>
          <a:xfrm>
            <a:off x="3840480" y="3108960"/>
            <a:ext cx="365760" cy="365760"/>
          </a:xfrm>
          <a:prstGeom prst="rect">
            <a:avLst/>
          </a:prstGeom>
        </p:spPr>
      </p:pic>
      <p:sp>
        <p:nvSpPr>
          <p:cNvPr id="18" name="Text 15"/>
          <p:cNvSpPr txBox="1"/>
          <p:nvPr/>
        </p:nvSpPr>
        <p:spPr>
          <a:xfrm>
            <a:off x="548640" y="3977640"/>
            <a:ext cx="69494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DEMO 1: the core agent</a:t>
            </a:r>
            <a:endParaRPr lang="en-US" sz="1600" dirty="0"/>
          </a:p>
        </p:txBody>
      </p:sp>
      <p:sp>
        <p:nvSpPr>
          <p:cNvPr id="19" name="Text 16"/>
          <p:cNvSpPr txBox="1"/>
          <p:nvPr/>
        </p:nvSpPr>
        <p:spPr>
          <a:xfrm>
            <a:off x="548640" y="4343400"/>
            <a:ext cx="6949440" cy="274320"/>
          </a:xfrm>
          <a:prstGeom prst="rect">
            <a:avLst/>
          </a:prstGeom>
          <a:noFill/>
          <a:ln/>
        </p:spPr>
        <p:txBody>
          <a:bodyPr wrap="square" lIns="0" tIns="0" rIns="0" bIns="0" rtlCol="0" anchor="ctr"/>
          <a:lstStyle/>
          <a:p>
            <a:pPr algn="ctr" indent="0" marL="0">
              <a:buNone/>
            </a:pPr>
            <a:r>
              <a:rPr lang="en-US" sz="1200" dirty="0">
                <a:solidFill>
                  <a:srgbClr val="9DC3BD"/>
                </a:solidFill>
                <a:latin typeface="Calibri" pitchFamily="34" charset="0"/>
                <a:ea typeface="Calibri" pitchFamily="34" charset="-122"/>
                <a:cs typeface="Calibri" pitchFamily="34" charset="-120"/>
              </a:rPr>
              <a:t>Insert screen recording here · 0:50</a:t>
            </a:r>
            <a:endParaRPr lang="en-US" sz="1200" dirty="0"/>
          </a:p>
        </p:txBody>
      </p:sp>
      <p:sp>
        <p:nvSpPr>
          <p:cNvPr id="20" name="Text 17"/>
          <p:cNvSpPr txBox="1"/>
          <p:nvPr/>
        </p:nvSpPr>
        <p:spPr>
          <a:xfrm>
            <a:off x="8046720" y="1463040"/>
            <a:ext cx="365760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In this clip</a:t>
            </a:r>
            <a:endParaRPr lang="en-US" sz="1400" dirty="0"/>
          </a:p>
        </p:txBody>
      </p:sp>
      <p:sp>
        <p:nvSpPr>
          <p:cNvPr id="21" name="Text 18"/>
          <p:cNvSpPr txBox="1"/>
          <p:nvPr/>
        </p:nvSpPr>
        <p:spPr>
          <a:xfrm>
            <a:off x="8046720" y="1920240"/>
            <a:ext cx="365760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"who approves 2.126"</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Same answer from a plain description</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Typos? Still right</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French question, French answer</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"what happens with 9.999.999": honest refusal</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Built for a team, not just a demo</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8A33D"/>
          </a:solidFill>
          <a:ln w="12700">
            <a:solidFill>
              <a:srgbClr val="E8A33D"/>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Deployment</a:t>
            </a:r>
            <a:endParaRPr lang="en-US" sz="900" dirty="0"/>
          </a:p>
        </p:txBody>
      </p:sp>
      <p:sp>
        <p:nvSpPr>
          <p:cNvPr id="15" name="video-placeholder"/>
          <p:cNvSpPr/>
          <p:nvPr/>
        </p:nvSpPr>
        <p:spPr>
          <a:xfrm>
            <a:off x="548640" y="1417320"/>
            <a:ext cx="6949440" cy="4114800"/>
          </a:xfrm>
          <a:prstGeom prst="roundRect">
            <a:avLst>
              <a:gd name="adj" fmla="val 2222"/>
            </a:avLst>
          </a:prstGeom>
          <a:solidFill>
            <a:srgbClr val="0F3B36"/>
          </a:solidFill>
          <a:ln w="25400">
            <a:solidFill>
              <a:srgbClr val="E8A33D"/>
            </a:solidFill>
            <a:prstDash val="dash"/>
          </a:ln>
        </p:spPr>
      </p:sp>
      <p:sp>
        <p:nvSpPr>
          <p:cNvPr id="16" name="Shape 14"/>
          <p:cNvSpPr/>
          <p:nvPr/>
        </p:nvSpPr>
        <p:spPr>
          <a:xfrm>
            <a:off x="3566160" y="2880360"/>
            <a:ext cx="914400" cy="914400"/>
          </a:xfrm>
          <a:prstGeom prst="ellipse">
            <a:avLst/>
          </a:prstGeom>
          <a:solidFill>
            <a:srgbClr val="E8A33D"/>
          </a:solidFill>
          <a:ln w="12700">
            <a:solidFill>
              <a:srgbClr val="E8A33D"/>
            </a:solidFill>
            <a:prstDash val="solid"/>
          </a:ln>
        </p:spPr>
      </p:sp>
      <p:pic>
        <p:nvPicPr>
          <p:cNvPr id="17" name="Image 0" descr="preencoded.png">    </p:cNvPr>
          <p:cNvPicPr>
            <a:picLocks noChangeAspect="1"/>
          </p:cNvPicPr>
          <p:nvPr/>
        </p:nvPicPr>
        <p:blipFill>
          <a:blip r:embed="rId1"/>
          <a:stretch>
            <a:fillRect/>
          </a:stretch>
        </p:blipFill>
        <p:spPr>
          <a:xfrm>
            <a:off x="3840480" y="3108960"/>
            <a:ext cx="365760" cy="365760"/>
          </a:xfrm>
          <a:prstGeom prst="rect">
            <a:avLst/>
          </a:prstGeom>
        </p:spPr>
      </p:pic>
      <p:sp>
        <p:nvSpPr>
          <p:cNvPr id="18" name="Text 15"/>
          <p:cNvSpPr txBox="1"/>
          <p:nvPr/>
        </p:nvSpPr>
        <p:spPr>
          <a:xfrm>
            <a:off x="548640" y="3977640"/>
            <a:ext cx="69494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DEMO 2: the platform</a:t>
            </a:r>
            <a:endParaRPr lang="en-US" sz="1600" dirty="0"/>
          </a:p>
        </p:txBody>
      </p:sp>
      <p:sp>
        <p:nvSpPr>
          <p:cNvPr id="19" name="Text 16"/>
          <p:cNvSpPr txBox="1"/>
          <p:nvPr/>
        </p:nvSpPr>
        <p:spPr>
          <a:xfrm>
            <a:off x="548640" y="4343400"/>
            <a:ext cx="6949440" cy="274320"/>
          </a:xfrm>
          <a:prstGeom prst="rect">
            <a:avLst/>
          </a:prstGeom>
          <a:noFill/>
          <a:ln/>
        </p:spPr>
        <p:txBody>
          <a:bodyPr wrap="square" lIns="0" tIns="0" rIns="0" bIns="0" rtlCol="0" anchor="ctr"/>
          <a:lstStyle/>
          <a:p>
            <a:pPr algn="ctr" indent="0" marL="0">
              <a:buNone/>
            </a:pPr>
            <a:r>
              <a:rPr lang="en-US" sz="1200" dirty="0">
                <a:solidFill>
                  <a:srgbClr val="9DC3BD"/>
                </a:solidFill>
                <a:latin typeface="Calibri" pitchFamily="34" charset="0"/>
                <a:ea typeface="Calibri" pitchFamily="34" charset="-122"/>
                <a:cs typeface="Calibri" pitchFamily="34" charset="-120"/>
              </a:rPr>
              <a:t>Insert screen recording here · 0:50</a:t>
            </a:r>
            <a:endParaRPr lang="en-US" sz="1200" dirty="0"/>
          </a:p>
        </p:txBody>
      </p:sp>
      <p:sp>
        <p:nvSpPr>
          <p:cNvPr id="20" name="Text 17"/>
          <p:cNvSpPr txBox="1"/>
          <p:nvPr/>
        </p:nvSpPr>
        <p:spPr>
          <a:xfrm>
            <a:off x="8046720" y="1463040"/>
            <a:ext cx="365760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In this clip</a:t>
            </a:r>
            <a:endParaRPr lang="en-US" sz="1400" dirty="0"/>
          </a:p>
        </p:txBody>
      </p:sp>
      <p:sp>
        <p:nvSpPr>
          <p:cNvPr id="21" name="Text 18"/>
          <p:cNvSpPr txBox="1"/>
          <p:nvPr/>
        </p:nvSpPr>
        <p:spPr>
          <a:xfrm>
            <a:off x="8046720" y="1920240"/>
            <a:ext cx="365760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Sign in, history saved per user</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Share a conversation by QR code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Voice question, spoken answer</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Upload a document and ask about it</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KPI dashboard by chapter</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Tested, broken, fixed, tested again</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8A33D"/>
          </a:solidFill>
          <a:ln w="12700">
            <a:solidFill>
              <a:srgbClr val="E8A33D"/>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08760"/>
            <a:ext cx="2560320" cy="1463040"/>
          </a:xfrm>
          <a:prstGeom prst="roundRect">
            <a:avLst>
              <a:gd name="adj" fmla="val 5000"/>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16" name="Text 14"/>
          <p:cNvSpPr txBox="1"/>
          <p:nvPr/>
        </p:nvSpPr>
        <p:spPr>
          <a:xfrm>
            <a:off x="731520" y="1645920"/>
            <a:ext cx="219456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137</a:t>
            </a:r>
            <a:endParaRPr lang="en-US" sz="4000" dirty="0"/>
          </a:p>
        </p:txBody>
      </p:sp>
      <p:sp>
        <p:nvSpPr>
          <p:cNvPr id="17" name="Text 15"/>
          <p:cNvSpPr txBox="1"/>
          <p:nvPr/>
        </p:nvSpPr>
        <p:spPr>
          <a:xfrm>
            <a:off x="731520" y="2377440"/>
            <a:ext cx="219456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automated tests, parser to API</a:t>
            </a:r>
            <a:endParaRPr lang="en-US" sz="1400" dirty="0"/>
          </a:p>
        </p:txBody>
      </p:sp>
      <p:sp>
        <p:nvSpPr>
          <p:cNvPr id="18" name="card"/>
          <p:cNvSpPr/>
          <p:nvPr/>
        </p:nvSpPr>
        <p:spPr>
          <a:xfrm>
            <a:off x="548640" y="3154680"/>
            <a:ext cx="2560320" cy="2697480"/>
          </a:xfrm>
          <a:prstGeom prst="roundRect">
            <a:avLst>
              <a:gd name="adj" fmla="val 2857"/>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19" name="Text 17"/>
          <p:cNvSpPr txBox="1"/>
          <p:nvPr/>
        </p:nvSpPr>
        <p:spPr>
          <a:xfrm>
            <a:off x="731520" y="3291840"/>
            <a:ext cx="2194560" cy="822960"/>
          </a:xfrm>
          <a:prstGeom prst="rect">
            <a:avLst/>
          </a:prstGeom>
          <a:noFill/>
          <a:ln/>
        </p:spPr>
        <p:txBody>
          <a:bodyPr wrap="square" lIns="0" tIns="0" rIns="0" bIns="0" rtlCol="0" anchor="t"/>
          <a:lstStyle/>
          <a:p>
            <a:pPr indent="0" marL="0">
              <a:buNone/>
            </a:pPr>
            <a:r>
              <a:rPr lang="en-US" sz="1400" b="1" dirty="0">
                <a:solidFill>
                  <a:srgbClr val="0F3B36"/>
                </a:solidFill>
                <a:latin typeface="Calibri" pitchFamily="34" charset="0"/>
                <a:ea typeface="Calibri" pitchFamily="34" charset="-122"/>
                <a:cs typeface="Calibri" pitchFamily="34" charset="-120"/>
              </a:rPr>
              <a:t>Real bugs, found by testing real questions</a:t>
            </a:r>
            <a:endParaRPr lang="en-US" sz="1400" dirty="0"/>
          </a:p>
        </p:txBody>
      </p:sp>
      <p:sp>
        <p:nvSpPr>
          <p:cNvPr id="20" name="Text 18"/>
          <p:cNvSpPr txBox="1"/>
          <p:nvPr/>
        </p:nvSpPr>
        <p:spPr>
          <a:xfrm>
            <a:off x="731520" y="4297680"/>
            <a:ext cx="2194560"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Not hidden. Each one became a regression test.</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383280" y="1508760"/>
          <a:ext cx="8229600" cy="914400"/>
        </p:xfrm>
        <a:graphic>
          <a:graphicData uri="http://schemas.openxmlformats.org/drawingml/2006/table">
            <a:tbl>
              <a:tblPr/>
              <a:tblGrid>
                <a:gridCol w="4206240"/>
                <a:gridCol w="402336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Bug found</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0F3B3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0F3B36"/>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Invalid code matched an unrelated task</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Explicit invalid-id outcome</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Note parser stripped digits before hyphens</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Pattern corrected, references followed</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Action questions swallowed by follow-up logic</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Intent checked before context carry-over</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LLM answers rejected too often</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Grounding check tuned, fallback kept</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Free hosting ran out of memory</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Nodes cached at build time</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bl>
          </a:graphicData>
        </a:graphic>
      </p:graphicFrame>
      <p:sp>
        <p:nvSpPr>
          <p:cNvPr id="22" name="Text 19"/>
          <p:cNvSpPr txBox="1"/>
          <p:nvPr/>
        </p:nvSpPr>
        <p:spPr>
          <a:xfrm>
            <a:off x="3383280" y="4937760"/>
            <a:ext cx="8229600" cy="457200"/>
          </a:xfrm>
          <a:prstGeom prst="rect">
            <a:avLst/>
          </a:prstGeom>
          <a:noFill/>
          <a:ln/>
        </p:spPr>
        <p:txBody>
          <a:bodyPr wrap="square" lIns="0" tIns="0" rIns="0" bIns="0" rtlCol="0" anchor="t"/>
          <a:lstStyle/>
          <a:p>
            <a:pPr indent="0" marL="0">
              <a:buNone/>
            </a:pPr>
            <a:r>
              <a:rPr lang="en-US" sz="1600" i="1" dirty="0">
                <a:solidFill>
                  <a:srgbClr val="C8553D"/>
                </a:solidFill>
                <a:latin typeface="Cambria" pitchFamily="34" charset="0"/>
                <a:ea typeface="Cambria" pitchFamily="34" charset="-122"/>
                <a:cs typeface="Cambria" pitchFamily="34" charset="-120"/>
              </a:rPr>
              <a:t>Next: a benchmark of gold questions to put a precision figure on the agent.</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Shipped: secure, containerised, live</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8A33D"/>
          </a:solidFill>
          <a:ln w="12700">
            <a:solidFill>
              <a:srgbClr val="E8A33D"/>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08760"/>
            <a:ext cx="5394960" cy="1965960"/>
          </a:xfrm>
          <a:prstGeom prst="roundRect">
            <a:avLst>
              <a:gd name="adj" fmla="val 372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16" name="Image 0" descr="preencoded.png">    </p:cNvPr>
          <p:cNvPicPr>
            <a:picLocks noChangeAspect="1"/>
          </p:cNvPicPr>
          <p:nvPr/>
        </p:nvPicPr>
        <p:blipFill>
          <a:blip r:embed="rId1"/>
          <a:stretch>
            <a:fillRect/>
          </a:stretch>
        </p:blipFill>
        <p:spPr>
          <a:xfrm>
            <a:off x="822960" y="1783080"/>
            <a:ext cx="457200" cy="457200"/>
          </a:xfrm>
          <a:prstGeom prst="rect">
            <a:avLst/>
          </a:prstGeom>
        </p:spPr>
      </p:pic>
      <p:sp>
        <p:nvSpPr>
          <p:cNvPr id="17" name="Text 14"/>
          <p:cNvSpPr txBox="1"/>
          <p:nvPr/>
        </p:nvSpPr>
        <p:spPr>
          <a:xfrm>
            <a:off x="1463040" y="176479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Docker</a:t>
            </a:r>
            <a:endParaRPr lang="en-US" sz="2200" dirty="0"/>
          </a:p>
        </p:txBody>
      </p:sp>
      <p:sp>
        <p:nvSpPr>
          <p:cNvPr id="18" name="Text 15"/>
          <p:cNvSpPr txBox="1"/>
          <p:nvPr/>
        </p:nvSpPr>
        <p:spPr>
          <a:xfrm>
            <a:off x="1463040" y="233172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One command runs app, frontend and local LLM.</a:t>
            </a:r>
            <a:endParaRPr lang="en-US" sz="1500" dirty="0"/>
          </a:p>
        </p:txBody>
      </p:sp>
      <p:sp>
        <p:nvSpPr>
          <p:cNvPr id="19" name="card"/>
          <p:cNvSpPr/>
          <p:nvPr/>
        </p:nvSpPr>
        <p:spPr>
          <a:xfrm>
            <a:off x="6172200" y="1508760"/>
            <a:ext cx="5394960" cy="1965960"/>
          </a:xfrm>
          <a:prstGeom prst="roundRect">
            <a:avLst>
              <a:gd name="adj" fmla="val 3721"/>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20" name="Image 1" descr="preencoded.png">    </p:cNvPr>
          <p:cNvPicPr>
            <a:picLocks noChangeAspect="1"/>
          </p:cNvPicPr>
          <p:nvPr/>
        </p:nvPicPr>
        <p:blipFill>
          <a:blip r:embed="rId2"/>
          <a:stretch>
            <a:fillRect/>
          </a:stretch>
        </p:blipFill>
        <p:spPr>
          <a:xfrm>
            <a:off x="6446520" y="1783080"/>
            <a:ext cx="457200" cy="457200"/>
          </a:xfrm>
          <a:prstGeom prst="rect">
            <a:avLst/>
          </a:prstGeom>
        </p:spPr>
      </p:pic>
      <p:sp>
        <p:nvSpPr>
          <p:cNvPr id="21" name="Text 17"/>
          <p:cNvSpPr txBox="1"/>
          <p:nvPr/>
        </p:nvSpPr>
        <p:spPr>
          <a:xfrm>
            <a:off x="7086600" y="176479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Cloud hosted</a:t>
            </a:r>
            <a:endParaRPr lang="en-US" sz="2200" dirty="0"/>
          </a:p>
        </p:txBody>
      </p:sp>
      <p:sp>
        <p:nvSpPr>
          <p:cNvPr id="22" name="Text 18"/>
          <p:cNvSpPr txBox="1"/>
          <p:nvPr/>
        </p:nvSpPr>
        <p:spPr>
          <a:xfrm>
            <a:off x="7086600" y="233172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FastAPI + React, Postgres on Neon, files on S3-compatible storage.</a:t>
            </a:r>
            <a:endParaRPr lang="en-US" sz="1500" dirty="0"/>
          </a:p>
        </p:txBody>
      </p:sp>
      <p:sp>
        <p:nvSpPr>
          <p:cNvPr id="23" name="card"/>
          <p:cNvSpPr/>
          <p:nvPr/>
        </p:nvSpPr>
        <p:spPr>
          <a:xfrm>
            <a:off x="548640" y="3703320"/>
            <a:ext cx="5394960" cy="1965960"/>
          </a:xfrm>
          <a:prstGeom prst="roundRect">
            <a:avLst>
              <a:gd name="adj" fmla="val 3721"/>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24" name="Image 2" descr="preencoded.png">    </p:cNvPr>
          <p:cNvPicPr>
            <a:picLocks noChangeAspect="1"/>
          </p:cNvPicPr>
          <p:nvPr/>
        </p:nvPicPr>
        <p:blipFill>
          <a:blip r:embed="rId3"/>
          <a:stretch>
            <a:fillRect/>
          </a:stretch>
        </p:blipFill>
        <p:spPr>
          <a:xfrm>
            <a:off x="822960" y="3977640"/>
            <a:ext cx="457200" cy="457200"/>
          </a:xfrm>
          <a:prstGeom prst="rect">
            <a:avLst/>
          </a:prstGeom>
        </p:spPr>
      </p:pic>
      <p:sp>
        <p:nvSpPr>
          <p:cNvPr id="25" name="Text 20"/>
          <p:cNvSpPr txBox="1"/>
          <p:nvPr/>
        </p:nvSpPr>
        <p:spPr>
          <a:xfrm>
            <a:off x="1463040" y="395935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Secure by design</a:t>
            </a:r>
            <a:endParaRPr lang="en-US" sz="2200" dirty="0"/>
          </a:p>
        </p:txBody>
      </p:sp>
      <p:sp>
        <p:nvSpPr>
          <p:cNvPr id="26" name="Text 21"/>
          <p:cNvSpPr txBox="1"/>
          <p:nvPr/>
        </p:nvSpPr>
        <p:spPr>
          <a:xfrm>
            <a:off x="1463040" y="452628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bcrypt, JWT, rate-limited login, admin-only routes, Google and Microsoft sign-in.</a:t>
            </a:r>
            <a:endParaRPr lang="en-US" sz="1500" dirty="0"/>
          </a:p>
        </p:txBody>
      </p:sp>
      <p:sp>
        <p:nvSpPr>
          <p:cNvPr id="27" name="card"/>
          <p:cNvSpPr/>
          <p:nvPr/>
        </p:nvSpPr>
        <p:spPr>
          <a:xfrm>
            <a:off x="6172200" y="3703320"/>
            <a:ext cx="5394960" cy="1965960"/>
          </a:xfrm>
          <a:prstGeom prst="roundRect">
            <a:avLst>
              <a:gd name="adj" fmla="val 372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28" name="Image 3" descr="preencoded.png">    </p:cNvPr>
          <p:cNvPicPr>
            <a:picLocks noChangeAspect="1"/>
          </p:cNvPicPr>
          <p:nvPr/>
        </p:nvPicPr>
        <p:blipFill>
          <a:blip r:embed="rId4"/>
          <a:stretch>
            <a:fillRect/>
          </a:stretch>
        </p:blipFill>
        <p:spPr>
          <a:xfrm>
            <a:off x="6446520" y="3977640"/>
            <a:ext cx="457200" cy="457200"/>
          </a:xfrm>
          <a:prstGeom prst="rect">
            <a:avLst/>
          </a:prstGeom>
        </p:spPr>
      </p:pic>
      <p:sp>
        <p:nvSpPr>
          <p:cNvPr id="29" name="Text 23"/>
          <p:cNvSpPr txBox="1"/>
          <p:nvPr/>
        </p:nvSpPr>
        <p:spPr>
          <a:xfrm>
            <a:off x="7086600" y="395935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Multilingual UI</a:t>
            </a:r>
            <a:endParaRPr lang="en-US" sz="2200" dirty="0"/>
          </a:p>
        </p:txBody>
      </p:sp>
      <p:sp>
        <p:nvSpPr>
          <p:cNvPr id="30" name="Text 24"/>
          <p:cNvSpPr txBox="1"/>
          <p:nvPr/>
        </p:nvSpPr>
        <p:spPr>
          <a:xfrm>
            <a:off x="7086600" y="452628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The interface switches to the language you type in.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822960"/>
            <a:ext cx="7315200" cy="365760"/>
          </a:xfrm>
          <a:prstGeom prst="rect">
            <a:avLst/>
          </a:prstGeom>
          <a:noFill/>
          <a:ln/>
        </p:spPr>
        <p:txBody>
          <a:bodyPr wrap="square" lIns="0" tIns="0" rIns="0" bIns="0" rtlCol="0" anchor="t"/>
          <a:lstStyle/>
          <a:p>
            <a:pPr indent="0" marL="0">
              <a:buNone/>
            </a:pPr>
            <a:r>
              <a:rPr lang="en-US" sz="1400" b="1" spc="400" kern="0" dirty="0">
                <a:solidFill>
                  <a:srgbClr val="E8A33D"/>
                </a:solidFill>
                <a:latin typeface="Calibri" pitchFamily="34" charset="0"/>
                <a:ea typeface="Calibri" pitchFamily="34" charset="-122"/>
                <a:cs typeface="Calibri" pitchFamily="34" charset="-120"/>
              </a:rPr>
              <a:t>What the Bank gets</a:t>
            </a:r>
            <a:endParaRPr lang="en-US" sz="1400" dirty="0"/>
          </a:p>
        </p:txBody>
      </p:sp>
      <p:sp>
        <p:nvSpPr>
          <p:cNvPr id="3" name="Text 1"/>
          <p:cNvSpPr txBox="1"/>
          <p:nvPr/>
        </p:nvSpPr>
        <p:spPr>
          <a:xfrm>
            <a:off x="731520" y="1371600"/>
            <a:ext cx="10515600" cy="18288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Seconds instead of minutes.</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Sources instead of guesses.</a:t>
            </a:r>
            <a:endParaRPr lang="en-US" sz="4000" dirty="0"/>
          </a:p>
        </p:txBody>
      </p:sp>
      <p:sp>
        <p:nvSpPr>
          <p:cNvPr id="4" name="card"/>
          <p:cNvSpPr/>
          <p:nvPr/>
        </p:nvSpPr>
        <p:spPr>
          <a:xfrm>
            <a:off x="7315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5" name="Text 3"/>
          <p:cNvSpPr txBox="1"/>
          <p:nvPr/>
        </p:nvSpPr>
        <p:spPr>
          <a:xfrm>
            <a:off x="9601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Now</a:t>
            </a:r>
            <a:endParaRPr lang="en-US" sz="2000" dirty="0"/>
          </a:p>
        </p:txBody>
      </p:sp>
      <p:sp>
        <p:nvSpPr>
          <p:cNvPr id="6" name="Text 4"/>
          <p:cNvSpPr txBox="1"/>
          <p:nvPr/>
        </p:nvSpPr>
        <p:spPr>
          <a:xfrm>
            <a:off x="9601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Live product, 137 tests, four languages</a:t>
            </a:r>
            <a:endParaRPr lang="en-US" sz="1500" dirty="0"/>
          </a:p>
        </p:txBody>
      </p:sp>
      <p:sp>
        <p:nvSpPr>
          <p:cNvPr id="7" name="card"/>
          <p:cNvSpPr/>
          <p:nvPr/>
        </p:nvSpPr>
        <p:spPr>
          <a:xfrm>
            <a:off x="43891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8" name="Text 6"/>
          <p:cNvSpPr txBox="1"/>
          <p:nvPr/>
        </p:nvSpPr>
        <p:spPr>
          <a:xfrm>
            <a:off x="46177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Next</a:t>
            </a:r>
            <a:endParaRPr lang="en-US" sz="2000" dirty="0"/>
          </a:p>
        </p:txBody>
      </p:sp>
      <p:sp>
        <p:nvSpPr>
          <p:cNvPr id="9" name="Text 7"/>
          <p:cNvSpPr txBox="1"/>
          <p:nvPr/>
        </p:nvSpPr>
        <p:spPr>
          <a:xfrm>
            <a:off x="46177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Gold-question benchmark, stronger grounding check</a:t>
            </a:r>
            <a:endParaRPr lang="en-US" sz="1500" dirty="0"/>
          </a:p>
        </p:txBody>
      </p:sp>
      <p:sp>
        <p:nvSpPr>
          <p:cNvPr id="10" name="card"/>
          <p:cNvSpPr/>
          <p:nvPr/>
        </p:nvSpPr>
        <p:spPr>
          <a:xfrm>
            <a:off x="80467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11" name="Text 9"/>
          <p:cNvSpPr txBox="1"/>
          <p:nvPr/>
        </p:nvSpPr>
        <p:spPr>
          <a:xfrm>
            <a:off x="82753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Later</a:t>
            </a:r>
            <a:endParaRPr lang="en-US" sz="2000" dirty="0"/>
          </a:p>
        </p:txBody>
      </p:sp>
      <p:sp>
        <p:nvSpPr>
          <p:cNvPr id="12" name="Text 10"/>
          <p:cNvSpPr txBox="1"/>
          <p:nvPr/>
        </p:nvSpPr>
        <p:spPr>
          <a:xfrm>
            <a:off x="82753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Other Bank matrices, Redis for scale</a:t>
            </a:r>
            <a:endParaRPr lang="en-US" sz="1500" dirty="0"/>
          </a:p>
        </p:txBody>
      </p:sp>
      <p:sp>
        <p:nvSpPr>
          <p:cNvPr id="13" name="Text 11"/>
          <p:cNvSpPr txBox="1"/>
          <p:nvPr/>
        </p:nvSpPr>
        <p:spPr>
          <a:xfrm>
            <a:off x="731520" y="5760720"/>
            <a:ext cx="7315200" cy="457200"/>
          </a:xfrm>
          <a:prstGeom prst="rect">
            <a:avLst/>
          </a:prstGeom>
          <a:noFill/>
          <a:ln/>
        </p:spPr>
        <p:txBody>
          <a:bodyPr wrap="square" lIns="0" tIns="0" rIns="0" bIns="0" rtlCol="0" anchor="t"/>
          <a:lstStyle/>
          <a:p>
            <a:pPr indent="0" marL="0">
              <a:buNone/>
            </a:pPr>
            <a:r>
              <a:rPr lang="en-US" sz="2200" dirty="0">
                <a:solidFill>
                  <a:srgbClr val="9DC3BD"/>
                </a:solidFill>
                <a:latin typeface="Cambria" pitchFamily="34" charset="0"/>
                <a:ea typeface="Cambria" pitchFamily="34" charset="-122"/>
                <a:cs typeface="Cambria" pitchFamily="34" charset="-120"/>
              </a:rPr>
              <a:t>Thank you.  Questions?</a:t>
            </a:r>
            <a:endParaRPr lang="en-US" sz="2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DAM AI Agent: technical defense</dc:title>
  <dc:subject>PptxGenJS Presentation</dc:subject>
  <dc:creator>Adem Mrabet</dc:creator>
  <cp:lastModifiedBy>Adem Mrabet</cp:lastModifiedBy>
  <cp:revision>1</cp:revision>
  <dcterms:created xsi:type="dcterms:W3CDTF">2026-10-18T13:26:49Z</dcterms:created>
  <dcterms:modified xsi:type="dcterms:W3CDTF">2026-10-18T13:26:49Z</dcterms:modified>
</cp:coreProperties>
</file>