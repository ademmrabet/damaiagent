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66a912e5-656a-0173-cbc5-d4040f0c2257}">
          <p14:sldIdLst>
            <p14:sldId id="256"/>
            <p14:sldId id="257"/>
            <p14:sldId id="258"/>
            <p14:sldId id="259"/>
          </p14:sldIdLst>
        </p14:section>
        <p14:section name="Data pipeline" id="{4fdf5819-1aa8-dfb4-1d53-0acfb02f364c}">
          <p14:sldIdLst>
            <p14:sldId id="260"/>
            <p14:sldId id="261"/>
            <p14:sldId id="262"/>
            <p14:sldId id="263"/>
          </p14:sldIdLst>
        </p14:section>
        <p14:section name="Intelligence" id="{b3527334-f7bd-bb65-2b2b-65dcd63617ba}">
          <p14:sldIdLst>
            <p14:sldId id="264"/>
            <p14:sldId id="265"/>
            <p14:sldId id="266"/>
            <p14:sldId id="267"/>
            <p14:sldId id="268"/>
            <p14:sldId id="269"/>
            <p14:sldId id="270"/>
          </p14:sldIdLst>
        </p14:section>
        <p14:section name="Platform" id="{65820d6a-82aa-c6b6-fb69-34db0bd67714}">
          <p14:sldIdLst>
            <p14:sldId id="271"/>
            <p14:sldId id="272"/>
            <p14:sldId id="273"/>
          </p14:sldIdLst>
        </p14:section>
        <p14:section name="Quality" id="{e3b8e40b-a9b5-bf2d-1973-3a0d7c1484d5}">
          <p14:sldIdLst>
            <p14:sldId id="274"/>
            <p14:sldId id="275"/>
            <p14:sldId id="276"/>
          </p14:sldIdLst>
        </p14:section>
        <p14:section name="Defense Q&amp;A" id="{2205f1e1-b0fb-9d63-64e6-91f8d82e1aa2}">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3B36"/>
                </a:solidFill>
                <a:latin typeface="+mn-lt"/>
              </a:defRPr>
            </a:pPr>
            <a:r>
              <a:rPr sz="1600" b="0" i="0" u="none" strike="noStrike">
                <a:solidFill>
                  <a:srgbClr val="0F3B36"/>
                </a:solidFill>
                <a:latin typeface="+mn-lt"/>
              </a:rPr>
              <a:t>Responsibilities by action code (top 8)</a:t>
            </a:r>
          </a:p>
        </c:rich>
      </c:tx>
      <c:layout/>
      <c:overlay val="0"/>
    </c:title>
    <c:autoTitleDeleted val="0"/>
    <c:plotArea>
      <c:layout/>
      <c:barChart>
        <c:barDir val="col"/>
        <c:grouping val="clustered"/>
        <c:varyColors val="0"/>
        <c:ser>
          <c:idx val="0"/>
          <c:order val="0"/>
          <c:tx>
            <c:strRef>
              <c:f>Sheet1!$B$1</c:f>
              <c:strCache>
                <c:ptCount val="1"/>
                <c:pt idx="0">
                  <c:v>Responsibilities</c:v>
                </c:pt>
              </c:strCache>
            </c:strRef>
          </c:tx>
          <c:spPr>
            <a:solidFill>
              <a:srgbClr val="2A7F77"/>
            </a:solidFill>
            <a:effectLst/>
          </c:spPr>
          <c:invertIfNegative val="0"/>
          <c:dLbls>
            <c:numFmt formatCode="#,##0" sourceLinked="0"/>
            <c:txPr>
              <a:bodyPr/>
              <a:lstStyle/>
              <a:p>
                <a:pPr>
                  <a:defRPr b="0" i="0" strike="noStrike" sz="1200" u="none">
                    <a:solidFill>
                      <a:srgbClr val="1B2A28"/>
                    </a:solidFill>
                    <a:latin typeface="+mn-lt"/>
                  </a:defRPr>
                </a:pPr>
              </a:p>
            </c:txPr>
            <c:showLegendKey val="0"/>
            <c:showVal val="1"/>
            <c:showCatName val="0"/>
            <c:showSerName val="0"/>
            <c:showPercent val="0"/>
            <c:showBubbleSize val="0"/>
            <c:showLeaderLines val="0"/>
          </c:dLbls>
          <c:cat>
            <c:multiLvlStrRef>
              <c:f>Sheet1!$A$2:$A$9</c:f>
              <c:multiLvlStrCache>
                <c:ptCount val="8"/>
                <c:lvl>
                  <c:pt idx="0">
                    <c:v>( i )</c:v>
                  </c:pt>
                  <c:pt idx="1">
                    <c:v>I</c:v>
                  </c:pt>
                  <c:pt idx="2">
                    <c:v>C</c:v>
                  </c:pt>
                  <c:pt idx="3">
                    <c:v>A</c:v>
                  </c:pt>
                  <c:pt idx="4">
                    <c:v>R</c:v>
                  </c:pt>
                  <c:pt idx="5">
                    <c:v>R2</c:v>
                  </c:pt>
                  <c:pt idx="6">
                    <c:v>R1</c:v>
                  </c:pt>
                  <c:pt idx="7">
                    <c:v>A2</c:v>
                  </c:pt>
                </c:lvl>
              </c:multiLvlStrCache>
            </c:multiLvlStrRef>
          </c:cat>
          <c:val>
            <c:numRef>
              <c:f>Sheet1!$B$2:$B$9</c:f>
              <c:numCache>
                <c:formatCode>General</c:formatCode>
                <c:ptCount val="8"/>
                <c:pt idx="0">
                  <c:v>847</c:v>
                </c:pt>
                <c:pt idx="1">
                  <c:v>224</c:v>
                </c:pt>
                <c:pt idx="2">
                  <c:v>203</c:v>
                </c:pt>
                <c:pt idx="3">
                  <c:v>164</c:v>
                </c:pt>
                <c:pt idx="4">
                  <c:v>154</c:v>
                </c:pt>
                <c:pt idx="5">
                  <c:v>56</c:v>
                </c:pt>
                <c:pt idx="6">
                  <c:v>38</c:v>
                </c:pt>
                <c:pt idx="7">
                  <c:v>35</c:v>
                </c:pt>
              </c:numCache>
            </c:numRef>
          </c:val>
        </c:ser>
        <c:dLbls>
          <c:numFmt formatCode="#,##0" sourceLinked="0"/>
          <c:txPr>
            <a:bodyPr/>
            <a:lstStyle/>
            <a:p>
              <a:pPr>
                <a:defRPr b="0" i="0" strike="noStrike" sz="1200" u="none">
                  <a:solidFill>
                    <a:srgbClr val="1B2A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7F1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3B36"/>
                </a:solidFill>
                <a:latin typeface="+mn-lt"/>
              </a:defRPr>
            </a:pPr>
            <a:r>
              <a:rPr sz="1600" b="0" i="0" u="none" strike="noStrike">
                <a:solidFill>
                  <a:srgbClr val="0F3B36"/>
                </a:solidFill>
                <a:latin typeface="+mn-lt"/>
              </a:rPr>
              <a:t>Test functions per area (largest 8 of 37 files)</a:t>
            </a:r>
          </a:p>
        </c:rich>
      </c:tx>
      <c:layout/>
      <c:overlay val="0"/>
    </c:title>
    <c:autoTitleDeleted val="0"/>
    <c:plotArea>
      <c:layout/>
      <c:barChart>
        <c:barDir val="bar"/>
        <c:grouping val="clustered"/>
        <c:varyColors val="0"/>
        <c:ser>
          <c:idx val="0"/>
          <c:order val="0"/>
          <c:tx>
            <c:strRef>
              <c:f>Sheet1!$B$1</c:f>
              <c:strCache>
                <c:ptCount val="1"/>
                <c:pt idx="0">
                  <c:v>Test functions</c:v>
                </c:pt>
              </c:strCache>
            </c:strRef>
          </c:tx>
          <c:spPr>
            <a:solidFill>
              <a:srgbClr val="2A7F77"/>
            </a:solidFill>
            <a:effectLst/>
          </c:spPr>
          <c:invertIfNegative val="0"/>
          <c:dLbls>
            <c:numFmt formatCode="#,##0" sourceLinked="0"/>
            <c:txPr>
              <a:bodyPr/>
              <a:lstStyle/>
              <a:p>
                <a:pPr>
                  <a:defRPr b="0" i="0" strike="noStrike" sz="1200" u="none">
                    <a:solidFill>
                      <a:srgbClr val="1B2A28"/>
                    </a:solidFill>
                    <a:latin typeface="+mn-lt"/>
                  </a:defRPr>
                </a:pPr>
              </a:p>
            </c:txPr>
            <c:showLegendKey val="0"/>
            <c:showVal val="1"/>
            <c:showCatName val="0"/>
            <c:showSerName val="0"/>
            <c:showPercent val="0"/>
            <c:showBubbleSize val="0"/>
            <c:showLeaderLines val="0"/>
          </c:dLbls>
          <c:cat>
            <c:multiLvlStrRef>
              <c:f>Sheet1!$A$2:$A$9</c:f>
              <c:multiLvlStrCache>
                <c:ptCount val="8"/>
                <c:lvl>
                  <c:pt idx="0">
                    <c:v>agent</c:v>
                  </c:pt>
                  <c:pt idx="1">
                    <c:v>backend</c:v>
                  </c:pt>
                  <c:pt idx="2">
                    <c:v>conversations</c:v>
                  </c:pt>
                  <c:pt idx="3">
                    <c:v>generate</c:v>
                  </c:pt>
                  <c:pt idx="4">
                    <c:v>llm</c:v>
                  </c:pt>
                  <c:pt idx="5">
                    <c:v>glossary</c:v>
                  </c:pt>
                  <c:pt idx="6">
                    <c:v>attachments</c:v>
                  </c:pt>
                  <c:pt idx="7">
                    <c:v>frontend src</c:v>
                  </c:pt>
                </c:lvl>
              </c:multiLvlStrCache>
            </c:multiLvlStrRef>
          </c:cat>
          <c:val>
            <c:numRef>
              <c:f>Sheet1!$B$2:$B$9</c:f>
              <c:numCache>
                <c:formatCode>General</c:formatCode>
                <c:ptCount val="8"/>
                <c:pt idx="0">
                  <c:v>33</c:v>
                </c:pt>
                <c:pt idx="1">
                  <c:v>31</c:v>
                </c:pt>
                <c:pt idx="2">
                  <c:v>27</c:v>
                </c:pt>
                <c:pt idx="3">
                  <c:v>25</c:v>
                </c:pt>
                <c:pt idx="4">
                  <c:v>19</c:v>
                </c:pt>
                <c:pt idx="5">
                  <c:v>16</c:v>
                </c:pt>
                <c:pt idx="6">
                  <c:v>16</c:v>
                </c:pt>
                <c:pt idx="7">
                  <c:v>16</c:v>
                </c:pt>
              </c:numCache>
            </c:numRef>
          </c:val>
        </c:ser>
        <c:dLbls>
          <c:numFmt formatCode="#,##0" sourceLinked="0"/>
          <c:txPr>
            <a:bodyPr/>
            <a:lstStyle/>
            <a:p>
              <a:pPr>
                <a:defRPr b="0" i="0" strike="noStrike" sz="1200" u="none">
                  <a:solidFill>
                    <a:srgbClr val="1B2A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28"/>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7F1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pitch: a question-answering agent for a governance matrix where a wrong answer looks legitimate, so the design makes the LLM unable to invent facts. This deck follows the code in the order a request flows through it, then ends with limitations and the hardest questions the jury is likely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DAM answer tells an employee who may approve a transaction. An approval beyond someone's delegated authority can look entirely legitimate, so hallucination is a governance failure, not an annoyance. That is why I rejected textbook RAG. The professor asked for RAG and a hybrid local/API LLM, so I kept both but moved the LLM to the end of the pipeline: retrieval was already correct and deterministic. If challenged: 'This is still retrieval-augmented generation, the retrieval just doesn't need an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The build lane runs once: PDF to typed nodes to a JSON cache. The request lane runs per question and only the fifth box touches an LLM. The cache exists for a deployment reason: on the free hosting tier, re-parsing the PDF at boot ran out of memory, so parsed nodes are committed as data/processed/nodes.json and loaded at startup. If challenged on 'is the cache stale?': it is rebuilt by scripts/build_nodes_cache.py whenever the PDF or parser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straight from data/processed/nodes.json and the built graph (459 vertices = 327 DAM nodes + 132 role labels). Action codes: I initiate, C check/verify, R review/recommend, A approve, ( i ) informed. The informed marker dominates because most tasks notify several parties. The 0.56% is 10 responsibilities whose role column could not be resolved; I report them instead of guessing a role. 131 distinct roles in the thesis counts real roles only; the graph adds one 'unresolved' placeholder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library the defensible answer has three parts: what it does here, why it beats the alternative for THIS data, and what I gave up. The data is tiny (327 nodes, short titles) and immutable, which is why a graph database and neural embeddings were overkill. pdfplumber was the enabling choice: the hardest parsing problem, separating a level digit from a footnote digit, can only be solved with per-character geometry. If asked about LangChain/LlamaIndex: I make exactly one kind of call (system + user to a chat endpoint), so a 40-line provider interface is easier to test and explain than a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technical problem in the project and the reason for pdfplumber. In the matrix, an action cell like A1 carries a superscript level and a superscript footnote number, both in a font smaller than the letter. Text tools can't tell them apart. I compared two real cases at character level: the level digit shares the letter's bottom edge, footnote digits share its top edge. Thresholds (8.0, 2.0, 8.0 points) were measured on this document. Honest limit: they are tuned to this PDF; a different layout would need re-measuring, which is why every case lives in tests/fixtures/known_cases.py.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is the contract between the parser and everything downstream. The one-entry-per-role-and-action rule is a deliberate modelling choice: with a combined entry, a single level number can't say which action it belongs to. Reference data (the legend of codes, footnotes) is stored once. If asked 'why not dataclasses?': Pydantic gives validation and computed fields (actions, has_children) and FastAPI already depends on it, so there is no extra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459 vertices: 327 DAM nodes and 132 role nodes. MultiDiGraph because one role can hold several actions on the same task, which needs parallel edges between the same pair. Both founding questions of the project reduce to one in_edges lookup. References that point to sections outside the 79-page export (chapter 16, for example) are skipped at graph build and reported, then handled in the agent with a truthful 'governed elsewhere' answer instead of a dead end. If asked 'why not Neo4j?': 459 immutable vertices fit in memory; a database server would add deployment risk for zero query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resolve_query in knowledge/search.py is the single entry point. The method field it returns (id, invalid_id, text_search) travels all the way to the UI so the user can see how the answer was found. The invalid_id branch came from a real bug: asking about a code that didn't exist returned a confident answer about an unrelated task because of shared words. suggest_ids_near is deliberately a simple, explainable nearest-neighbour on dotted-prefix depth, not anything statistical.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decision made with evidence, not fashion. I tried sentence-transformers first; PyTorch did not finish installing in the sandbox. I then presented both options with trade-offs and chose TF-IDF for reliability and portability. Training my own embedding model was ruled out outright: 327 titles and no labeled pairs would overfit. Say plainly that TF-IDF is lexical, not semantic: the method field is always returned precisely so the system never overstates 'understanding'. Next step if the jury pushes: a cross-encoder or embedding reranker on the top 5 TF-IDF candidates, evaluated on a labeled question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real failures were measured before building: 'aproves' lost the approve intent and dumped every responsibility, 'qaurterly mision' scored near zero in TF-IDF because misspellings are just out-of-vocabulary tokens, and greetings/glossary triggers missed typos. correct_words in knowledge/typo_correct.py fixes this using only the stdlib. The conservatism is the point: a missed correction is harmless, a wrong correction silently changes the question. Intent correction never touches the action-code matching rules, so it can't reopen the carefully fixed C versus C1/C2 versus C3/C4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answer_question in agent/qa.py. The order is cheapest and most certain first: pattern-matched small talk and glossary never reach retrieval. Context carry-over exists because follow-ups like 'and who checks it?' have no id; it only triggers when the query has no digit and the fresh match is weak, so an explicit id or a strong match always wins. This came from a real misfire (2.118 versus 3.226). The guards encode the 'honest failure over guessing' principle: below the confidence thresholds the agent asks a clarifying question with candidate ids. The returned dict carries the evidence so the UI can show 'matched by id' or 'confidence 0.62'.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agent/generate.py. The prompt has six rules, but a prompt is only a hope, so the code verifies: _mentions_expected_facts requires every role name the model was asked to preserve to appear in its output, modulo whitespace, case and slash spacing. On any failure the deterministic answer, which was validated against real DAM screenshots, is shown instead. Be upfront about the limit the jury may find: this checks that expected roles are PRESENT; it does not detect an extra role, wrong level or altered footnote. The prompt forbids them and temperature is 0.2, but a negative check is the next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professor asked for Ollama plus an API. The interface is five lines, which is why I did not need a framework. Auto originally preferred local; on 2026-08-06 I reversed it to prefer Groq (stronger model, nothing to install) and only fall back to Ollama when no key is configured. A real production incident validated the env-var model name: Groq deprecated llama-3.3-70b-versatile and the deployed app got 404s; the fix was a configurable model and graceful fallback so users still got deterministic answers during the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retrieval logic is built around the DAM's English vocabulary; rebuilding it per language was unrealistic. So non-English questions are translated to English BEFORE answer_question, and the final answer is phrased in the target language. looks_non_english is a cheap deterministic gate so plain English traffic never pays for extra LLM round trips. Honest limit: it is a heuristic word-list gate, so an unaccented Spanish or Portuguese question with none of the listed function words could be treated as English; the cost of a false positive is one wasted, self-correcting call, the cost of a false negative is an English answer. Static interface strings are a hand-written dictionary, not LLM-translated, so they are stable and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backend.py is 781 lines but thin: the /api/ask handler is orchestration (translate, answer, humanize, tone) and delegates all logic to tested modules. The split between in-memory knowledge and a real database is deliberate: the DAM is read-only and loaded once, accounts and conversations must survive restarts. SQLite is only the local fallback; production uses Postgres because the free host has no persistent disk. The JSON 500 handler came from a real bug where an unhandled exception returned HTML and the frontend crashed parsing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webauth.py documents these choices against the thesis chapter. The generic login failure message means the endpoint can't be used to check which emails have accounts. Rate limiting is per IP in memory. Be ready to concede: behind a reverse proxy the client IP may be the proxy's, and an in-memory dict resets on restart and doesn't span instances. The token is kept in sessionStorage, which is readable by injected script (XSS); the alternative is an httpOnly cookie, which then needs CSRF protection. I chose a bearer header for a stateless API on a single small service, with an 8-hour expiry to bound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only says 'refetch', it never carries data, so a lost event is harmless: the poll (30 s in useConversations.js) self-heals. I chose Server-Sent Events over WebSockets because the traffic is one-directional server to client and SSE needs no extra protocol or library. Frontend tests are source-level plus live verification; Vitest is configured but no component tests exist yet. That is a stated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is bug-driven: the parsing tests use real cells from the matrix (2.126, 3.225/3.226, 2.223.2). Counts are from grepping test functions; pytest collects 492 cases because some are parametrised. The honest gaps: no component tests for the React code, and, more importantly for a data-science jury, no benchmark that measures retrieval accuracy over labeled questions. The exact claim I can make is 'behaviour is pinned by tests', not 'accuracy is measured'. Proposed fix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process rigor: bugs surfaced from real screenshots and live use, not synthetic cases. docs/decisions.md is a dated log of every decision (3,500 lines), which is also evidence for the report. If the jury probes one, each row maps to a dated entry: title misattribution and fused digits are 2026-07-21, invalid_id is 2026-08-06, the Groq 404 is 2026-09-03, the grounding-fallback reduction is 2026-09-19.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these first is a deliberate defense tactic: a jury that finds a weakness you already stated treats it as engineering judgment, not an oversight. The most important one for a data-science audience is the first: I can show behaviour is pinned by tests but I haven't measured retrieval accuracy on a labeled question set. That is also what the professor asked about earlier (concrete KPIs), so propose it as the immediate next step. The intent limitation is real in agent/authority.py: _match_intent returns the first INTENTS entry whose keyword is a substring of the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structure that works under pressure: concede the true part first, then show the design reason, then name the next step. Never claim accuracy you haven't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jury member opens the code, expect them to land on generate.py's _mentions_expected_facts or authority.py's _match_intent. You have a prepared concession and fix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questions are usually about trade-offs, not features. State the choice, the alternative, and the condition under which you would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in this order: it moves from precision to natural language to resilience to domain knowledge to honesty to multilingual. Warm up the hosted instance a minute before; free tiers sleep. Set the LLM picker to Auto so the template answer is available under 'Show structured (template) answer' as visible proof of the fallback. Close on the next steps: they are the same items the jury will otherwise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B3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DAM AI Agent · technical defense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3.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dge"/>
          <p:cNvSpPr/>
          <p:nvPr/>
        </p:nvSpPr>
        <p:spPr>
          <a:xfrm>
            <a:off x="9098280" y="1600200"/>
            <a:ext cx="1828800" cy="640080"/>
          </a:xfrm>
          <a:prstGeom prst="line">
            <a:avLst/>
          </a:prstGeom>
          <a:noFill/>
          <a:ln w="19050">
            <a:solidFill>
              <a:srgbClr val="9DC3BD"/>
            </a:solidFill>
            <a:prstDash val="solid"/>
          </a:ln>
        </p:spPr>
      </p:sp>
      <p:sp>
        <p:nvSpPr>
          <p:cNvPr id="3" name="edge"/>
          <p:cNvSpPr/>
          <p:nvPr/>
        </p:nvSpPr>
        <p:spPr>
          <a:xfrm>
            <a:off x="9098280" y="1600200"/>
            <a:ext cx="822960" cy="2103120"/>
          </a:xfrm>
          <a:prstGeom prst="line">
            <a:avLst/>
          </a:prstGeom>
          <a:noFill/>
          <a:ln w="19050">
            <a:solidFill>
              <a:srgbClr val="9DC3BD"/>
            </a:solidFill>
            <a:prstDash val="solid"/>
          </a:ln>
        </p:spPr>
      </p:sp>
      <p:sp>
        <p:nvSpPr>
          <p:cNvPr id="4" name="edge"/>
          <p:cNvSpPr/>
          <p:nvPr/>
        </p:nvSpPr>
        <p:spPr>
          <a:xfrm>
            <a:off x="10927080" y="2240280"/>
            <a:ext cx="502920" cy="2057400"/>
          </a:xfrm>
          <a:prstGeom prst="line">
            <a:avLst/>
          </a:prstGeom>
          <a:noFill/>
          <a:ln w="19050">
            <a:solidFill>
              <a:srgbClr val="9DC3BD"/>
            </a:solidFill>
            <a:prstDash val="solid"/>
          </a:ln>
        </p:spPr>
      </p:sp>
      <p:sp>
        <p:nvSpPr>
          <p:cNvPr id="5" name="edge"/>
          <p:cNvSpPr/>
          <p:nvPr/>
        </p:nvSpPr>
        <p:spPr>
          <a:xfrm>
            <a:off x="9921240" y="3703320"/>
            <a:ext cx="1508760" cy="594360"/>
          </a:xfrm>
          <a:prstGeom prst="line">
            <a:avLst/>
          </a:prstGeom>
          <a:noFill/>
          <a:ln w="19050">
            <a:solidFill>
              <a:srgbClr val="9DC3BD"/>
            </a:solidFill>
            <a:prstDash val="solid"/>
          </a:ln>
        </p:spPr>
      </p:sp>
      <p:sp>
        <p:nvSpPr>
          <p:cNvPr id="6" name="edge"/>
          <p:cNvSpPr/>
          <p:nvPr/>
        </p:nvSpPr>
        <p:spPr>
          <a:xfrm flipV="1">
            <a:off x="8755380" y="3703320"/>
            <a:ext cx="1165860" cy="1485900"/>
          </a:xfrm>
          <a:prstGeom prst="line">
            <a:avLst/>
          </a:prstGeom>
          <a:noFill/>
          <a:ln w="19050">
            <a:solidFill>
              <a:srgbClr val="9DC3BD"/>
            </a:solidFill>
            <a:prstDash val="solid"/>
          </a:ln>
        </p:spPr>
      </p:sp>
      <p:sp>
        <p:nvSpPr>
          <p:cNvPr id="7" name="edge"/>
          <p:cNvSpPr/>
          <p:nvPr/>
        </p:nvSpPr>
        <p:spPr>
          <a:xfrm>
            <a:off x="9921240" y="3703320"/>
            <a:ext cx="754380" cy="2034540"/>
          </a:xfrm>
          <a:prstGeom prst="line">
            <a:avLst/>
          </a:prstGeom>
          <a:noFill/>
          <a:ln w="19050">
            <a:solidFill>
              <a:srgbClr val="9DC3BD"/>
            </a:solidFill>
            <a:prstDash val="solid"/>
          </a:ln>
        </p:spPr>
      </p:sp>
      <p:sp>
        <p:nvSpPr>
          <p:cNvPr id="8" name="edge"/>
          <p:cNvSpPr/>
          <p:nvPr/>
        </p:nvSpPr>
        <p:spPr>
          <a:xfrm flipV="1">
            <a:off x="10675620" y="4297680"/>
            <a:ext cx="754380" cy="1440180"/>
          </a:xfrm>
          <a:prstGeom prst="line">
            <a:avLst/>
          </a:prstGeom>
          <a:noFill/>
          <a:ln w="19050">
            <a:solidFill>
              <a:srgbClr val="9DC3BD"/>
            </a:solidFill>
            <a:prstDash val="solid"/>
          </a:ln>
        </p:spPr>
      </p:sp>
      <p:sp>
        <p:nvSpPr>
          <p:cNvPr id="9" name="node-0"/>
          <p:cNvSpPr/>
          <p:nvPr/>
        </p:nvSpPr>
        <p:spPr>
          <a:xfrm>
            <a:off x="8778240" y="1280160"/>
            <a:ext cx="640080" cy="640080"/>
          </a:xfrm>
          <a:prstGeom prst="ellipse">
            <a:avLst/>
          </a:prstGeom>
          <a:solidFill>
            <a:srgbClr val="E8A33D"/>
          </a:solidFill>
          <a:ln w="12700">
            <a:solidFill>
              <a:srgbClr val="E8A33D"/>
            </a:solidFill>
            <a:prstDash val="solid"/>
          </a:ln>
        </p:spPr>
      </p:sp>
      <p:sp>
        <p:nvSpPr>
          <p:cNvPr id="10" name="node-1"/>
          <p:cNvSpPr/>
          <p:nvPr/>
        </p:nvSpPr>
        <p:spPr>
          <a:xfrm>
            <a:off x="10698480" y="2011680"/>
            <a:ext cx="457200" cy="457200"/>
          </a:xfrm>
          <a:prstGeom prst="ellipse">
            <a:avLst/>
          </a:prstGeom>
          <a:solidFill>
            <a:srgbClr val="9DC3BD"/>
          </a:solidFill>
          <a:ln w="12700">
            <a:solidFill>
              <a:srgbClr val="9DC3BD"/>
            </a:solidFill>
            <a:prstDash val="solid"/>
          </a:ln>
        </p:spPr>
      </p:sp>
      <p:sp>
        <p:nvSpPr>
          <p:cNvPr id="11" name="node-2"/>
          <p:cNvSpPr/>
          <p:nvPr/>
        </p:nvSpPr>
        <p:spPr>
          <a:xfrm>
            <a:off x="9509760" y="3291840"/>
            <a:ext cx="822960" cy="822960"/>
          </a:xfrm>
          <a:prstGeom prst="ellipse">
            <a:avLst/>
          </a:prstGeom>
          <a:solidFill>
            <a:srgbClr val="2A7F77"/>
          </a:solidFill>
          <a:ln w="12700">
            <a:solidFill>
              <a:srgbClr val="2A7F77"/>
            </a:solidFill>
            <a:prstDash val="solid"/>
          </a:ln>
        </p:spPr>
      </p:sp>
      <p:sp>
        <p:nvSpPr>
          <p:cNvPr id="12" name="node-3"/>
          <p:cNvSpPr/>
          <p:nvPr/>
        </p:nvSpPr>
        <p:spPr>
          <a:xfrm>
            <a:off x="11155680" y="4023360"/>
            <a:ext cx="548640" cy="548640"/>
          </a:xfrm>
          <a:prstGeom prst="ellipse">
            <a:avLst/>
          </a:prstGeom>
          <a:solidFill>
            <a:srgbClr val="E8A33D"/>
          </a:solidFill>
          <a:ln w="12700">
            <a:solidFill>
              <a:srgbClr val="E8A33D"/>
            </a:solidFill>
            <a:prstDash val="solid"/>
          </a:ln>
        </p:spPr>
      </p:sp>
      <p:sp>
        <p:nvSpPr>
          <p:cNvPr id="13" name="node-4"/>
          <p:cNvSpPr/>
          <p:nvPr/>
        </p:nvSpPr>
        <p:spPr>
          <a:xfrm>
            <a:off x="8503920" y="4937760"/>
            <a:ext cx="502920" cy="502920"/>
          </a:xfrm>
          <a:prstGeom prst="ellipse">
            <a:avLst/>
          </a:prstGeom>
          <a:solidFill>
            <a:srgbClr val="9DC3BD"/>
          </a:solidFill>
          <a:ln w="12700">
            <a:solidFill>
              <a:srgbClr val="9DC3BD"/>
            </a:solidFill>
            <a:prstDash val="solid"/>
          </a:ln>
        </p:spPr>
      </p:sp>
      <p:sp>
        <p:nvSpPr>
          <p:cNvPr id="14" name="node-5"/>
          <p:cNvSpPr/>
          <p:nvPr/>
        </p:nvSpPr>
        <p:spPr>
          <a:xfrm>
            <a:off x="10332720" y="5394960"/>
            <a:ext cx="685800" cy="685800"/>
          </a:xfrm>
          <a:prstGeom prst="ellipse">
            <a:avLst/>
          </a:prstGeom>
          <a:solidFill>
            <a:srgbClr val="2A7F77"/>
          </a:solidFill>
          <a:ln w="12700">
            <a:solidFill>
              <a:srgbClr val="2A7F77"/>
            </a:solidFill>
            <a:prstDash val="solid"/>
          </a:ln>
        </p:spPr>
      </p:sp>
      <p:sp>
        <p:nvSpPr>
          <p:cNvPr id="15" name="Text 13"/>
          <p:cNvSpPr txBox="1"/>
          <p:nvPr/>
        </p:nvSpPr>
        <p:spPr>
          <a:xfrm>
            <a:off x="548640" y="1188720"/>
            <a:ext cx="7315200" cy="365760"/>
          </a:xfrm>
          <a:prstGeom prst="rect">
            <a:avLst/>
          </a:prstGeom>
          <a:noFill/>
          <a:ln/>
        </p:spPr>
        <p:txBody>
          <a:bodyPr wrap="square" lIns="0" tIns="0" rIns="0" bIns="0" rtlCol="0" anchor="t"/>
          <a:lstStyle/>
          <a:p>
            <a:pPr indent="0" marL="0">
              <a:buNone/>
            </a:pPr>
            <a:r>
              <a:rPr lang="en-US" sz="1400" b="1" spc="300" kern="0" dirty="0">
                <a:solidFill>
                  <a:schemeClr val="accent1"/>
                </a:solidFill>
                <a:latin typeface="Calibri" pitchFamily="34" charset="0"/>
                <a:ea typeface="Calibri" pitchFamily="34" charset="-122"/>
                <a:cs typeface="Calibri" pitchFamily="34" charset="-120"/>
              </a:rPr>
              <a:t>TECHNICAL DEFENSE  ·  OCTOBER 2026</a:t>
            </a:r>
            <a:endParaRPr lang="en-US" sz="1400" dirty="0"/>
          </a:p>
        </p:txBody>
      </p:sp>
      <p:sp>
        <p:nvSpPr>
          <p:cNvPr id="16" name="Text 14"/>
          <p:cNvSpPr txBox="1"/>
          <p:nvPr/>
        </p:nvSpPr>
        <p:spPr>
          <a:xfrm>
            <a:off x="548640" y="1737360"/>
            <a:ext cx="7680960" cy="2011680"/>
          </a:xfrm>
          <a:prstGeom prst="rect">
            <a:avLst/>
          </a:prstGeom>
          <a:noFill/>
          <a:ln/>
        </p:spPr>
        <p:txBody>
          <a:bodyPr wrap="square" lIns="0" tIns="0" rIns="0" bIns="0" rtlCol="0" anchor="t"/>
          <a:lstStyle/>
          <a:p>
            <a:pPr indent="0" marL="0">
              <a:buNone/>
            </a:pPr>
            <a:r>
              <a:rPr lang="en-US" sz="5000" b="1" dirty="0">
                <a:solidFill>
                  <a:schemeClr val="bg1"/>
                </a:solidFill>
                <a:latin typeface="Cambria" pitchFamily="34" charset="0"/>
                <a:ea typeface="Cambria" pitchFamily="34" charset="-122"/>
                <a:cs typeface="Cambria" pitchFamily="34" charset="-120"/>
              </a:rPr>
              <a:t>DAM AI Agent:</a:t>
            </a:r>
            <a:endParaRPr lang="en-US" sz="5000" dirty="0"/>
          </a:p>
          <a:p>
            <a:pPr indent="0" marL="0">
              <a:buNone/>
            </a:pPr>
            <a:r>
              <a:rPr lang="en-US" sz="5000" b="1" dirty="0">
                <a:solidFill>
                  <a:schemeClr val="bg1"/>
                </a:solidFill>
                <a:latin typeface="Cambria" pitchFamily="34" charset="0"/>
                <a:ea typeface="Cambria" pitchFamily="34" charset="-122"/>
                <a:cs typeface="Cambria" pitchFamily="34" charset="-120"/>
              </a:rPr>
              <a:t>defending the code</a:t>
            </a:r>
            <a:endParaRPr lang="en-US" sz="5000" dirty="0"/>
          </a:p>
        </p:txBody>
      </p:sp>
      <p:sp>
        <p:nvSpPr>
          <p:cNvPr id="17" name="Text 15"/>
          <p:cNvSpPr txBox="1"/>
          <p:nvPr/>
        </p:nvSpPr>
        <p:spPr>
          <a:xfrm>
            <a:off x="548640" y="3931920"/>
            <a:ext cx="7315200" cy="914400"/>
          </a:xfrm>
          <a:prstGeom prst="rect">
            <a:avLst/>
          </a:prstGeom>
          <a:noFill/>
          <a:ln/>
        </p:spPr>
        <p:txBody>
          <a:bodyPr wrap="square" lIns="0" tIns="0" rIns="0" bIns="0" rtlCol="0" anchor="t"/>
          <a:lstStyle/>
          <a:p>
            <a:pPr indent="0" marL="0">
              <a:buNone/>
            </a:pPr>
            <a:r>
              <a:rPr lang="en-US" sz="2000" dirty="0">
                <a:solidFill>
                  <a:schemeClr val="accent5"/>
                </a:solidFill>
                <a:latin typeface="Calibri" pitchFamily="34" charset="0"/>
                <a:ea typeface="Calibri" pitchFamily="34" charset="-122"/>
                <a:cs typeface="Calibri" pitchFamily="34" charset="-120"/>
              </a:rPr>
              <a:t>Verifiable grounded generation over the African Development Bank's Delegation of Authority Matrix</a:t>
            </a:r>
            <a:endParaRPr lang="en-US" sz="2000" dirty="0"/>
          </a:p>
        </p:txBody>
      </p:sp>
      <p:sp>
        <p:nvSpPr>
          <p:cNvPr id="18" name="Text 16"/>
          <p:cNvSpPr txBox="1"/>
          <p:nvPr/>
        </p:nvSpPr>
        <p:spPr>
          <a:xfrm>
            <a:off x="548640" y="5669280"/>
            <a:ext cx="7772400" cy="36576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Adem Mrabet  ·  Polytech Intl  ·  Hosted at the African Development Bank</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Why a plain LLM was never an option</a:t>
            </a:r>
            <a:endParaRPr lang="en-US" sz="3400" dirty="0"/>
          </a:p>
        </p:txBody>
      </p:sp>
      <p:sp>
        <p:nvSpPr>
          <p:cNvPr id="3" name="left-card"/>
          <p:cNvSpPr/>
          <p:nvPr/>
        </p:nvSpPr>
        <p:spPr>
          <a:xfrm>
            <a:off x="548640" y="1417320"/>
            <a:ext cx="5349240" cy="3337560"/>
          </a:xfrm>
          <a:prstGeom prst="roundRect">
            <a:avLst>
              <a:gd name="adj" fmla="val 2192"/>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868680" y="1645920"/>
            <a:ext cx="4709160" cy="36576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Textbook RAG</a:t>
            </a:r>
            <a:endParaRPr lang="en-US" sz="2200" dirty="0"/>
          </a:p>
        </p:txBody>
      </p:sp>
      <p:sp>
        <p:nvSpPr>
          <p:cNvPr id="5" name="Text 3"/>
          <p:cNvSpPr txBox="1"/>
          <p:nvPr/>
        </p:nvSpPr>
        <p:spPr>
          <a:xfrm>
            <a:off x="868680" y="2194560"/>
            <a:ext cx="4709160" cy="24688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Chunk the PDF, embed the chunks, retrieve the closest</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The LLM reasons freely over whatever came back</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Fluent answers, but nothing proves the facts are right</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Failure mode: a plausible, wrong approver</a:t>
            </a:r>
            <a:endParaRPr lang="en-US" sz="1800" dirty="0"/>
          </a:p>
        </p:txBody>
      </p:sp>
      <p:sp>
        <p:nvSpPr>
          <p:cNvPr id="6" name="right-card"/>
          <p:cNvSpPr/>
          <p:nvPr/>
        </p:nvSpPr>
        <p:spPr>
          <a:xfrm>
            <a:off x="6263640" y="1417320"/>
            <a:ext cx="5349240" cy="3337560"/>
          </a:xfrm>
          <a:prstGeom prst="roundRect">
            <a:avLst>
              <a:gd name="adj" fmla="val 2192"/>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sp>
        <p:nvSpPr>
          <p:cNvPr id="7" name="Text 5"/>
          <p:cNvSpPr txBox="1"/>
          <p:nvPr/>
        </p:nvSpPr>
        <p:spPr>
          <a:xfrm>
            <a:off x="6583680" y="1645920"/>
            <a:ext cx="4709160" cy="3657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This project</a:t>
            </a:r>
            <a:endParaRPr lang="en-US" sz="2200" dirty="0"/>
          </a:p>
        </p:txBody>
      </p:sp>
      <p:sp>
        <p:nvSpPr>
          <p:cNvPr id="8" name="Text 6"/>
          <p:cNvSpPr txBox="1"/>
          <p:nvPr/>
        </p:nvSpPr>
        <p:spPr>
          <a:xfrm>
            <a:off x="6583680" y="2194560"/>
            <a:ext cx="4709160" cy="24688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latin typeface="Calibri" pitchFamily="34" charset="0"/>
                <a:ea typeface="Calibri" pitchFamily="34" charset="-122"/>
                <a:cs typeface="Calibri" pitchFamily="34" charset="-120"/>
              </a:rPr>
              <a:t>Parse the matrix into a typed knowledge graph</a:t>
            </a:r>
            <a:endParaRPr lang="en-US" sz="1800" dirty="0"/>
          </a:p>
          <a:p>
            <a:pPr marL="342900" indent="-342900">
              <a:spcAft>
                <a:spcPts val="800"/>
              </a:spcAft>
              <a:buSzPct val="100000"/>
              <a:buChar char="•"/>
            </a:pPr>
            <a:r>
              <a:rPr lang="en-US" sz="1800" dirty="0">
                <a:solidFill>
                  <a:schemeClr val="bg1"/>
                </a:solidFill>
                <a:latin typeface="Calibri" pitchFamily="34" charset="0"/>
                <a:ea typeface="Calibri" pitchFamily="34" charset="-122"/>
                <a:cs typeface="Calibri" pitchFamily="34" charset="-120"/>
              </a:rPr>
              <a:t>Deterministic retrieval, validated on real PDF pages</a:t>
            </a:r>
            <a:endParaRPr lang="en-US" sz="1800" dirty="0"/>
          </a:p>
          <a:p>
            <a:pPr marL="342900" indent="-342900">
              <a:spcAft>
                <a:spcPts val="800"/>
              </a:spcAft>
              <a:buSzPct val="100000"/>
              <a:buChar char="•"/>
            </a:pPr>
            <a:r>
              <a:rPr lang="en-US" sz="1800" dirty="0">
                <a:solidFill>
                  <a:schemeClr val="bg1"/>
                </a:solidFill>
                <a:latin typeface="Calibri" pitchFamily="34" charset="0"/>
                <a:ea typeface="Calibri" pitchFamily="34" charset="-122"/>
                <a:cs typeface="Calibri" pitchFamily="34" charset="-120"/>
              </a:rPr>
              <a:t>The LLM only rephrases facts retrieval already found</a:t>
            </a:r>
            <a:endParaRPr lang="en-US" sz="1800" dirty="0"/>
          </a:p>
          <a:p>
            <a:pPr marL="342900" indent="-342900">
              <a:buSzPct val="100000"/>
              <a:buChar char="•"/>
            </a:pPr>
            <a:r>
              <a:rPr lang="en-US" sz="1800" dirty="0">
                <a:solidFill>
                  <a:schemeClr val="bg1"/>
                </a:solidFill>
                <a:latin typeface="Calibri" pitchFamily="34" charset="0"/>
                <a:ea typeface="Calibri" pitchFamily="34" charset="-122"/>
                <a:cs typeface="Calibri" pitchFamily="34" charset="-120"/>
              </a:rPr>
              <a:t>A verifier discards any rephrasing that loses a fact</a:t>
            </a:r>
            <a:endParaRPr lang="en-US" sz="1800" dirty="0"/>
          </a:p>
        </p:txBody>
      </p:sp>
      <p:sp>
        <p:nvSpPr>
          <p:cNvPr id="9" name="rule-banner"/>
          <p:cNvSpPr/>
          <p:nvPr/>
        </p:nvSpPr>
        <p:spPr>
          <a:xfrm>
            <a:off x="548640" y="5029200"/>
            <a:ext cx="11094415" cy="960120"/>
          </a:xfrm>
          <a:prstGeom prst="roundRect">
            <a:avLst>
              <a:gd name="adj" fmla="val 7619"/>
            </a:avLst>
          </a:prstGeom>
          <a:solidFill>
            <a:schemeClr val="accent6"/>
          </a:solidFill>
          <a:ln w="12700">
            <a:solidFill>
              <a:schemeClr val="accent6"/>
            </a:solidFill>
            <a:prstDash val="solid"/>
          </a:ln>
        </p:spPr>
      </p:sp>
      <p:sp>
        <p:nvSpPr>
          <p:cNvPr id="10" name="Text 8"/>
          <p:cNvSpPr txBox="1"/>
          <p:nvPr/>
        </p:nvSpPr>
        <p:spPr>
          <a:xfrm>
            <a:off x="914400" y="5029200"/>
            <a:ext cx="10362895" cy="9601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Design rule: </a:t>
            </a:r>
            <a:pPr indent="0" marL="0">
              <a:buNone/>
            </a:pPr>
            <a:r>
              <a:rPr lang="en-US" sz="2400" dirty="0">
                <a:solidFill>
                  <a:schemeClr val="tx2"/>
                </a:solidFill>
                <a:latin typeface="Cambria" pitchFamily="34" charset="0"/>
                <a:ea typeface="Cambria" pitchFamily="34" charset="-122"/>
                <a:cs typeface="Cambria" pitchFamily="34" charset="-120"/>
              </a:rPr>
              <a:t>the LLM may phrase the facts. It may never decide them.</a:t>
            </a:r>
            <a:endParaRPr lang="en-US" sz="2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Architecture: build once, answer fast</a:t>
            </a:r>
            <a:endParaRPr lang="en-US" sz="3400" dirty="0"/>
          </a:p>
        </p:txBody>
      </p:sp>
      <p:sp>
        <p:nvSpPr>
          <p:cNvPr id="3" name="Text 1"/>
          <p:cNvSpPr txBox="1"/>
          <p:nvPr/>
        </p:nvSpPr>
        <p:spPr>
          <a:xfrm>
            <a:off x="548640" y="1325880"/>
            <a:ext cx="5486400" cy="274320"/>
          </a:xfrm>
          <a:prstGeom prst="rect">
            <a:avLst/>
          </a:prstGeom>
          <a:noFill/>
          <a:ln/>
        </p:spPr>
        <p:txBody>
          <a:bodyPr wrap="square" lIns="0" tIns="0" rIns="0" bIns="0" rtlCol="0" anchor="t"/>
          <a:lstStyle/>
          <a:p>
            <a:pPr indent="0" marL="0">
              <a:buNone/>
            </a:pPr>
            <a:r>
              <a:rPr lang="en-US" sz="1200" b="1" spc="200" kern="0" dirty="0">
                <a:solidFill>
                  <a:schemeClr val="accent4"/>
                </a:solidFill>
                <a:latin typeface="Calibri" pitchFamily="34" charset="0"/>
                <a:ea typeface="Calibri" pitchFamily="34" charset="-122"/>
                <a:cs typeface="Calibri" pitchFamily="34" charset="-120"/>
              </a:rPr>
              <a:t>BUILD TIME  ·  offline, once</a:t>
            </a:r>
            <a:endParaRPr lang="en-US" sz="1200" dirty="0"/>
          </a:p>
        </p:txBody>
      </p:sp>
      <p:sp>
        <p:nvSpPr>
          <p:cNvPr id="4" name="laneA-0"/>
          <p:cNvSpPr/>
          <p:nvPr/>
        </p:nvSpPr>
        <p:spPr>
          <a:xfrm>
            <a:off x="548640" y="1691640"/>
            <a:ext cx="164592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5" name="Text 3"/>
          <p:cNvSpPr txBox="1"/>
          <p:nvPr/>
        </p:nvSpPr>
        <p:spPr>
          <a:xfrm>
            <a:off x="548640" y="1874520"/>
            <a:ext cx="164592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DAM PDF</a:t>
            </a:r>
            <a:endParaRPr lang="en-US" sz="1600" dirty="0"/>
          </a:p>
        </p:txBody>
      </p:sp>
      <p:sp>
        <p:nvSpPr>
          <p:cNvPr id="6" name="Text 4"/>
          <p:cNvSpPr txBox="1"/>
          <p:nvPr/>
        </p:nvSpPr>
        <p:spPr>
          <a:xfrm>
            <a:off x="548640" y="2258568"/>
            <a:ext cx="1645920" cy="36576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79 pages</a:t>
            </a:r>
            <a:endParaRPr lang="en-US" sz="1200" dirty="0"/>
          </a:p>
        </p:txBody>
      </p:sp>
      <p:sp>
        <p:nvSpPr>
          <p:cNvPr id="7" name="arrow"/>
          <p:cNvSpPr/>
          <p:nvPr/>
        </p:nvSpPr>
        <p:spPr>
          <a:xfrm>
            <a:off x="2212848" y="2217420"/>
            <a:ext cx="192024" cy="0"/>
          </a:xfrm>
          <a:prstGeom prst="line">
            <a:avLst/>
          </a:prstGeom>
          <a:noFill/>
          <a:ln w="25400">
            <a:solidFill>
              <a:schemeClr val="accent4"/>
            </a:solidFill>
            <a:prstDash val="solid"/>
            <a:tailEnd type="triangle"/>
          </a:ln>
        </p:spPr>
      </p:sp>
      <p:sp>
        <p:nvSpPr>
          <p:cNvPr id="8" name="laneA-1"/>
          <p:cNvSpPr/>
          <p:nvPr/>
        </p:nvSpPr>
        <p:spPr>
          <a:xfrm>
            <a:off x="2423160" y="1691640"/>
            <a:ext cx="164592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9" name="Text 7"/>
          <p:cNvSpPr txBox="1"/>
          <p:nvPr/>
        </p:nvSpPr>
        <p:spPr>
          <a:xfrm>
            <a:off x="2423160" y="1874520"/>
            <a:ext cx="164592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pdfplumber</a:t>
            </a:r>
            <a:endParaRPr lang="en-US" sz="1600" dirty="0"/>
          </a:p>
        </p:txBody>
      </p:sp>
      <p:sp>
        <p:nvSpPr>
          <p:cNvPr id="10" name="Text 8"/>
          <p:cNvSpPr txBox="1"/>
          <p:nvPr/>
        </p:nvSpPr>
        <p:spPr>
          <a:xfrm>
            <a:off x="2423160" y="2258568"/>
            <a:ext cx="1645920" cy="36576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rows → task blocks</a:t>
            </a:r>
            <a:endParaRPr lang="en-US" sz="1200" dirty="0"/>
          </a:p>
        </p:txBody>
      </p:sp>
      <p:sp>
        <p:nvSpPr>
          <p:cNvPr id="11" name="arrow"/>
          <p:cNvSpPr/>
          <p:nvPr/>
        </p:nvSpPr>
        <p:spPr>
          <a:xfrm>
            <a:off x="4087368" y="2217420"/>
            <a:ext cx="192024" cy="0"/>
          </a:xfrm>
          <a:prstGeom prst="line">
            <a:avLst/>
          </a:prstGeom>
          <a:noFill/>
          <a:ln w="25400">
            <a:solidFill>
              <a:schemeClr val="accent4"/>
            </a:solidFill>
            <a:prstDash val="solid"/>
            <a:tailEnd type="triangle"/>
          </a:ln>
        </p:spPr>
      </p:sp>
      <p:sp>
        <p:nvSpPr>
          <p:cNvPr id="12" name="laneA-2"/>
          <p:cNvSpPr/>
          <p:nvPr/>
        </p:nvSpPr>
        <p:spPr>
          <a:xfrm>
            <a:off x="4297680" y="1691640"/>
            <a:ext cx="164592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3" name="Text 11"/>
          <p:cNvSpPr txBox="1"/>
          <p:nvPr/>
        </p:nvSpPr>
        <p:spPr>
          <a:xfrm>
            <a:off x="4297680" y="1874520"/>
            <a:ext cx="164592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Node models</a:t>
            </a:r>
            <a:endParaRPr lang="en-US" sz="1600" dirty="0"/>
          </a:p>
        </p:txBody>
      </p:sp>
      <p:sp>
        <p:nvSpPr>
          <p:cNvPr id="14" name="Text 12"/>
          <p:cNvSpPr txBox="1"/>
          <p:nvPr/>
        </p:nvSpPr>
        <p:spPr>
          <a:xfrm>
            <a:off x="4297680" y="2258568"/>
            <a:ext cx="1645920" cy="36576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Pydantic, typed</a:t>
            </a:r>
            <a:endParaRPr lang="en-US" sz="1200" dirty="0"/>
          </a:p>
        </p:txBody>
      </p:sp>
      <p:sp>
        <p:nvSpPr>
          <p:cNvPr id="15" name="arrow"/>
          <p:cNvSpPr/>
          <p:nvPr/>
        </p:nvSpPr>
        <p:spPr>
          <a:xfrm>
            <a:off x="5961888" y="2217420"/>
            <a:ext cx="192024" cy="0"/>
          </a:xfrm>
          <a:prstGeom prst="line">
            <a:avLst/>
          </a:prstGeom>
          <a:noFill/>
          <a:ln w="25400">
            <a:solidFill>
              <a:schemeClr val="accent4"/>
            </a:solidFill>
            <a:prstDash val="solid"/>
            <a:tailEnd type="triangle"/>
          </a:ln>
        </p:spPr>
      </p:sp>
      <p:sp>
        <p:nvSpPr>
          <p:cNvPr id="16" name="laneA-3"/>
          <p:cNvSpPr/>
          <p:nvPr/>
        </p:nvSpPr>
        <p:spPr>
          <a:xfrm>
            <a:off x="6172200" y="1691640"/>
            <a:ext cx="1645920" cy="1051560"/>
          </a:xfrm>
          <a:prstGeom prst="roundRect">
            <a:avLst>
              <a:gd name="adj" fmla="val 6957"/>
            </a:avLst>
          </a:prstGeom>
          <a:solidFill>
            <a:schemeClr val="accent1"/>
          </a:solidFill>
          <a:ln w="12700">
            <a:solidFill>
              <a:schemeClr val="accent1"/>
            </a:solidFill>
            <a:prstDash val="solid"/>
          </a:ln>
          <a:effectLst>
            <a:outerShdw sx="100000" sy="100000" kx="0" ky="0" algn="bl" rotWithShape="0" blurRad="101600" dist="25400" dir="5400000">
              <a:srgbClr val="1B2A28">
                <a:alpha val="12000"/>
              </a:srgbClr>
            </a:outerShdw>
          </a:effectLst>
        </p:spPr>
      </p:sp>
      <p:sp>
        <p:nvSpPr>
          <p:cNvPr id="17" name="Text 15"/>
          <p:cNvSpPr txBox="1"/>
          <p:nvPr/>
        </p:nvSpPr>
        <p:spPr>
          <a:xfrm>
            <a:off x="6172200" y="1874520"/>
            <a:ext cx="164592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nodes.json</a:t>
            </a:r>
            <a:endParaRPr lang="en-US" sz="1600" dirty="0"/>
          </a:p>
        </p:txBody>
      </p:sp>
      <p:sp>
        <p:nvSpPr>
          <p:cNvPr id="18" name="Text 16"/>
          <p:cNvSpPr txBox="1"/>
          <p:nvPr/>
        </p:nvSpPr>
        <p:spPr>
          <a:xfrm>
            <a:off x="6172200" y="2258568"/>
            <a:ext cx="1645920" cy="36576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cached to disk</a:t>
            </a:r>
            <a:endParaRPr lang="en-US" sz="1200" dirty="0"/>
          </a:p>
        </p:txBody>
      </p:sp>
      <p:sp>
        <p:nvSpPr>
          <p:cNvPr id="19" name="why-cache"/>
          <p:cNvSpPr/>
          <p:nvPr/>
        </p:nvSpPr>
        <p:spPr>
          <a:xfrm>
            <a:off x="8046720" y="1691640"/>
            <a:ext cx="3596335" cy="1051560"/>
          </a:xfrm>
          <a:prstGeom prst="roundRect">
            <a:avLst>
              <a:gd name="adj" fmla="val 6957"/>
            </a:avLst>
          </a:prstGeom>
          <a:solidFill>
            <a:schemeClr val="accent6"/>
          </a:solidFill>
          <a:ln w="12700">
            <a:solidFill>
              <a:schemeClr val="accent6"/>
            </a:solidFill>
            <a:prstDash val="solid"/>
          </a:ln>
          <a:effectLst>
            <a:outerShdw sx="100000" sy="100000" kx="0" ky="0" algn="bl" rotWithShape="0" blurRad="101600" dist="25400" dir="5400000">
              <a:srgbClr val="1B2A28">
                <a:alpha val="12000"/>
              </a:srgbClr>
            </a:outerShdw>
          </a:effectLst>
        </p:spPr>
      </p:sp>
      <p:sp>
        <p:nvSpPr>
          <p:cNvPr id="20" name="Text 18"/>
          <p:cNvSpPr txBox="1"/>
          <p:nvPr/>
        </p:nvSpPr>
        <p:spPr>
          <a:xfrm>
            <a:off x="8229600" y="1783080"/>
            <a:ext cx="3230575" cy="86868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Why cache: the free Render tier OOM-killed a process that re-parsed the PDF at startup</a:t>
            </a:r>
            <a:endParaRPr lang="en-US" sz="1400" dirty="0"/>
          </a:p>
        </p:txBody>
      </p:sp>
      <p:sp>
        <p:nvSpPr>
          <p:cNvPr id="21" name="load-arrow"/>
          <p:cNvSpPr/>
          <p:nvPr/>
        </p:nvSpPr>
        <p:spPr>
          <a:xfrm>
            <a:off x="6995160" y="2788920"/>
            <a:ext cx="0" cy="502920"/>
          </a:xfrm>
          <a:prstGeom prst="line">
            <a:avLst/>
          </a:prstGeom>
          <a:noFill/>
          <a:ln w="25400">
            <a:solidFill>
              <a:srgbClr val="5B6B69"/>
            </a:solidFill>
            <a:prstDash val="dash"/>
            <a:tailEnd type="triangle"/>
          </a:ln>
        </p:spPr>
      </p:sp>
      <p:sp>
        <p:nvSpPr>
          <p:cNvPr id="22" name="Text 20"/>
          <p:cNvSpPr txBox="1"/>
          <p:nvPr/>
        </p:nvSpPr>
        <p:spPr>
          <a:xfrm>
            <a:off x="7132320" y="2852928"/>
            <a:ext cx="4572000" cy="365760"/>
          </a:xfrm>
          <a:prstGeom prst="rect">
            <a:avLst/>
          </a:prstGeom>
          <a:noFill/>
          <a:ln/>
        </p:spPr>
        <p:txBody>
          <a:bodyPr wrap="square" lIns="0" tIns="0" rIns="0" bIns="0" rtlCol="0" anchor="t"/>
          <a:lstStyle/>
          <a:p>
            <a:pPr indent="0" marL="0">
              <a:buNone/>
            </a:pPr>
            <a:r>
              <a:rPr lang="en-US" sz="1200" i="1" dirty="0">
                <a:solidFill>
                  <a:schemeClr val="accent4"/>
                </a:solidFill>
                <a:latin typeface="Calibri" pitchFamily="34" charset="0"/>
                <a:ea typeface="Calibri" pitchFamily="34" charset="-122"/>
                <a:cs typeface="Calibri" pitchFamily="34" charset="-120"/>
              </a:rPr>
              <a:t>loaded at startup: NetworkX graph + TF-IDF index</a:t>
            </a:r>
            <a:endParaRPr lang="en-US" sz="1200" dirty="0"/>
          </a:p>
        </p:txBody>
      </p:sp>
      <p:sp>
        <p:nvSpPr>
          <p:cNvPr id="23" name="Text 21"/>
          <p:cNvSpPr txBox="1"/>
          <p:nvPr/>
        </p:nvSpPr>
        <p:spPr>
          <a:xfrm>
            <a:off x="548640" y="3611880"/>
            <a:ext cx="5486400" cy="274320"/>
          </a:xfrm>
          <a:prstGeom prst="rect">
            <a:avLst/>
          </a:prstGeom>
          <a:noFill/>
          <a:ln/>
        </p:spPr>
        <p:txBody>
          <a:bodyPr wrap="square" lIns="0" tIns="0" rIns="0" bIns="0" rtlCol="0" anchor="t"/>
          <a:lstStyle/>
          <a:p>
            <a:pPr indent="0" marL="0">
              <a:buNone/>
            </a:pPr>
            <a:r>
              <a:rPr lang="en-US" sz="1200" b="1" spc="200" kern="0" dirty="0">
                <a:solidFill>
                  <a:schemeClr val="accent4"/>
                </a:solidFill>
                <a:latin typeface="Calibri" pitchFamily="34" charset="0"/>
                <a:ea typeface="Calibri" pitchFamily="34" charset="-122"/>
                <a:cs typeface="Calibri" pitchFamily="34" charset="-120"/>
              </a:rPr>
              <a:t>REQUEST TIME  ·  every question</a:t>
            </a:r>
            <a:endParaRPr lang="en-US" sz="1200" dirty="0"/>
          </a:p>
        </p:txBody>
      </p:sp>
      <p:sp>
        <p:nvSpPr>
          <p:cNvPr id="24" name="laneB-0"/>
          <p:cNvSpPr/>
          <p:nvPr/>
        </p:nvSpPr>
        <p:spPr>
          <a:xfrm>
            <a:off x="548640" y="3977640"/>
            <a:ext cx="16459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5" name="Text 23"/>
          <p:cNvSpPr txBox="1"/>
          <p:nvPr/>
        </p:nvSpPr>
        <p:spPr>
          <a:xfrm>
            <a:off x="548640" y="4206240"/>
            <a:ext cx="1645920" cy="365760"/>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React chat</a:t>
            </a:r>
            <a:endParaRPr lang="en-US" sz="1500" dirty="0"/>
          </a:p>
        </p:txBody>
      </p:sp>
      <p:sp>
        <p:nvSpPr>
          <p:cNvPr id="26" name="Text 24"/>
          <p:cNvSpPr txBox="1"/>
          <p:nvPr/>
        </p:nvSpPr>
        <p:spPr>
          <a:xfrm>
            <a:off x="640080" y="4617720"/>
            <a:ext cx="146304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language auto-detect</a:t>
            </a:r>
            <a:endParaRPr lang="en-US" sz="1200" dirty="0"/>
          </a:p>
        </p:txBody>
      </p:sp>
      <p:sp>
        <p:nvSpPr>
          <p:cNvPr id="27" name="arrow"/>
          <p:cNvSpPr/>
          <p:nvPr/>
        </p:nvSpPr>
        <p:spPr>
          <a:xfrm>
            <a:off x="2212848" y="4594860"/>
            <a:ext cx="192024" cy="0"/>
          </a:xfrm>
          <a:prstGeom prst="line">
            <a:avLst/>
          </a:prstGeom>
          <a:noFill/>
          <a:ln w="25400">
            <a:solidFill>
              <a:schemeClr val="accent4"/>
            </a:solidFill>
            <a:prstDash val="solid"/>
            <a:tailEnd type="triangle"/>
          </a:ln>
        </p:spPr>
      </p:sp>
      <p:sp>
        <p:nvSpPr>
          <p:cNvPr id="28" name="laneB-1"/>
          <p:cNvSpPr/>
          <p:nvPr/>
        </p:nvSpPr>
        <p:spPr>
          <a:xfrm>
            <a:off x="2423160" y="3977640"/>
            <a:ext cx="16459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9" name="Text 27"/>
          <p:cNvSpPr txBox="1"/>
          <p:nvPr/>
        </p:nvSpPr>
        <p:spPr>
          <a:xfrm>
            <a:off x="2423160" y="4206240"/>
            <a:ext cx="1645920" cy="365760"/>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FastAPI</a:t>
            </a:r>
            <a:endParaRPr lang="en-US" sz="1500" dirty="0"/>
          </a:p>
        </p:txBody>
      </p:sp>
      <p:sp>
        <p:nvSpPr>
          <p:cNvPr id="30" name="Text 28"/>
          <p:cNvSpPr txBox="1"/>
          <p:nvPr/>
        </p:nvSpPr>
        <p:spPr>
          <a:xfrm>
            <a:off x="2514600" y="4617720"/>
            <a:ext cx="146304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/api/ask</a:t>
            </a:r>
            <a:endParaRPr lang="en-US" sz="1200" dirty="0"/>
          </a:p>
        </p:txBody>
      </p:sp>
      <p:sp>
        <p:nvSpPr>
          <p:cNvPr id="31" name="arrow"/>
          <p:cNvSpPr/>
          <p:nvPr/>
        </p:nvSpPr>
        <p:spPr>
          <a:xfrm>
            <a:off x="4087368" y="4594860"/>
            <a:ext cx="192024" cy="0"/>
          </a:xfrm>
          <a:prstGeom prst="line">
            <a:avLst/>
          </a:prstGeom>
          <a:noFill/>
          <a:ln w="25400">
            <a:solidFill>
              <a:schemeClr val="accent4"/>
            </a:solidFill>
            <a:prstDash val="solid"/>
            <a:tailEnd type="triangle"/>
          </a:ln>
        </p:spPr>
      </p:sp>
      <p:sp>
        <p:nvSpPr>
          <p:cNvPr id="32" name="laneB-2"/>
          <p:cNvSpPr/>
          <p:nvPr/>
        </p:nvSpPr>
        <p:spPr>
          <a:xfrm>
            <a:off x="4297680" y="3977640"/>
            <a:ext cx="16459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33" name="Text 31"/>
          <p:cNvSpPr txBox="1"/>
          <p:nvPr/>
        </p:nvSpPr>
        <p:spPr>
          <a:xfrm>
            <a:off x="4297680" y="4206240"/>
            <a:ext cx="1645920" cy="365760"/>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resolve_query</a:t>
            </a:r>
            <a:endParaRPr lang="en-US" sz="1500" dirty="0"/>
          </a:p>
        </p:txBody>
      </p:sp>
      <p:sp>
        <p:nvSpPr>
          <p:cNvPr id="34" name="Text 32"/>
          <p:cNvSpPr txBox="1"/>
          <p:nvPr/>
        </p:nvSpPr>
        <p:spPr>
          <a:xfrm>
            <a:off x="4389120" y="4617720"/>
            <a:ext cx="146304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id or TF-IDF</a:t>
            </a:r>
            <a:endParaRPr lang="en-US" sz="1200" dirty="0"/>
          </a:p>
        </p:txBody>
      </p:sp>
      <p:sp>
        <p:nvSpPr>
          <p:cNvPr id="35" name="arrow"/>
          <p:cNvSpPr/>
          <p:nvPr/>
        </p:nvSpPr>
        <p:spPr>
          <a:xfrm>
            <a:off x="5961888" y="4594860"/>
            <a:ext cx="192024" cy="0"/>
          </a:xfrm>
          <a:prstGeom prst="line">
            <a:avLst/>
          </a:prstGeom>
          <a:noFill/>
          <a:ln w="25400">
            <a:solidFill>
              <a:schemeClr val="accent4"/>
            </a:solidFill>
            <a:prstDash val="solid"/>
            <a:tailEnd type="triangle"/>
          </a:ln>
        </p:spPr>
      </p:sp>
      <p:sp>
        <p:nvSpPr>
          <p:cNvPr id="36" name="laneB-3"/>
          <p:cNvSpPr/>
          <p:nvPr/>
        </p:nvSpPr>
        <p:spPr>
          <a:xfrm>
            <a:off x="6172200" y="3977640"/>
            <a:ext cx="16459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37" name="Text 35"/>
          <p:cNvSpPr txBox="1"/>
          <p:nvPr/>
        </p:nvSpPr>
        <p:spPr>
          <a:xfrm>
            <a:off x="6172200" y="4206240"/>
            <a:ext cx="1645920" cy="365760"/>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answer_question</a:t>
            </a:r>
            <a:endParaRPr lang="en-US" sz="1500" dirty="0"/>
          </a:p>
        </p:txBody>
      </p:sp>
      <p:sp>
        <p:nvSpPr>
          <p:cNvPr id="38" name="Text 36"/>
          <p:cNvSpPr txBox="1"/>
          <p:nvPr/>
        </p:nvSpPr>
        <p:spPr>
          <a:xfrm>
            <a:off x="6263640" y="4617720"/>
            <a:ext cx="146304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intent + roles</a:t>
            </a:r>
            <a:endParaRPr lang="en-US" sz="1200" dirty="0"/>
          </a:p>
        </p:txBody>
      </p:sp>
      <p:sp>
        <p:nvSpPr>
          <p:cNvPr id="39" name="arrow"/>
          <p:cNvSpPr/>
          <p:nvPr/>
        </p:nvSpPr>
        <p:spPr>
          <a:xfrm>
            <a:off x="7836408" y="4594860"/>
            <a:ext cx="192024" cy="0"/>
          </a:xfrm>
          <a:prstGeom prst="line">
            <a:avLst/>
          </a:prstGeom>
          <a:noFill/>
          <a:ln w="25400">
            <a:solidFill>
              <a:schemeClr val="accent4"/>
            </a:solidFill>
            <a:prstDash val="solid"/>
            <a:tailEnd type="triangle"/>
          </a:ln>
        </p:spPr>
      </p:sp>
      <p:sp>
        <p:nvSpPr>
          <p:cNvPr id="40" name="laneB-4"/>
          <p:cNvSpPr/>
          <p:nvPr/>
        </p:nvSpPr>
        <p:spPr>
          <a:xfrm>
            <a:off x="8046720" y="3977640"/>
            <a:ext cx="1645920" cy="1234440"/>
          </a:xfrm>
          <a:prstGeom prst="roundRect">
            <a:avLst>
              <a:gd name="adj" fmla="val 5926"/>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sp>
        <p:nvSpPr>
          <p:cNvPr id="41" name="Text 39"/>
          <p:cNvSpPr txBox="1"/>
          <p:nvPr/>
        </p:nvSpPr>
        <p:spPr>
          <a:xfrm>
            <a:off x="8046720" y="4206240"/>
            <a:ext cx="1645920" cy="365760"/>
          </a:xfrm>
          <a:prstGeom prst="rect">
            <a:avLst/>
          </a:prstGeom>
          <a:noFill/>
          <a:ln/>
        </p:spPr>
        <p:txBody>
          <a:bodyPr wrap="square" lIns="0" tIns="0" rIns="0" bIns="0" rtlCol="0" anchor="t"/>
          <a:lstStyle/>
          <a:p>
            <a:pPr algn="ctr" indent="0" marL="0">
              <a:buNone/>
            </a:pPr>
            <a:r>
              <a:rPr lang="en-US" sz="1500" b="1" dirty="0">
                <a:solidFill>
                  <a:schemeClr val="bg1"/>
                </a:solidFill>
                <a:latin typeface="Calibri" pitchFamily="34" charset="0"/>
                <a:ea typeface="Calibri" pitchFamily="34" charset="-122"/>
                <a:cs typeface="Calibri" pitchFamily="34" charset="-120"/>
              </a:rPr>
              <a:t>humanize_answer</a:t>
            </a:r>
            <a:endParaRPr lang="en-US" sz="1500" dirty="0"/>
          </a:p>
        </p:txBody>
      </p:sp>
      <p:sp>
        <p:nvSpPr>
          <p:cNvPr id="42" name="Text 40"/>
          <p:cNvSpPr txBox="1"/>
          <p:nvPr/>
        </p:nvSpPr>
        <p:spPr>
          <a:xfrm>
            <a:off x="8138160" y="4617720"/>
            <a:ext cx="1463040" cy="457200"/>
          </a:xfrm>
          <a:prstGeom prst="rect">
            <a:avLst/>
          </a:prstGeom>
          <a:noFill/>
          <a:ln/>
        </p:spPr>
        <p:txBody>
          <a:bodyPr wrap="square" lIns="0" tIns="0" rIns="0" bIns="0" rtlCol="0" anchor="t"/>
          <a:lstStyle/>
          <a:p>
            <a:pPr algn="ctr" indent="0" marL="0">
              <a:buNone/>
            </a:pPr>
            <a:r>
              <a:rPr lang="en-US" sz="1200" dirty="0">
                <a:solidFill>
                  <a:schemeClr val="bg2"/>
                </a:solidFill>
                <a:latin typeface="Calibri" pitchFamily="34" charset="0"/>
                <a:ea typeface="Calibri" pitchFamily="34" charset="-122"/>
                <a:cs typeface="Calibri" pitchFamily="34" charset="-120"/>
              </a:rPr>
              <a:t>LLM + grounding check</a:t>
            </a:r>
            <a:endParaRPr lang="en-US" sz="1200" dirty="0"/>
          </a:p>
        </p:txBody>
      </p:sp>
      <p:sp>
        <p:nvSpPr>
          <p:cNvPr id="43" name="arrow"/>
          <p:cNvSpPr/>
          <p:nvPr/>
        </p:nvSpPr>
        <p:spPr>
          <a:xfrm>
            <a:off x="9710928" y="4594860"/>
            <a:ext cx="192024" cy="0"/>
          </a:xfrm>
          <a:prstGeom prst="line">
            <a:avLst/>
          </a:prstGeom>
          <a:noFill/>
          <a:ln w="25400">
            <a:solidFill>
              <a:schemeClr val="accent4"/>
            </a:solidFill>
            <a:prstDash val="solid"/>
            <a:tailEnd type="triangle"/>
          </a:ln>
        </p:spPr>
      </p:sp>
      <p:sp>
        <p:nvSpPr>
          <p:cNvPr id="44" name="laneB-5"/>
          <p:cNvSpPr/>
          <p:nvPr/>
        </p:nvSpPr>
        <p:spPr>
          <a:xfrm>
            <a:off x="9921240" y="3977640"/>
            <a:ext cx="16459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5" name="Text 43"/>
          <p:cNvSpPr txBox="1"/>
          <p:nvPr/>
        </p:nvSpPr>
        <p:spPr>
          <a:xfrm>
            <a:off x="9921240" y="4206240"/>
            <a:ext cx="1645920" cy="365760"/>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Answer</a:t>
            </a:r>
            <a:endParaRPr lang="en-US" sz="1500" dirty="0"/>
          </a:p>
        </p:txBody>
      </p:sp>
      <p:sp>
        <p:nvSpPr>
          <p:cNvPr id="46" name="Text 44"/>
          <p:cNvSpPr txBox="1"/>
          <p:nvPr/>
        </p:nvSpPr>
        <p:spPr>
          <a:xfrm>
            <a:off x="10012680" y="4617720"/>
            <a:ext cx="146304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 evidence shown</a:t>
            </a:r>
            <a:endParaRPr lang="en-US" sz="1200" dirty="0"/>
          </a:p>
        </p:txBody>
      </p:sp>
      <p:sp>
        <p:nvSpPr>
          <p:cNvPr id="47" name="Text 45"/>
          <p:cNvSpPr txBox="1"/>
          <p:nvPr/>
        </p:nvSpPr>
        <p:spPr>
          <a:xfrm>
            <a:off x="548640" y="5486400"/>
            <a:ext cx="11094415" cy="45720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Everything left of the LLM box is deterministic and testable without a network.</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knowledge base in numbers</a:t>
            </a:r>
            <a:endParaRPr lang="en-US" sz="3400" dirty="0"/>
          </a:p>
        </p:txBody>
      </p:sp>
      <p:sp>
        <p:nvSpPr>
          <p:cNvPr id="3" name="stat-0"/>
          <p:cNvSpPr/>
          <p:nvPr/>
        </p:nvSpPr>
        <p:spPr>
          <a:xfrm>
            <a:off x="548640" y="1417320"/>
            <a:ext cx="274320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731520" y="1527048"/>
            <a:ext cx="2377440" cy="64008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327</a:t>
            </a:r>
            <a:endParaRPr lang="en-US" sz="3800" dirty="0"/>
          </a:p>
        </p:txBody>
      </p:sp>
      <p:sp>
        <p:nvSpPr>
          <p:cNvPr id="5" name="Text 3"/>
          <p:cNvSpPr txBox="1"/>
          <p:nvPr/>
        </p:nvSpPr>
        <p:spPr>
          <a:xfrm>
            <a:off x="731520" y="2167128"/>
            <a:ext cx="237744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DAM nodes</a:t>
            </a:r>
            <a:endParaRPr lang="en-US" sz="1400" dirty="0"/>
          </a:p>
        </p:txBody>
      </p:sp>
      <p:sp>
        <p:nvSpPr>
          <p:cNvPr id="6" name="Text 4"/>
          <p:cNvSpPr txBox="1"/>
          <p:nvPr/>
        </p:nvSpPr>
        <p:spPr>
          <a:xfrm>
            <a:off x="731520" y="2441448"/>
            <a:ext cx="2377440" cy="45720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138 tasks · 102 child tasks · 49 threshold variants · 35 processes · 3 chapters</a:t>
            </a:r>
            <a:endParaRPr lang="en-US" sz="1100" dirty="0"/>
          </a:p>
        </p:txBody>
      </p:sp>
      <p:sp>
        <p:nvSpPr>
          <p:cNvPr id="7" name="stat-1"/>
          <p:cNvSpPr/>
          <p:nvPr/>
        </p:nvSpPr>
        <p:spPr>
          <a:xfrm>
            <a:off x="3520440" y="1417320"/>
            <a:ext cx="274320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3703320" y="1527048"/>
            <a:ext cx="2377440" cy="64008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1,776</a:t>
            </a:r>
            <a:endParaRPr lang="en-US" sz="3800" dirty="0"/>
          </a:p>
        </p:txBody>
      </p:sp>
      <p:sp>
        <p:nvSpPr>
          <p:cNvPr id="9" name="Text 7"/>
          <p:cNvSpPr txBox="1"/>
          <p:nvPr/>
        </p:nvSpPr>
        <p:spPr>
          <a:xfrm>
            <a:off x="3703320" y="2167128"/>
            <a:ext cx="237744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responsibilities</a:t>
            </a:r>
            <a:endParaRPr lang="en-US" sz="1400" dirty="0"/>
          </a:p>
        </p:txBody>
      </p:sp>
      <p:sp>
        <p:nvSpPr>
          <p:cNvPr id="10" name="Text 8"/>
          <p:cNvSpPr txBox="1"/>
          <p:nvPr/>
        </p:nvSpPr>
        <p:spPr>
          <a:xfrm>
            <a:off x="3703320" y="2441448"/>
            <a:ext cx="2377440" cy="45720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one per role + action on a task</a:t>
            </a:r>
            <a:endParaRPr lang="en-US" sz="1100" dirty="0"/>
          </a:p>
        </p:txBody>
      </p:sp>
      <p:sp>
        <p:nvSpPr>
          <p:cNvPr id="11" name="stat-2"/>
          <p:cNvSpPr/>
          <p:nvPr/>
        </p:nvSpPr>
        <p:spPr>
          <a:xfrm>
            <a:off x="548640" y="3154680"/>
            <a:ext cx="274320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2" name="Text 10"/>
          <p:cNvSpPr txBox="1"/>
          <p:nvPr/>
        </p:nvSpPr>
        <p:spPr>
          <a:xfrm>
            <a:off x="731520" y="3264408"/>
            <a:ext cx="2377440" cy="64008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131</a:t>
            </a:r>
            <a:endParaRPr lang="en-US" sz="3800" dirty="0"/>
          </a:p>
        </p:txBody>
      </p:sp>
      <p:sp>
        <p:nvSpPr>
          <p:cNvPr id="13" name="Text 11"/>
          <p:cNvSpPr txBox="1"/>
          <p:nvPr/>
        </p:nvSpPr>
        <p:spPr>
          <a:xfrm>
            <a:off x="731520" y="3904488"/>
            <a:ext cx="237744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distinct roles</a:t>
            </a:r>
            <a:endParaRPr lang="en-US" sz="1400" dirty="0"/>
          </a:p>
        </p:txBody>
      </p:sp>
      <p:sp>
        <p:nvSpPr>
          <p:cNvPr id="14" name="Text 12"/>
          <p:cNvSpPr txBox="1"/>
          <p:nvPr/>
        </p:nvSpPr>
        <p:spPr>
          <a:xfrm>
            <a:off x="731520" y="4178808"/>
            <a:ext cx="2377440" cy="45720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plus one placeholder for unresolved</a:t>
            </a:r>
            <a:endParaRPr lang="en-US" sz="1100" dirty="0"/>
          </a:p>
        </p:txBody>
      </p:sp>
      <p:sp>
        <p:nvSpPr>
          <p:cNvPr id="15" name="stat-3"/>
          <p:cNvSpPr/>
          <p:nvPr/>
        </p:nvSpPr>
        <p:spPr>
          <a:xfrm>
            <a:off x="3520440" y="3154680"/>
            <a:ext cx="274320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3703320" y="3264408"/>
            <a:ext cx="2377440" cy="64008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2,108</a:t>
            </a:r>
            <a:endParaRPr lang="en-US" sz="3800" dirty="0"/>
          </a:p>
        </p:txBody>
      </p:sp>
      <p:sp>
        <p:nvSpPr>
          <p:cNvPr id="17" name="Text 15"/>
          <p:cNvSpPr txBox="1"/>
          <p:nvPr/>
        </p:nvSpPr>
        <p:spPr>
          <a:xfrm>
            <a:off x="3703320" y="3904488"/>
            <a:ext cx="237744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graph edges</a:t>
            </a:r>
            <a:endParaRPr lang="en-US" sz="1400" dirty="0"/>
          </a:p>
        </p:txBody>
      </p:sp>
      <p:sp>
        <p:nvSpPr>
          <p:cNvPr id="18" name="Text 16"/>
          <p:cNvSpPr txBox="1"/>
          <p:nvPr/>
        </p:nvSpPr>
        <p:spPr>
          <a:xfrm>
            <a:off x="3703320" y="4178808"/>
            <a:ext cx="2377440" cy="45720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1,776 responsible_for · 322 contains · 10 references</a:t>
            </a:r>
            <a:endParaRPr lang="en-US" sz="1100" dirty="0"/>
          </a:p>
        </p:txBody>
      </p:sp>
      <p:sp>
        <p:nvSpPr>
          <p:cNvPr id="19" name="stat-4"/>
          <p:cNvSpPr/>
          <p:nvPr/>
        </p:nvSpPr>
        <p:spPr>
          <a:xfrm>
            <a:off x="548640" y="4892040"/>
            <a:ext cx="2743200" cy="1508760"/>
          </a:xfrm>
          <a:prstGeom prst="roundRect">
            <a:avLst>
              <a:gd name="adj" fmla="val 4848"/>
            </a:avLst>
          </a:prstGeom>
          <a:solidFill>
            <a:schemeClr val="accent6"/>
          </a:solidFill>
          <a:ln w="12700">
            <a:solidFill>
              <a:schemeClr val="accent6"/>
            </a:solidFill>
            <a:prstDash val="solid"/>
          </a:ln>
          <a:effectLst>
            <a:outerShdw sx="100000" sy="100000" kx="0" ky="0" algn="bl" rotWithShape="0" blurRad="101600" dist="25400" dir="5400000">
              <a:srgbClr val="1B2A28">
                <a:alpha val="12000"/>
              </a:srgbClr>
            </a:outerShdw>
          </a:effectLst>
        </p:spPr>
      </p:sp>
      <p:sp>
        <p:nvSpPr>
          <p:cNvPr id="20" name="Text 18"/>
          <p:cNvSpPr txBox="1"/>
          <p:nvPr/>
        </p:nvSpPr>
        <p:spPr>
          <a:xfrm>
            <a:off x="731520" y="5001768"/>
            <a:ext cx="2377440" cy="64008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0.56%</a:t>
            </a:r>
            <a:endParaRPr lang="en-US" sz="3800" dirty="0"/>
          </a:p>
        </p:txBody>
      </p:sp>
      <p:sp>
        <p:nvSpPr>
          <p:cNvPr id="21" name="Text 19"/>
          <p:cNvSpPr txBox="1"/>
          <p:nvPr/>
        </p:nvSpPr>
        <p:spPr>
          <a:xfrm>
            <a:off x="731520" y="5641848"/>
            <a:ext cx="237744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unresolved roles</a:t>
            </a:r>
            <a:endParaRPr lang="en-US" sz="1400" dirty="0"/>
          </a:p>
        </p:txBody>
      </p:sp>
      <p:sp>
        <p:nvSpPr>
          <p:cNvPr id="22" name="Text 20"/>
          <p:cNvSpPr txBox="1"/>
          <p:nvPr/>
        </p:nvSpPr>
        <p:spPr>
          <a:xfrm>
            <a:off x="731520" y="5916168"/>
            <a:ext cx="2377440" cy="45720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10 of 1,776, reported not hidden</a:t>
            </a:r>
            <a:endParaRPr lang="en-US" sz="1100" dirty="0"/>
          </a:p>
        </p:txBody>
      </p:sp>
      <p:sp>
        <p:nvSpPr>
          <p:cNvPr id="23" name="stat-5"/>
          <p:cNvSpPr/>
          <p:nvPr/>
        </p:nvSpPr>
        <p:spPr>
          <a:xfrm>
            <a:off x="3520440" y="4892040"/>
            <a:ext cx="274320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4" name="Text 22"/>
          <p:cNvSpPr txBox="1"/>
          <p:nvPr/>
        </p:nvSpPr>
        <p:spPr>
          <a:xfrm>
            <a:off x="3703320" y="5001768"/>
            <a:ext cx="2377440" cy="640080"/>
          </a:xfrm>
          <a:prstGeom prst="rect">
            <a:avLst/>
          </a:prstGeom>
          <a:noFill/>
          <a:ln/>
        </p:spPr>
        <p:txBody>
          <a:bodyPr wrap="square" lIns="0" tIns="0" rIns="0" bIns="0" rtlCol="0" anchor="t"/>
          <a:lstStyle/>
          <a:p>
            <a:pPr indent="0" marL="0">
              <a:buNone/>
            </a:pPr>
            <a:r>
              <a:rPr lang="en-US" sz="3800" b="1" dirty="0">
                <a:solidFill>
                  <a:schemeClr val="tx2"/>
                </a:solidFill>
                <a:latin typeface="Cambria" pitchFamily="34" charset="0"/>
                <a:ea typeface="Cambria" pitchFamily="34" charset="-122"/>
                <a:cs typeface="Cambria" pitchFamily="34" charset="-120"/>
              </a:rPr>
              <a:t>375</a:t>
            </a:r>
            <a:endParaRPr lang="en-US" sz="3800" dirty="0"/>
          </a:p>
        </p:txBody>
      </p:sp>
      <p:sp>
        <p:nvSpPr>
          <p:cNvPr id="25" name="Text 23"/>
          <p:cNvSpPr txBox="1"/>
          <p:nvPr/>
        </p:nvSpPr>
        <p:spPr>
          <a:xfrm>
            <a:off x="3703320" y="5641848"/>
            <a:ext cx="237744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test functions</a:t>
            </a:r>
            <a:endParaRPr lang="en-US" sz="1400" dirty="0"/>
          </a:p>
        </p:txBody>
      </p:sp>
      <p:sp>
        <p:nvSpPr>
          <p:cNvPr id="26" name="Text 24"/>
          <p:cNvSpPr txBox="1"/>
          <p:nvPr/>
        </p:nvSpPr>
        <p:spPr>
          <a:xfrm>
            <a:off x="3703320" y="5916168"/>
            <a:ext cx="2377440" cy="45720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37 files, 492 collected cases</a:t>
            </a:r>
            <a:endParaRPr lang="en-US" sz="1100" dirty="0"/>
          </a:p>
        </p:txBody>
      </p:sp>
      <p:graphicFrame>
        <p:nvGraphicFramePr>
          <p:cNvPr id="27" name="Chart 0" descr=""/>
          <p:cNvGraphicFramePr/>
          <p:nvPr/>
        </p:nvGraphicFramePr>
        <p:xfrm>
          <a:off x="6629400" y="1371600"/>
          <a:ext cx="5013655"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 and AI stack: what I chose and why</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554480"/>
                <a:gridCol w="2194560"/>
                <a:gridCol w="4023360"/>
                <a:gridCol w="3319272"/>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Concern</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Choice</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Why this one</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Rejected, and the trade-off</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r>
              <a:tr h="73152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PDF extraction</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pdfplumber</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Every character's x, y and font size, needed to tell level digits from footnote digits</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Text-flow extractors return words only and lose superscript geometry</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r>
              <a:tr h="65836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Data contract</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Pydantic</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Typed validation between parser and graph; one place to change the schema</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Plain dicts: silent shape drift</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Knowledge graph</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NetworkX MultiDiGraph</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Parallel edges: one role can hold several actions on one task; in memory</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Graph database: extra infrastructure for 459 immutable vertices</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r>
              <a:tr h="73152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Retrieval</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scikit-learn TF-IDF</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Explainable scores, installs in seconds, no GPU; titles are short and keyword-rich</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Sentence embeddings: PyTorch weight, opaque scores, no labeled data</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Typo correction</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stdlib difflib</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Offline, deterministic, zero dependencies</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LLM correction: needs network, not repeatable</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LLM access</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requests + own interface</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Two engines behind one chat() call and one error type</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LangChain: heavy abstraction for a single call</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Parsing: why characters, not words</a:t>
            </a:r>
            <a:endParaRPr lang="en-US" sz="3400" dirty="0"/>
          </a:p>
        </p:txBody>
      </p:sp>
      <p:sp>
        <p:nvSpPr>
          <p:cNvPr id="3" name="schematic"/>
          <p:cNvSpPr/>
          <p:nvPr/>
        </p:nvSpPr>
        <p:spPr>
          <a:xfrm>
            <a:off x="548640" y="1417320"/>
            <a:ext cx="4846320" cy="3063240"/>
          </a:xfrm>
          <a:prstGeom prst="roundRect">
            <a:avLst>
              <a:gd name="adj" fmla="val 238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1188720" y="1554480"/>
            <a:ext cx="1463040" cy="2011680"/>
          </a:xfrm>
          <a:prstGeom prst="rect">
            <a:avLst/>
          </a:prstGeom>
          <a:noFill/>
          <a:ln/>
        </p:spPr>
        <p:txBody>
          <a:bodyPr wrap="square" lIns="0" tIns="0" rIns="0" bIns="0" rtlCol="0" anchor="t"/>
          <a:lstStyle/>
          <a:p>
            <a:pPr indent="0" marL="0">
              <a:buNone/>
            </a:pPr>
            <a:r>
              <a:rPr lang="en-US" sz="13000" b="1" dirty="0">
                <a:solidFill>
                  <a:schemeClr val="tx2"/>
                </a:solidFill>
                <a:latin typeface="Calibri" pitchFamily="34" charset="0"/>
                <a:ea typeface="Calibri" pitchFamily="34" charset="-122"/>
                <a:cs typeface="Calibri" pitchFamily="34" charset="-120"/>
              </a:rPr>
              <a:t>A</a:t>
            </a:r>
            <a:endParaRPr lang="en-US" sz="13000" dirty="0"/>
          </a:p>
        </p:txBody>
      </p:sp>
      <p:sp>
        <p:nvSpPr>
          <p:cNvPr id="5" name="Text 3"/>
          <p:cNvSpPr txBox="1"/>
          <p:nvPr/>
        </p:nvSpPr>
        <p:spPr>
          <a:xfrm>
            <a:off x="2468880" y="1691640"/>
            <a:ext cx="822960" cy="457200"/>
          </a:xfrm>
          <a:prstGeom prst="rect">
            <a:avLst/>
          </a:prstGeom>
          <a:noFill/>
          <a:ln/>
        </p:spPr>
        <p:txBody>
          <a:bodyPr wrap="square" lIns="0" tIns="0" rIns="0" bIns="0" rtlCol="0" anchor="t"/>
          <a:lstStyle/>
          <a:p>
            <a:pPr indent="0" marL="0">
              <a:buNone/>
            </a:pPr>
            <a:r>
              <a:rPr lang="en-US" sz="2400" b="1" dirty="0">
                <a:solidFill>
                  <a:schemeClr val="accent3"/>
                </a:solidFill>
                <a:latin typeface="Calibri" pitchFamily="34" charset="0"/>
                <a:ea typeface="Calibri" pitchFamily="34" charset="-122"/>
                <a:cs typeface="Calibri" pitchFamily="34" charset="-120"/>
              </a:rPr>
              <a:t>21</a:t>
            </a:r>
            <a:endParaRPr lang="en-US" sz="2400" dirty="0"/>
          </a:p>
        </p:txBody>
      </p:sp>
      <p:sp>
        <p:nvSpPr>
          <p:cNvPr id="6" name="Text 4"/>
          <p:cNvSpPr txBox="1"/>
          <p:nvPr/>
        </p:nvSpPr>
        <p:spPr>
          <a:xfrm>
            <a:off x="2468880" y="315468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3246120" y="1783080"/>
            <a:ext cx="2011680" cy="64008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footnote: top-aligned with the letter</a:t>
            </a:r>
            <a:endParaRPr lang="en-US" sz="1300" dirty="0"/>
          </a:p>
        </p:txBody>
      </p:sp>
      <p:sp>
        <p:nvSpPr>
          <p:cNvPr id="8" name="Text 6"/>
          <p:cNvSpPr txBox="1"/>
          <p:nvPr/>
        </p:nvSpPr>
        <p:spPr>
          <a:xfrm>
            <a:off x="3246120" y="3154680"/>
            <a:ext cx="2011680" cy="64008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level: bottom-aligned with the letter</a:t>
            </a:r>
            <a:endParaRPr lang="en-US" sz="1300" dirty="0"/>
          </a:p>
        </p:txBody>
      </p:sp>
      <p:sp>
        <p:nvSpPr>
          <p:cNvPr id="9" name="Text 7"/>
          <p:cNvSpPr txBox="1"/>
          <p:nvPr/>
        </p:nvSpPr>
        <p:spPr>
          <a:xfrm>
            <a:off x="822960" y="3931920"/>
            <a:ext cx="4297680" cy="365760"/>
          </a:xfrm>
          <a:prstGeom prst="rect">
            <a:avLst/>
          </a:prstGeom>
          <a:noFill/>
          <a:ln/>
        </p:spPr>
        <p:txBody>
          <a:bodyPr wrap="square" lIns="0" tIns="0" rIns="0" bIns="0" rtlCol="0" anchor="t"/>
          <a:lstStyle/>
          <a:p>
            <a:pPr indent="0" marL="0">
              <a:buNone/>
            </a:pPr>
            <a:r>
              <a:rPr lang="en-US" sz="1200" i="1" dirty="0">
                <a:solidFill>
                  <a:schemeClr val="accent4"/>
                </a:solidFill>
                <a:latin typeface="Calibri" pitchFamily="34" charset="0"/>
                <a:ea typeface="Calibri" pitchFamily="34" charset="-122"/>
                <a:cs typeface="Calibri" pitchFamily="34" charset="-120"/>
              </a:rPr>
              <a:t>Both digits are size 6 next to a size 9 letter</a:t>
            </a:r>
            <a:endParaRPr lang="en-US" sz="1200" dirty="0"/>
          </a:p>
        </p:txBody>
      </p:sp>
      <p:sp>
        <p:nvSpPr>
          <p:cNvPr id="10" name="code-card"/>
          <p:cNvSpPr/>
          <p:nvPr/>
        </p:nvSpPr>
        <p:spPr>
          <a:xfrm>
            <a:off x="5669280" y="1417320"/>
            <a:ext cx="5973775" cy="1325880"/>
          </a:xfrm>
          <a:prstGeom prst="roundRect">
            <a:avLst>
              <a:gd name="adj" fmla="val 4138"/>
            </a:avLst>
          </a:prstGeom>
          <a:solidFill>
            <a:schemeClr val="tx1"/>
          </a:solidFill>
          <a:ln w="12700">
            <a:solidFill>
              <a:schemeClr val="tx1"/>
            </a:solidFill>
            <a:prstDash val="solid"/>
          </a:ln>
        </p:spPr>
      </p:sp>
      <p:sp>
        <p:nvSpPr>
          <p:cNvPr id="11" name="Text 9"/>
          <p:cNvSpPr txBox="1"/>
          <p:nvPr/>
        </p:nvSpPr>
        <p:spPr>
          <a:xfrm>
            <a:off x="5852160" y="1554480"/>
            <a:ext cx="5608015" cy="105156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BODY_SIZE_MIN       = 8.0  # letter vs superscript</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ALIGNMENT_TOLERANCE = 2.0  # pt, top/bottom match</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MAX_DECORATION_GAP  = 8.0  # pt, still attached</a:t>
            </a:r>
            <a:endParaRPr lang="en-US" sz="1300" dirty="0"/>
          </a:p>
        </p:txBody>
      </p:sp>
      <p:sp>
        <p:nvSpPr>
          <p:cNvPr id="12" name="Text 10"/>
          <p:cNvSpPr txBox="1"/>
          <p:nvPr/>
        </p:nvSpPr>
        <p:spPr>
          <a:xfrm>
            <a:off x="5669280" y="2926080"/>
            <a:ext cx="5973775"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Bottom-aligned small digit: the level (at most one)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Top-aligned digits at the same height: a footnote; consecutive ones concatenate ("2","1" becomes 21)</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Why not regex: pdfplumber groups the same pattern as one word "C13" in one cell and "C" + "13" in the next</a:t>
            </a:r>
            <a:endParaRPr lang="en-US" sz="1500" dirty="0"/>
          </a:p>
        </p:txBody>
      </p:sp>
      <p:sp>
        <p:nvSpPr>
          <p:cNvPr id="13" name="validation-banner"/>
          <p:cNvSpPr/>
          <p:nvPr/>
        </p:nvSpPr>
        <p:spPr>
          <a:xfrm>
            <a:off x="548640" y="4754880"/>
            <a:ext cx="11094415" cy="1234440"/>
          </a:xfrm>
          <a:prstGeom prst="roundRect">
            <a:avLst>
              <a:gd name="adj" fmla="val 5926"/>
            </a:avLst>
          </a:prstGeom>
          <a:solidFill>
            <a:schemeClr val="accent6"/>
          </a:solidFill>
          <a:ln w="12700">
            <a:solidFill>
              <a:schemeClr val="accent6"/>
            </a:solidFill>
            <a:prstDash val="solid"/>
          </a:ln>
        </p:spPr>
      </p:sp>
      <p:sp>
        <p:nvSpPr>
          <p:cNvPr id="14" name="Text 12"/>
          <p:cNvSpPr txBox="1"/>
          <p:nvPr/>
        </p:nvSpPr>
        <p:spPr>
          <a:xfrm>
            <a:off x="868680" y="4754880"/>
            <a:ext cx="10454335" cy="12344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Validated, not assumed: </a:t>
            </a:r>
            <a:pPr indent="0" marL="0">
              <a:buNone/>
            </a:pPr>
            <a:r>
              <a:rPr lang="en-US" sz="1600" dirty="0">
                <a:solidFill>
                  <a:schemeClr val="tx2"/>
                </a:solidFill>
                <a:latin typeface="Calibri" pitchFamily="34" charset="0"/>
                <a:ea typeface="Calibri" pitchFamily="34" charset="-122"/>
                <a:cs typeface="Calibri" pitchFamily="34" charset="-120"/>
              </a:rPr>
              <a:t>rule derived by comparing real cells (2.224.4 "A1" with footnote 21 against 2.223.2 "C13") character by character, then checked against the PDF page screenshots.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 contract: Pydantic models</a:t>
            </a:r>
            <a:endParaRPr lang="en-US" sz="3400" dirty="0"/>
          </a:p>
        </p:txBody>
      </p:sp>
      <p:sp>
        <p:nvSpPr>
          <p:cNvPr id="3" name="code-card"/>
          <p:cNvSpPr/>
          <p:nvPr/>
        </p:nvSpPr>
        <p:spPr>
          <a:xfrm>
            <a:off x="548640" y="1417320"/>
            <a:ext cx="5760720" cy="3749040"/>
          </a:xfrm>
          <a:prstGeom prst="roundRect">
            <a:avLst>
              <a:gd name="adj" fmla="val 1463"/>
            </a:avLst>
          </a:prstGeom>
          <a:solidFill>
            <a:schemeClr val="tx1"/>
          </a:solidFill>
          <a:ln w="12700">
            <a:solidFill>
              <a:schemeClr val="tx1"/>
            </a:solidFill>
            <a:prstDash val="solid"/>
          </a:ln>
        </p:spPr>
      </p:sp>
      <p:sp>
        <p:nvSpPr>
          <p:cNvPr id="4" name="Text 2"/>
          <p:cNvSpPr txBox="1"/>
          <p:nvPr/>
        </p:nvSpPr>
        <p:spPr>
          <a:xfrm>
            <a:off x="731520" y="1554480"/>
            <a:ext cx="5394960" cy="347472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class Responsibility(BaseModel):</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role: str</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action: str        # "A", "C1", "( i )"</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level: int | None = None</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footnote_refs: list[int] = []</a:t>
            </a:r>
            <a:endParaRPr lang="en-US" sz="1300" dirty="0"/>
          </a:p>
          <a:p>
            <a:pPr indent="0" marL="0">
              <a:buNone/>
            </a:pP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class Node(BaseModel):</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id: str</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node_type: Literal["chapter", "process",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"task", "child_task",</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"threshold_variant"]</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children: list[str] = []</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references: list[str] = []</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responsibilities: list[Responsibility] = []</a:t>
            </a:r>
            <a:endParaRPr lang="en-US" sz="1300" dirty="0"/>
          </a:p>
        </p:txBody>
      </p:sp>
      <p:sp>
        <p:nvSpPr>
          <p:cNvPr id="5" name="num-1"/>
          <p:cNvSpPr/>
          <p:nvPr/>
        </p:nvSpPr>
        <p:spPr>
          <a:xfrm>
            <a:off x="6675120" y="146304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667512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7315200" y="1417320"/>
            <a:ext cx="4327855"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One entry per role and action</a:t>
            </a:r>
            <a:endParaRPr lang="en-US" sz="1700" dirty="0"/>
          </a:p>
        </p:txBody>
      </p:sp>
      <p:sp>
        <p:nvSpPr>
          <p:cNvPr id="8" name="Text 6"/>
          <p:cNvSpPr txBox="1"/>
          <p:nvPr/>
        </p:nvSpPr>
        <p:spPr>
          <a:xfrm>
            <a:off x="7315200" y="1801368"/>
            <a:ext cx="4327855"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role that checks and approves the same task is two entries, so a level can never belong to the wrong action</a:t>
            </a:r>
            <a:endParaRPr lang="en-US" sz="1400" dirty="0"/>
          </a:p>
        </p:txBody>
      </p:sp>
      <p:sp>
        <p:nvSpPr>
          <p:cNvPr id="9" name="num-2"/>
          <p:cNvSpPr/>
          <p:nvPr/>
        </p:nvSpPr>
        <p:spPr>
          <a:xfrm>
            <a:off x="6675120" y="274320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6675120" y="2743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7315200" y="2697480"/>
            <a:ext cx="4327855"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Five node types as a Literal</a:t>
            </a:r>
            <a:endParaRPr lang="en-US" sz="1700" dirty="0"/>
          </a:p>
        </p:txBody>
      </p:sp>
      <p:sp>
        <p:nvSpPr>
          <p:cNvPr id="12" name="Text 10"/>
          <p:cNvSpPr txBox="1"/>
          <p:nvPr/>
        </p:nvSpPr>
        <p:spPr>
          <a:xfrm>
            <a:off x="7315200" y="3081528"/>
            <a:ext cx="4327855"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'threshold_variant' level was discovered mid-project; the type system makes new levels an explicit change</a:t>
            </a:r>
            <a:endParaRPr lang="en-US" sz="1400" dirty="0"/>
          </a:p>
        </p:txBody>
      </p:sp>
      <p:sp>
        <p:nvSpPr>
          <p:cNvPr id="13" name="num-3"/>
          <p:cNvSpPr/>
          <p:nvPr/>
        </p:nvSpPr>
        <p:spPr>
          <a:xfrm>
            <a:off x="6675120" y="4023360"/>
            <a:ext cx="457200" cy="457200"/>
          </a:xfrm>
          <a:prstGeom prst="ellipse">
            <a:avLst/>
          </a:prstGeom>
          <a:solidFill>
            <a:schemeClr val="accent2"/>
          </a:solidFill>
          <a:ln w="12700">
            <a:solidFill>
              <a:schemeClr val="accent2"/>
            </a:solidFill>
            <a:prstDash val="solid"/>
          </a:ln>
        </p:spPr>
      </p:sp>
      <p:sp>
        <p:nvSpPr>
          <p:cNvPr id="14" name="Text 12"/>
          <p:cNvSpPr txBox="1"/>
          <p:nvPr/>
        </p:nvSpPr>
        <p:spPr>
          <a:xfrm>
            <a:off x="6675120" y="4023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7315200" y="3977640"/>
            <a:ext cx="4327855"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Reference data kept separate</a:t>
            </a:r>
            <a:endParaRPr lang="en-US" sz="1700" dirty="0"/>
          </a:p>
        </p:txBody>
      </p:sp>
      <p:sp>
        <p:nvSpPr>
          <p:cNvPr id="16" name="Text 14"/>
          <p:cNvSpPr txBox="1"/>
          <p:nvPr/>
        </p:nvSpPr>
        <p:spPr>
          <a:xfrm>
            <a:off x="7315200" y="4361688"/>
            <a:ext cx="4327855"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AuthorityCode and Footnote live apart; tasks point to them. v1 drifted because meanings were duplicated</a:t>
            </a:r>
            <a:endParaRPr lang="en-US" sz="1400" dirty="0"/>
          </a:p>
        </p:txBody>
      </p:sp>
      <p:sp>
        <p:nvSpPr>
          <p:cNvPr id="17" name="Text 15"/>
          <p:cNvSpPr txBox="1"/>
          <p:nvPr/>
        </p:nvSpPr>
        <p:spPr>
          <a:xfrm>
            <a:off x="548640" y="5440680"/>
            <a:ext cx="11094415" cy="5486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Pydantic validates at the boundary: a malformed node fails at build time, not inside an answer.</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graph: who is responsible for what</a:t>
            </a:r>
            <a:endParaRPr lang="en-US" sz="3400" dirty="0"/>
          </a:p>
        </p:txBody>
      </p:sp>
      <p:sp>
        <p:nvSpPr>
          <p:cNvPr id="3" name="role-node"/>
          <p:cNvSpPr/>
          <p:nvPr/>
        </p:nvSpPr>
        <p:spPr>
          <a:xfrm>
            <a:off x="731520" y="1645920"/>
            <a:ext cx="1828800" cy="1828800"/>
          </a:xfrm>
          <a:prstGeom prst="ellipse">
            <a:avLst/>
          </a:prstGeom>
          <a:solidFill>
            <a:schemeClr val="accent2"/>
          </a:solidFill>
          <a:ln w="12700">
            <a:solidFill>
              <a:schemeClr val="accent2"/>
            </a:solidFill>
            <a:prstDash val="solid"/>
          </a:ln>
        </p:spPr>
      </p:sp>
      <p:sp>
        <p:nvSpPr>
          <p:cNvPr id="4" name="Text 2"/>
          <p:cNvSpPr txBox="1"/>
          <p:nvPr/>
        </p:nvSpPr>
        <p:spPr>
          <a:xfrm>
            <a:off x="731520" y="1645920"/>
            <a:ext cx="1828800" cy="18288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Role</a:t>
            </a:r>
            <a:endParaRPr lang="en-US" sz="1800" dirty="0"/>
          </a:p>
          <a:p>
            <a:pPr algn="ctr" indent="0" marL="0">
              <a:buNone/>
            </a:pPr>
            <a:r>
              <a:rPr lang="en-US" sz="1800" b="1" dirty="0">
                <a:solidFill>
                  <a:schemeClr val="bg1"/>
                </a:solidFill>
                <a:latin typeface="Calibri" pitchFamily="34" charset="0"/>
                <a:ea typeface="Calibri" pitchFamily="34" charset="-122"/>
                <a:cs typeface="Calibri" pitchFamily="34" charset="-120"/>
              </a:rPr>
              <a:t>RDG</a:t>
            </a:r>
            <a:endParaRPr lang="en-US" sz="1800" dirty="0"/>
          </a:p>
        </p:txBody>
      </p:sp>
      <p:sp>
        <p:nvSpPr>
          <p:cNvPr id="5" name="task-node"/>
          <p:cNvSpPr/>
          <p:nvPr/>
        </p:nvSpPr>
        <p:spPr>
          <a:xfrm>
            <a:off x="4480560" y="1874520"/>
            <a:ext cx="2103120" cy="1371600"/>
          </a:xfrm>
          <a:prstGeom prst="roundRect">
            <a:avLst>
              <a:gd name="adj" fmla="val 5333"/>
            </a:avLst>
          </a:prstGeom>
          <a:solidFill>
            <a:schemeClr val="accent1"/>
          </a:solidFill>
          <a:ln w="12700">
            <a:solidFill>
              <a:schemeClr val="accent1"/>
            </a:solidFill>
            <a:prstDash val="solid"/>
          </a:ln>
          <a:effectLst>
            <a:outerShdw sx="100000" sy="100000" kx="0" ky="0" algn="bl" rotWithShape="0" blurRad="101600" dist="25400" dir="5400000">
              <a:srgbClr val="1B2A28">
                <a:alpha val="12000"/>
              </a:srgbClr>
            </a:outerShdw>
          </a:effectLst>
        </p:spPr>
      </p:sp>
      <p:sp>
        <p:nvSpPr>
          <p:cNvPr id="6" name="Text 4"/>
          <p:cNvSpPr txBox="1"/>
          <p:nvPr/>
        </p:nvSpPr>
        <p:spPr>
          <a:xfrm>
            <a:off x="4572000" y="1920240"/>
            <a:ext cx="1920240" cy="1280160"/>
          </a:xfrm>
          <a:prstGeom prst="rect">
            <a:avLst/>
          </a:prstGeom>
          <a:noFill/>
          <a:ln/>
        </p:spPr>
        <p:txBody>
          <a:bodyPr wrap="square" lIns="0" tIns="0" rIns="0" bIns="0" rtlCol="0" anchor="ctr"/>
          <a:lstStyle/>
          <a:p>
            <a:pPr algn="ctr" indent="0" marL="0">
              <a:buNone/>
            </a:pPr>
            <a:r>
              <a:rPr lang="en-US" sz="1500" b="1" dirty="0">
                <a:solidFill>
                  <a:schemeClr val="tx2"/>
                </a:solidFill>
                <a:latin typeface="Calibri" pitchFamily="34" charset="0"/>
                <a:ea typeface="Calibri" pitchFamily="34" charset="-122"/>
                <a:cs typeface="Calibri" pitchFamily="34" charset="-120"/>
              </a:rPr>
              <a:t>Task 2.126</a:t>
            </a:r>
            <a:endParaRPr lang="en-US" sz="1500" dirty="0"/>
          </a:p>
          <a:p>
            <a:pPr algn="ctr" indent="0" marL="0">
              <a:buNone/>
            </a:pPr>
            <a:r>
              <a:rPr lang="en-US" sz="1500" b="1" dirty="0">
                <a:solidFill>
                  <a:schemeClr val="tx2"/>
                </a:solidFill>
                <a:latin typeface="Calibri" pitchFamily="34" charset="0"/>
                <a:ea typeface="Calibri" pitchFamily="34" charset="-122"/>
                <a:cs typeface="Calibri" pitchFamily="34" charset="-120"/>
              </a:rPr>
              <a:t>Quarterly Mission program</a:t>
            </a:r>
            <a:endParaRPr lang="en-US" sz="1500" dirty="0"/>
          </a:p>
        </p:txBody>
      </p:sp>
      <p:sp>
        <p:nvSpPr>
          <p:cNvPr id="7" name="arrow"/>
          <p:cNvSpPr/>
          <p:nvPr/>
        </p:nvSpPr>
        <p:spPr>
          <a:xfrm>
            <a:off x="2606040" y="2560320"/>
            <a:ext cx="1828800" cy="0"/>
          </a:xfrm>
          <a:prstGeom prst="line">
            <a:avLst/>
          </a:prstGeom>
          <a:noFill/>
          <a:ln w="25400">
            <a:solidFill>
              <a:srgbClr val="0F3B36"/>
            </a:solidFill>
            <a:prstDash val="solid"/>
            <a:tailEnd type="triangle"/>
          </a:ln>
        </p:spPr>
      </p:sp>
      <p:sp>
        <p:nvSpPr>
          <p:cNvPr id="8" name="Text 6"/>
          <p:cNvSpPr txBox="1"/>
          <p:nvPr/>
        </p:nvSpPr>
        <p:spPr>
          <a:xfrm>
            <a:off x="2560320" y="2057400"/>
            <a:ext cx="1920240" cy="320040"/>
          </a:xfrm>
          <a:prstGeom prst="rect">
            <a:avLst/>
          </a:prstGeom>
          <a:noFill/>
          <a:ln/>
        </p:spPr>
        <p:txBody>
          <a:bodyPr wrap="square" lIns="0" tIns="0" rIns="0" bIns="0" rtlCol="0" anchor="t"/>
          <a:lstStyle/>
          <a:p>
            <a:pPr algn="ctr" indent="0" marL="0">
              <a:buNone/>
            </a:pPr>
            <a:r>
              <a:rPr lang="en-US" sz="1300" b="1" dirty="0">
                <a:solidFill>
                  <a:schemeClr val="tx2"/>
                </a:solidFill>
                <a:latin typeface="Calibri" pitchFamily="34" charset="0"/>
                <a:ea typeface="Calibri" pitchFamily="34" charset="-122"/>
                <a:cs typeface="Calibri" pitchFamily="34" charset="-120"/>
              </a:rPr>
              <a:t>responsible_for</a:t>
            </a:r>
            <a:endParaRPr lang="en-US" sz="1300" dirty="0"/>
          </a:p>
        </p:txBody>
      </p:sp>
      <p:sp>
        <p:nvSpPr>
          <p:cNvPr id="9" name="Text 7"/>
          <p:cNvSpPr txBox="1"/>
          <p:nvPr/>
        </p:nvSpPr>
        <p:spPr>
          <a:xfrm>
            <a:off x="2560320" y="2651760"/>
            <a:ext cx="192024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action A · level · footnotes</a:t>
            </a:r>
            <a:endParaRPr lang="en-US" sz="1200" dirty="0"/>
          </a:p>
        </p:txBody>
      </p:sp>
      <p:sp>
        <p:nvSpPr>
          <p:cNvPr id="10" name="code-card"/>
          <p:cNvSpPr/>
          <p:nvPr/>
        </p:nvSpPr>
        <p:spPr>
          <a:xfrm>
            <a:off x="548640" y="3840480"/>
            <a:ext cx="6035040" cy="1417320"/>
          </a:xfrm>
          <a:prstGeom prst="roundRect">
            <a:avLst>
              <a:gd name="adj" fmla="val 3871"/>
            </a:avLst>
          </a:prstGeom>
          <a:solidFill>
            <a:schemeClr val="tx1"/>
          </a:solidFill>
          <a:ln w="12700">
            <a:solidFill>
              <a:schemeClr val="tx1"/>
            </a:solidFill>
            <a:prstDash val="solid"/>
          </a:ln>
        </p:spPr>
      </p:sp>
      <p:sp>
        <p:nvSpPr>
          <p:cNvPr id="11" name="Text 9"/>
          <p:cNvSpPr txBox="1"/>
          <p:nvPr/>
        </p:nvSpPr>
        <p:spPr>
          <a:xfrm>
            <a:off x="731520" y="3977640"/>
            <a:ext cx="5669280" cy="114300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def responsible_roles(graph, task_id,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action=None):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for role, _, d in graph.in_edges(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task_id, data=True):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  # keep edge_type == responsible_for</a:t>
            </a:r>
            <a:endParaRPr lang="en-US" sz="1200" dirty="0"/>
          </a:p>
        </p:txBody>
      </p:sp>
      <p:sp>
        <p:nvSpPr>
          <p:cNvPr id="12" name="edge-stat-0"/>
          <p:cNvSpPr/>
          <p:nvPr/>
        </p:nvSpPr>
        <p:spPr>
          <a:xfrm>
            <a:off x="6949440" y="1417320"/>
            <a:ext cx="4693615"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3" name="Text 11"/>
          <p:cNvSpPr txBox="1"/>
          <p:nvPr/>
        </p:nvSpPr>
        <p:spPr>
          <a:xfrm>
            <a:off x="7178040" y="1508760"/>
            <a:ext cx="146304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1,776</a:t>
            </a:r>
            <a:endParaRPr lang="en-US" sz="3200" dirty="0"/>
          </a:p>
        </p:txBody>
      </p:sp>
      <p:sp>
        <p:nvSpPr>
          <p:cNvPr id="14" name="Text 12"/>
          <p:cNvSpPr txBox="1"/>
          <p:nvPr/>
        </p:nvSpPr>
        <p:spPr>
          <a:xfrm>
            <a:off x="8686800" y="1581912"/>
            <a:ext cx="2773375" cy="3200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responsible_for</a:t>
            </a:r>
            <a:endParaRPr lang="en-US" sz="1500" dirty="0"/>
          </a:p>
        </p:txBody>
      </p:sp>
      <p:sp>
        <p:nvSpPr>
          <p:cNvPr id="15" name="Text 13"/>
          <p:cNvSpPr txBox="1"/>
          <p:nvPr/>
        </p:nvSpPr>
        <p:spPr>
          <a:xfrm>
            <a:off x="8686800" y="1920240"/>
            <a:ext cx="2773375" cy="59436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role to task, carrying action, level, footnotes</a:t>
            </a:r>
            <a:endParaRPr lang="en-US" sz="1200" dirty="0"/>
          </a:p>
        </p:txBody>
      </p:sp>
      <p:sp>
        <p:nvSpPr>
          <p:cNvPr id="16" name="edge-stat-1"/>
          <p:cNvSpPr/>
          <p:nvPr/>
        </p:nvSpPr>
        <p:spPr>
          <a:xfrm>
            <a:off x="6949440" y="2788920"/>
            <a:ext cx="4693615"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7" name="Text 15"/>
          <p:cNvSpPr txBox="1"/>
          <p:nvPr/>
        </p:nvSpPr>
        <p:spPr>
          <a:xfrm>
            <a:off x="7178040" y="2880360"/>
            <a:ext cx="146304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322</a:t>
            </a:r>
            <a:endParaRPr lang="en-US" sz="3200" dirty="0"/>
          </a:p>
        </p:txBody>
      </p:sp>
      <p:sp>
        <p:nvSpPr>
          <p:cNvPr id="18" name="Text 16"/>
          <p:cNvSpPr txBox="1"/>
          <p:nvPr/>
        </p:nvSpPr>
        <p:spPr>
          <a:xfrm>
            <a:off x="8686800" y="2953512"/>
            <a:ext cx="2773375" cy="3200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contains</a:t>
            </a:r>
            <a:endParaRPr lang="en-US" sz="1500" dirty="0"/>
          </a:p>
        </p:txBody>
      </p:sp>
      <p:sp>
        <p:nvSpPr>
          <p:cNvPr id="19" name="Text 17"/>
          <p:cNvSpPr txBox="1"/>
          <p:nvPr/>
        </p:nvSpPr>
        <p:spPr>
          <a:xfrm>
            <a:off x="8686800" y="3291840"/>
            <a:ext cx="2773375" cy="59436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chapter, process, task, child task hierarchy</a:t>
            </a:r>
            <a:endParaRPr lang="en-US" sz="1200" dirty="0"/>
          </a:p>
        </p:txBody>
      </p:sp>
      <p:sp>
        <p:nvSpPr>
          <p:cNvPr id="20" name="edge-stat-2"/>
          <p:cNvSpPr/>
          <p:nvPr/>
        </p:nvSpPr>
        <p:spPr>
          <a:xfrm>
            <a:off x="6949440" y="4160520"/>
            <a:ext cx="4693615"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1" name="Text 19"/>
          <p:cNvSpPr txBox="1"/>
          <p:nvPr/>
        </p:nvSpPr>
        <p:spPr>
          <a:xfrm>
            <a:off x="7178040" y="4251960"/>
            <a:ext cx="1463040" cy="64008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10</a:t>
            </a:r>
            <a:endParaRPr lang="en-US" sz="3200" dirty="0"/>
          </a:p>
        </p:txBody>
      </p:sp>
      <p:sp>
        <p:nvSpPr>
          <p:cNvPr id="22" name="Text 20"/>
          <p:cNvSpPr txBox="1"/>
          <p:nvPr/>
        </p:nvSpPr>
        <p:spPr>
          <a:xfrm>
            <a:off x="8686800" y="4325112"/>
            <a:ext cx="2773375" cy="3200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references</a:t>
            </a:r>
            <a:endParaRPr lang="en-US" sz="1500" dirty="0"/>
          </a:p>
        </p:txBody>
      </p:sp>
      <p:sp>
        <p:nvSpPr>
          <p:cNvPr id="23" name="Text 21"/>
          <p:cNvSpPr txBox="1"/>
          <p:nvPr/>
        </p:nvSpPr>
        <p:spPr>
          <a:xfrm>
            <a:off x="8686800" y="4663440"/>
            <a:ext cx="2773375" cy="59436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"See 2.120" redirects; 4 more point outside the document</a:t>
            </a:r>
            <a:endParaRPr lang="en-US" sz="1200" dirty="0"/>
          </a:p>
        </p:txBody>
      </p:sp>
      <p:sp>
        <p:nvSpPr>
          <p:cNvPr id="24" name="Text 22"/>
          <p:cNvSpPr txBox="1"/>
          <p:nvPr/>
        </p:nvSpPr>
        <p:spPr>
          <a:xfrm>
            <a:off x="548640" y="5486400"/>
            <a:ext cx="11094415" cy="5486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"Who approves X" and "who is informed on X" are the same lookup with a different action filter.</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Retrieval: three outcomes, never a guess</a:t>
            </a:r>
            <a:endParaRPr lang="en-US" sz="3400" dirty="0"/>
          </a:p>
        </p:txBody>
      </p:sp>
      <p:sp>
        <p:nvSpPr>
          <p:cNvPr id="3" name="pill"/>
          <p:cNvSpPr/>
          <p:nvPr/>
        </p:nvSpPr>
        <p:spPr>
          <a:xfrm>
            <a:off x="2011680" y="1371600"/>
            <a:ext cx="8168335" cy="502920"/>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2011680" y="1371600"/>
            <a:ext cx="8168335"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query contains an id-shaped string?   \d+(\.\d+){1,3}(\.[a-z])?</a:t>
            </a:r>
            <a:endParaRPr lang="en-US" sz="1500" dirty="0"/>
          </a:p>
        </p:txBody>
      </p:sp>
      <p:sp>
        <p:nvSpPr>
          <p:cNvPr id="5" name="arrow"/>
          <p:cNvSpPr/>
          <p:nvPr/>
        </p:nvSpPr>
        <p:spPr>
          <a:xfrm>
            <a:off x="2308860" y="1920240"/>
            <a:ext cx="0" cy="301752"/>
          </a:xfrm>
          <a:prstGeom prst="line">
            <a:avLst/>
          </a:prstGeom>
          <a:noFill/>
          <a:ln w="25400">
            <a:solidFill>
              <a:srgbClr val="5B6B69"/>
            </a:solidFill>
            <a:prstDash val="solid"/>
            <a:tailEnd type="triangle"/>
          </a:ln>
        </p:spPr>
      </p:sp>
      <p:sp>
        <p:nvSpPr>
          <p:cNvPr id="6" name="outcome-0"/>
          <p:cNvSpPr/>
          <p:nvPr/>
        </p:nvSpPr>
        <p:spPr>
          <a:xfrm>
            <a:off x="548640" y="2240280"/>
            <a:ext cx="352044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7" name="Text 5"/>
          <p:cNvSpPr txBox="1"/>
          <p:nvPr/>
        </p:nvSpPr>
        <p:spPr>
          <a:xfrm>
            <a:off x="777240" y="2423160"/>
            <a:ext cx="3063240" cy="411480"/>
          </a:xfrm>
          <a:prstGeom prst="rect">
            <a:avLst/>
          </a:prstGeom>
          <a:noFill/>
          <a:ln/>
        </p:spPr>
        <p:txBody>
          <a:bodyPr wrap="square" lIns="0" tIns="0" rIns="0" bIns="0" rtlCol="0" anchor="t"/>
          <a:lstStyle/>
          <a:p>
            <a:pPr indent="0" marL="0">
              <a:buNone/>
            </a:pPr>
            <a:r>
              <a:rPr lang="en-US" sz="2200" b="1" dirty="0">
                <a:solidFill>
                  <a:schemeClr val="accent2"/>
                </a:solidFill>
                <a:latin typeface="Courier New" pitchFamily="34" charset="0"/>
                <a:ea typeface="Courier New" pitchFamily="34" charset="-122"/>
                <a:cs typeface="Courier New" pitchFamily="34" charset="-120"/>
              </a:rPr>
              <a:t>id</a:t>
            </a:r>
            <a:endParaRPr lang="en-US" sz="2200" dirty="0"/>
          </a:p>
        </p:txBody>
      </p:sp>
      <p:sp>
        <p:nvSpPr>
          <p:cNvPr id="8" name="Text 6"/>
          <p:cNvSpPr txBox="1"/>
          <p:nvPr/>
        </p:nvSpPr>
        <p:spPr>
          <a:xfrm>
            <a:off x="777240" y="2971800"/>
            <a:ext cx="3063240" cy="685800"/>
          </a:xfrm>
          <a:prstGeom prst="rect">
            <a:avLst/>
          </a:prstGeom>
          <a:noFill/>
          <a:ln/>
        </p:spPr>
        <p:txBody>
          <a:bodyPr wrap="square" lIns="0" tIns="0" rIns="0" bIns="0" rtlCol="0" anchor="t"/>
          <a:lstStyle/>
          <a:p>
            <a:pPr indent="0" marL="0">
              <a:buNone/>
            </a:pPr>
            <a:r>
              <a:rPr lang="en-US" sz="1500" b="1" dirty="0">
                <a:solidFill>
                  <a:schemeClr val="accent4"/>
                </a:solidFill>
                <a:latin typeface="Calibri" pitchFamily="34" charset="0"/>
                <a:ea typeface="Calibri" pitchFamily="34" charset="-122"/>
                <a:cs typeface="Calibri" pitchFamily="34" charset="-120"/>
              </a:rPr>
              <a:t>id-shaped AND exists in the DAM</a:t>
            </a:r>
            <a:endParaRPr lang="en-US" sz="1500" dirty="0"/>
          </a:p>
        </p:txBody>
      </p:sp>
      <p:sp>
        <p:nvSpPr>
          <p:cNvPr id="9" name="Text 7"/>
          <p:cNvSpPr txBox="1"/>
          <p:nvPr/>
        </p:nvSpPr>
        <p:spPr>
          <a:xfrm>
            <a:off x="777240" y="3657600"/>
            <a:ext cx="3063240" cy="10058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Certain lookup, score 1.0</a:t>
            </a:r>
            <a:endParaRPr lang="en-US" sz="1700" dirty="0"/>
          </a:p>
        </p:txBody>
      </p:sp>
      <p:sp>
        <p:nvSpPr>
          <p:cNvPr id="10" name="arrow"/>
          <p:cNvSpPr/>
          <p:nvPr/>
        </p:nvSpPr>
        <p:spPr>
          <a:xfrm>
            <a:off x="6080760" y="1920240"/>
            <a:ext cx="0" cy="301752"/>
          </a:xfrm>
          <a:prstGeom prst="line">
            <a:avLst/>
          </a:prstGeom>
          <a:noFill/>
          <a:ln w="25400">
            <a:solidFill>
              <a:srgbClr val="5B6B69"/>
            </a:solidFill>
            <a:prstDash val="solid"/>
            <a:tailEnd type="triangle"/>
          </a:ln>
        </p:spPr>
      </p:sp>
      <p:sp>
        <p:nvSpPr>
          <p:cNvPr id="11" name="outcome-1"/>
          <p:cNvSpPr/>
          <p:nvPr/>
        </p:nvSpPr>
        <p:spPr>
          <a:xfrm>
            <a:off x="4320540" y="2240280"/>
            <a:ext cx="3520440" cy="2468880"/>
          </a:xfrm>
          <a:prstGeom prst="roundRect">
            <a:avLst>
              <a:gd name="adj" fmla="val 2963"/>
            </a:avLst>
          </a:prstGeom>
          <a:solidFill>
            <a:schemeClr val="accent6"/>
          </a:solidFill>
          <a:ln w="12700">
            <a:solidFill>
              <a:schemeClr val="accent6"/>
            </a:solidFill>
            <a:prstDash val="solid"/>
          </a:ln>
          <a:effectLst>
            <a:outerShdw sx="100000" sy="100000" kx="0" ky="0" algn="bl" rotWithShape="0" blurRad="101600" dist="25400" dir="5400000">
              <a:srgbClr val="1B2A28">
                <a:alpha val="12000"/>
              </a:srgbClr>
            </a:outerShdw>
          </a:effectLst>
        </p:spPr>
      </p:sp>
      <p:sp>
        <p:nvSpPr>
          <p:cNvPr id="12" name="Text 10"/>
          <p:cNvSpPr txBox="1"/>
          <p:nvPr/>
        </p:nvSpPr>
        <p:spPr>
          <a:xfrm>
            <a:off x="4549140" y="2423160"/>
            <a:ext cx="3063240" cy="411480"/>
          </a:xfrm>
          <a:prstGeom prst="rect">
            <a:avLst/>
          </a:prstGeom>
          <a:noFill/>
          <a:ln/>
        </p:spPr>
        <p:txBody>
          <a:bodyPr wrap="square" lIns="0" tIns="0" rIns="0" bIns="0" rtlCol="0" anchor="t"/>
          <a:lstStyle/>
          <a:p>
            <a:pPr indent="0" marL="0">
              <a:buNone/>
            </a:pPr>
            <a:r>
              <a:rPr lang="en-US" sz="2200" b="1" dirty="0">
                <a:solidFill>
                  <a:schemeClr val="accent2"/>
                </a:solidFill>
                <a:latin typeface="Courier New" pitchFamily="34" charset="0"/>
                <a:ea typeface="Courier New" pitchFamily="34" charset="-122"/>
                <a:cs typeface="Courier New" pitchFamily="34" charset="-120"/>
              </a:rPr>
              <a:t>invalid_id</a:t>
            </a:r>
            <a:endParaRPr lang="en-US" sz="2200" dirty="0"/>
          </a:p>
        </p:txBody>
      </p:sp>
      <p:sp>
        <p:nvSpPr>
          <p:cNvPr id="13" name="Text 11"/>
          <p:cNvSpPr txBox="1"/>
          <p:nvPr/>
        </p:nvSpPr>
        <p:spPr>
          <a:xfrm>
            <a:off x="4549140" y="2971800"/>
            <a:ext cx="3063240" cy="685800"/>
          </a:xfrm>
          <a:prstGeom prst="rect">
            <a:avLst/>
          </a:prstGeom>
          <a:noFill/>
          <a:ln/>
        </p:spPr>
        <p:txBody>
          <a:bodyPr wrap="square" lIns="0" tIns="0" rIns="0" bIns="0" rtlCol="0" anchor="t"/>
          <a:lstStyle/>
          <a:p>
            <a:pPr indent="0" marL="0">
              <a:buNone/>
            </a:pPr>
            <a:r>
              <a:rPr lang="en-US" sz="1500" b="1" dirty="0">
                <a:solidFill>
                  <a:schemeClr val="accent4"/>
                </a:solidFill>
                <a:latin typeface="Calibri" pitchFamily="34" charset="0"/>
                <a:ea typeface="Calibri" pitchFamily="34" charset="-122"/>
                <a:cs typeface="Calibri" pitchFamily="34" charset="-120"/>
              </a:rPr>
              <a:t>id-shaped but not in the DAM (e.g. 3.999)</a:t>
            </a:r>
            <a:endParaRPr lang="en-US" sz="1500" dirty="0"/>
          </a:p>
        </p:txBody>
      </p:sp>
      <p:sp>
        <p:nvSpPr>
          <p:cNvPr id="14" name="Text 12"/>
          <p:cNvSpPr txBox="1"/>
          <p:nvPr/>
        </p:nvSpPr>
        <p:spPr>
          <a:xfrm>
            <a:off x="4549140" y="3657600"/>
            <a:ext cx="3063240" cy="10058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Say it doesn't exist; suggest real ids sharing the longest dotted prefix</a:t>
            </a:r>
            <a:endParaRPr lang="en-US" sz="1700" dirty="0"/>
          </a:p>
        </p:txBody>
      </p:sp>
      <p:sp>
        <p:nvSpPr>
          <p:cNvPr id="15" name="arrow"/>
          <p:cNvSpPr/>
          <p:nvPr/>
        </p:nvSpPr>
        <p:spPr>
          <a:xfrm>
            <a:off x="9852660" y="1920240"/>
            <a:ext cx="0" cy="301752"/>
          </a:xfrm>
          <a:prstGeom prst="line">
            <a:avLst/>
          </a:prstGeom>
          <a:noFill/>
          <a:ln w="25400">
            <a:solidFill>
              <a:srgbClr val="5B6B69"/>
            </a:solidFill>
            <a:prstDash val="solid"/>
            <a:tailEnd type="triangle"/>
          </a:ln>
        </p:spPr>
      </p:sp>
      <p:sp>
        <p:nvSpPr>
          <p:cNvPr id="16" name="outcome-2"/>
          <p:cNvSpPr/>
          <p:nvPr/>
        </p:nvSpPr>
        <p:spPr>
          <a:xfrm>
            <a:off x="8092440" y="2240280"/>
            <a:ext cx="352044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7" name="Text 15"/>
          <p:cNvSpPr txBox="1"/>
          <p:nvPr/>
        </p:nvSpPr>
        <p:spPr>
          <a:xfrm>
            <a:off x="8321040" y="2423160"/>
            <a:ext cx="3063240" cy="411480"/>
          </a:xfrm>
          <a:prstGeom prst="rect">
            <a:avLst/>
          </a:prstGeom>
          <a:noFill/>
          <a:ln/>
        </p:spPr>
        <p:txBody>
          <a:bodyPr wrap="square" lIns="0" tIns="0" rIns="0" bIns="0" rtlCol="0" anchor="t"/>
          <a:lstStyle/>
          <a:p>
            <a:pPr indent="0" marL="0">
              <a:buNone/>
            </a:pPr>
            <a:r>
              <a:rPr lang="en-US" sz="2200" b="1" dirty="0">
                <a:solidFill>
                  <a:schemeClr val="accent2"/>
                </a:solidFill>
                <a:latin typeface="Courier New" pitchFamily="34" charset="0"/>
                <a:ea typeface="Courier New" pitchFamily="34" charset="-122"/>
                <a:cs typeface="Courier New" pitchFamily="34" charset="-120"/>
              </a:rPr>
              <a:t>text_search</a:t>
            </a:r>
            <a:endParaRPr lang="en-US" sz="2200" dirty="0"/>
          </a:p>
        </p:txBody>
      </p:sp>
      <p:sp>
        <p:nvSpPr>
          <p:cNvPr id="18" name="Text 16"/>
          <p:cNvSpPr txBox="1"/>
          <p:nvPr/>
        </p:nvSpPr>
        <p:spPr>
          <a:xfrm>
            <a:off x="8321040" y="2971800"/>
            <a:ext cx="3063240" cy="685800"/>
          </a:xfrm>
          <a:prstGeom prst="rect">
            <a:avLst/>
          </a:prstGeom>
          <a:noFill/>
          <a:ln/>
        </p:spPr>
        <p:txBody>
          <a:bodyPr wrap="square" lIns="0" tIns="0" rIns="0" bIns="0" rtlCol="0" anchor="t"/>
          <a:lstStyle/>
          <a:p>
            <a:pPr indent="0" marL="0">
              <a:buNone/>
            </a:pPr>
            <a:r>
              <a:rPr lang="en-US" sz="1500" b="1" dirty="0">
                <a:solidFill>
                  <a:schemeClr val="accent4"/>
                </a:solidFill>
                <a:latin typeface="Calibri" pitchFamily="34" charset="0"/>
                <a:ea typeface="Calibri" pitchFamily="34" charset="-122"/>
                <a:cs typeface="Calibri" pitchFamily="34" charset="-120"/>
              </a:rPr>
              <a:t>no id-shaped text at all</a:t>
            </a:r>
            <a:endParaRPr lang="en-US" sz="1500" dirty="0"/>
          </a:p>
        </p:txBody>
      </p:sp>
      <p:sp>
        <p:nvSpPr>
          <p:cNvPr id="19" name="Text 17"/>
          <p:cNvSpPr txBox="1"/>
          <p:nvPr/>
        </p:nvSpPr>
        <p:spPr>
          <a:xfrm>
            <a:off x="8321040" y="3657600"/>
            <a:ext cx="3063240" cy="10058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TF-IDF cosine over node titles, top 5</a:t>
            </a:r>
            <a:endParaRPr lang="en-US" sz="1700" dirty="0"/>
          </a:p>
        </p:txBody>
      </p:sp>
      <p:sp>
        <p:nvSpPr>
          <p:cNvPr id="20" name="why-banner"/>
          <p:cNvSpPr/>
          <p:nvPr/>
        </p:nvSpPr>
        <p:spPr>
          <a:xfrm>
            <a:off x="548640" y="4937760"/>
            <a:ext cx="11094415" cy="1097280"/>
          </a:xfrm>
          <a:prstGeom prst="roundRect">
            <a:avLst>
              <a:gd name="adj" fmla="val 6667"/>
            </a:avLst>
          </a:prstGeom>
          <a:solidFill>
            <a:schemeClr val="tx2"/>
          </a:solidFill>
          <a:ln w="12700">
            <a:solidFill>
              <a:schemeClr val="tx2"/>
            </a:solidFill>
            <a:prstDash val="solid"/>
          </a:ln>
        </p:spPr>
      </p:sp>
      <p:sp>
        <p:nvSpPr>
          <p:cNvPr id="21" name="Text 19"/>
          <p:cNvSpPr txBox="1"/>
          <p:nvPr/>
        </p:nvSpPr>
        <p:spPr>
          <a:xfrm>
            <a:off x="868680" y="4937760"/>
            <a:ext cx="10454335" cy="109728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Why invalid_id is its own branch: </a:t>
            </a:r>
            <a:pPr indent="0" marL="0">
              <a:buNone/>
            </a:pPr>
            <a:r>
              <a:rPr lang="en-US" sz="1600" dirty="0">
                <a:solidFill>
                  <a:schemeClr val="bg1"/>
                </a:solidFill>
                <a:latin typeface="Calibri" pitchFamily="34" charset="0"/>
                <a:ea typeface="Calibri" pitchFamily="34" charset="-122"/>
                <a:cs typeface="Calibri" pitchFamily="34" charset="-120"/>
              </a:rPr>
              <a:t>falling through to text search would let leftover words ("who", "approves") confidently match an unrelated real task, the exact wrong behaviour for a named, wrong code.</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TF-IDF over embeddings: the trade-off</a:t>
            </a:r>
            <a:endParaRPr lang="en-US" sz="3400" dirty="0"/>
          </a:p>
        </p:txBody>
      </p:sp>
      <p:sp>
        <p:nvSpPr>
          <p:cNvPr id="3" name="tfidf-card"/>
          <p:cNvSpPr/>
          <p:nvPr/>
        </p:nvSpPr>
        <p:spPr>
          <a:xfrm>
            <a:off x="548640" y="1417320"/>
            <a:ext cx="5394960" cy="3383280"/>
          </a:xfrm>
          <a:prstGeom prst="roundRect">
            <a:avLst>
              <a:gd name="adj" fmla="val 2162"/>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868680" y="1645920"/>
            <a:ext cx="475488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TF-IDF (chosen)</a:t>
            </a:r>
            <a:endParaRPr lang="en-US" sz="2200" dirty="0"/>
          </a:p>
        </p:txBody>
      </p:sp>
      <p:sp>
        <p:nvSpPr>
          <p:cNvPr id="5" name="Text 3"/>
          <p:cNvSpPr txBox="1"/>
          <p:nvPr/>
        </p:nvSpPr>
        <p:spPr>
          <a:xfrm>
            <a:off x="868680" y="2240280"/>
            <a:ext cx="4754880" cy="24688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latin typeface="Calibri" pitchFamily="34" charset="0"/>
                <a:ea typeface="Calibri" pitchFamily="34" charset="-122"/>
                <a:cs typeface="Calibri" pitchFamily="34" charset="-120"/>
              </a:rPr>
              <a:t>Installs in about 17 seconds, no GPU</a:t>
            </a:r>
            <a:endParaRPr lang="en-US" sz="1800" dirty="0"/>
          </a:p>
          <a:p>
            <a:pPr marL="342900" indent="-342900">
              <a:spcAft>
                <a:spcPts val="800"/>
              </a:spcAft>
              <a:buSzPct val="100000"/>
              <a:buChar char="•"/>
            </a:pPr>
            <a:r>
              <a:rPr lang="en-US" sz="1800" dirty="0">
                <a:solidFill>
                  <a:schemeClr val="bg1"/>
                </a:solidFill>
                <a:latin typeface="Calibri" pitchFamily="34" charset="0"/>
                <a:ea typeface="Calibri" pitchFamily="34" charset="-122"/>
                <a:cs typeface="Calibri" pitchFamily="34" charset="-120"/>
              </a:rPr>
              <a:t>Every score is explainable: shared words</a:t>
            </a:r>
            <a:endParaRPr lang="en-US" sz="1800" dirty="0"/>
          </a:p>
          <a:p>
            <a:pPr marL="342900" indent="-342900">
              <a:spcAft>
                <a:spcPts val="800"/>
              </a:spcAft>
              <a:buSzPct val="100000"/>
              <a:buChar char="•"/>
            </a:pPr>
            <a:r>
              <a:rPr lang="en-US" sz="1800" dirty="0">
                <a:solidFill>
                  <a:schemeClr val="bg1"/>
                </a:solidFill>
                <a:latin typeface="Calibri" pitchFamily="34" charset="0"/>
                <a:ea typeface="Calibri" pitchFamily="34" charset="-122"/>
                <a:cs typeface="Calibri" pitchFamily="34" charset="-120"/>
              </a:rPr>
              <a:t>Fits short, keyword-rich activity titles</a:t>
            </a:r>
            <a:endParaRPr lang="en-US" sz="1800" dirty="0"/>
          </a:p>
          <a:p>
            <a:pPr marL="342900" indent="-342900">
              <a:buSzPct val="100000"/>
              <a:buChar char="•"/>
            </a:pPr>
            <a:r>
              <a:rPr lang="en-US" sz="1800" dirty="0">
                <a:solidFill>
                  <a:schemeClr val="bg1"/>
                </a:solidFill>
                <a:latin typeface="Calibri" pitchFamily="34" charset="0"/>
                <a:ea typeface="Calibri" pitchFamily="34" charset="-122"/>
                <a:cs typeface="Calibri" pitchFamily="34" charset="-120"/>
              </a:rPr>
              <a:t>Cost: lexical only. "sign off on" does not match "Signature of"</a:t>
            </a:r>
            <a:endParaRPr lang="en-US" sz="1800" dirty="0"/>
          </a:p>
        </p:txBody>
      </p:sp>
      <p:sp>
        <p:nvSpPr>
          <p:cNvPr id="6" name="embed-card"/>
          <p:cNvSpPr/>
          <p:nvPr/>
        </p:nvSpPr>
        <p:spPr>
          <a:xfrm>
            <a:off x="6309360" y="1417320"/>
            <a:ext cx="5394960" cy="3383280"/>
          </a:xfrm>
          <a:prstGeom prst="roundRect">
            <a:avLst>
              <a:gd name="adj" fmla="val 2162"/>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7" name="Text 5"/>
          <p:cNvSpPr txBox="1"/>
          <p:nvPr/>
        </p:nvSpPr>
        <p:spPr>
          <a:xfrm>
            <a:off x="6629400" y="1645920"/>
            <a:ext cx="4754880" cy="41148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Pretrained embeddings (rejected)</a:t>
            </a:r>
            <a:endParaRPr lang="en-US" sz="2200" dirty="0"/>
          </a:p>
        </p:txBody>
      </p:sp>
      <p:sp>
        <p:nvSpPr>
          <p:cNvPr id="8" name="Text 6"/>
          <p:cNvSpPr txBox="1"/>
          <p:nvPr/>
        </p:nvSpPr>
        <p:spPr>
          <a:xfrm>
            <a:off x="6629400" y="2240280"/>
            <a:ext cx="4754880" cy="24688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Semantic matching is a real advantage</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PyTorch failed to install twice in the dev sandbox: a deployment-weight signal</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Scores are opaque; an auditor can't see why</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327 titles and no labeled query pairs: nothing to fine-tune on without overfitting</a:t>
            </a:r>
            <a:endParaRPr lang="en-US" sz="1800" dirty="0"/>
          </a:p>
        </p:txBody>
      </p:sp>
      <p:sp>
        <p:nvSpPr>
          <p:cNvPr id="9" name="code-card"/>
          <p:cNvSpPr/>
          <p:nvPr/>
        </p:nvSpPr>
        <p:spPr>
          <a:xfrm>
            <a:off x="548640" y="5029200"/>
            <a:ext cx="5852160" cy="868680"/>
          </a:xfrm>
          <a:prstGeom prst="roundRect">
            <a:avLst>
              <a:gd name="adj" fmla="val 6316"/>
            </a:avLst>
          </a:prstGeom>
          <a:solidFill>
            <a:schemeClr val="tx1"/>
          </a:solidFill>
          <a:ln w="12700">
            <a:solidFill>
              <a:schemeClr val="tx1"/>
            </a:solidFill>
            <a:prstDash val="solid"/>
          </a:ln>
        </p:spPr>
      </p:sp>
      <p:sp>
        <p:nvSpPr>
          <p:cNvPr id="10" name="Text 8"/>
          <p:cNvSpPr txBox="1"/>
          <p:nvPr/>
        </p:nvSpPr>
        <p:spPr>
          <a:xfrm>
            <a:off x="731520" y="5166360"/>
            <a:ext cx="5486400" cy="59436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TfidfVectorizer(stop_words="english",</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ngram_range=(1, 2))</a:t>
            </a:r>
            <a:endParaRPr lang="en-US" sz="1300" dirty="0"/>
          </a:p>
        </p:txBody>
      </p:sp>
      <p:sp>
        <p:nvSpPr>
          <p:cNvPr id="11" name="Text 9"/>
          <p:cNvSpPr txBox="1"/>
          <p:nvPr/>
        </p:nvSpPr>
        <p:spPr>
          <a:xfrm>
            <a:off x="6675120" y="5029200"/>
            <a:ext cx="4967935" cy="8686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Mitigating the lexical gap: </a:t>
            </a:r>
            <a:pPr indent="0" marL="0">
              <a:buNone/>
            </a:pPr>
            <a:r>
              <a:rPr lang="en-US" sz="1400" dirty="0">
                <a:solidFill>
                  <a:schemeClr val="tx2"/>
                </a:solidFill>
                <a:latin typeface="Calibri" pitchFamily="34" charset="0"/>
                <a:ea typeface="Calibri" pitchFamily="34" charset="-122"/>
                <a:cs typeface="Calibri" pitchFamily="34" charset="-120"/>
              </a:rPr>
              <a:t>intent keywords carry synonyms (sign off, endorse, authorize all mean approve) and typos are corrected before vectorizing.</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Typos: deterministic and conservative</a:t>
            </a:r>
            <a:endParaRPr lang="en-US" sz="3400" dirty="0"/>
          </a:p>
        </p:txBody>
      </p:sp>
      <p:sp>
        <p:nvSpPr>
          <p:cNvPr id="3" name="typo-before"/>
          <p:cNvSpPr/>
          <p:nvPr/>
        </p:nvSpPr>
        <p:spPr>
          <a:xfrm>
            <a:off x="548640" y="1371600"/>
            <a:ext cx="502920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777240" y="1371600"/>
            <a:ext cx="4572000" cy="1005840"/>
          </a:xfrm>
          <a:prstGeom prst="rect">
            <a:avLst/>
          </a:prstGeom>
          <a:noFill/>
          <a:ln/>
        </p:spPr>
        <p:txBody>
          <a:bodyPr wrap="square" lIns="0" tIns="0" rIns="0" bIns="0" rtlCol="0" anchor="ctr"/>
          <a:lstStyle/>
          <a:p>
            <a:pPr indent="0" marL="0">
              <a:buNone/>
            </a:pPr>
            <a:r>
              <a:rPr lang="en-US" sz="1700" dirty="0">
                <a:solidFill>
                  <a:schemeClr val="accent3"/>
                </a:solidFill>
                <a:latin typeface="Courier New" pitchFamily="34" charset="0"/>
                <a:ea typeface="Courier New" pitchFamily="34" charset="-122"/>
                <a:cs typeface="Courier New" pitchFamily="34" charset="-120"/>
              </a:rPr>
              <a:t>who aproves the qaurterly mision program</a:t>
            </a:r>
            <a:endParaRPr lang="en-US" sz="1700" dirty="0"/>
          </a:p>
        </p:txBody>
      </p:sp>
      <p:sp>
        <p:nvSpPr>
          <p:cNvPr id="5" name="arrow"/>
          <p:cNvSpPr/>
          <p:nvPr/>
        </p:nvSpPr>
        <p:spPr>
          <a:xfrm>
            <a:off x="5623560" y="1874520"/>
            <a:ext cx="1005840" cy="0"/>
          </a:xfrm>
          <a:prstGeom prst="line">
            <a:avLst/>
          </a:prstGeom>
          <a:noFill/>
          <a:ln w="25400">
            <a:solidFill>
              <a:srgbClr val="0F3B36"/>
            </a:solidFill>
            <a:prstDash val="solid"/>
            <a:tailEnd type="triangle"/>
          </a:ln>
        </p:spPr>
      </p:sp>
      <p:sp>
        <p:nvSpPr>
          <p:cNvPr id="6" name="typo-after"/>
          <p:cNvSpPr/>
          <p:nvPr/>
        </p:nvSpPr>
        <p:spPr>
          <a:xfrm>
            <a:off x="6675120" y="1371600"/>
            <a:ext cx="4967935" cy="1005840"/>
          </a:xfrm>
          <a:prstGeom prst="roundRect">
            <a:avLst>
              <a:gd name="adj" fmla="val 7273"/>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sp>
        <p:nvSpPr>
          <p:cNvPr id="7" name="Text 5"/>
          <p:cNvSpPr txBox="1"/>
          <p:nvPr/>
        </p:nvSpPr>
        <p:spPr>
          <a:xfrm>
            <a:off x="6903720" y="1371600"/>
            <a:ext cx="4510735" cy="1005840"/>
          </a:xfrm>
          <a:prstGeom prst="rect">
            <a:avLst/>
          </a:prstGeom>
          <a:noFill/>
          <a:ln/>
        </p:spPr>
        <p:txBody>
          <a:bodyPr wrap="square" lIns="0" tIns="0" rIns="0" bIns="0" rtlCol="0" anchor="ctr"/>
          <a:lstStyle/>
          <a:p>
            <a:pPr indent="0" marL="0">
              <a:buNone/>
            </a:pPr>
            <a:r>
              <a:rPr lang="en-US" sz="1700" dirty="0">
                <a:solidFill>
                  <a:schemeClr val="bg1"/>
                </a:solidFill>
                <a:latin typeface="Courier New" pitchFamily="34" charset="0"/>
                <a:ea typeface="Courier New" pitchFamily="34" charset="-122"/>
                <a:cs typeface="Courier New" pitchFamily="34" charset="-120"/>
              </a:rPr>
              <a:t>who approves the quarterly mission program</a:t>
            </a:r>
            <a:endParaRPr lang="en-US" sz="1700" dirty="0"/>
          </a:p>
        </p:txBody>
      </p:sp>
      <p:sp>
        <p:nvSpPr>
          <p:cNvPr id="8" name="guard-0"/>
          <p:cNvSpPr/>
          <p:nvPr/>
        </p:nvSpPr>
        <p:spPr>
          <a:xfrm>
            <a:off x="548640" y="2743200"/>
            <a:ext cx="3520440" cy="1965960"/>
          </a:xfrm>
          <a:prstGeom prst="roundRect">
            <a:avLst>
              <a:gd name="adj" fmla="val 3721"/>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9" name="num-1"/>
          <p:cNvSpPr/>
          <p:nvPr/>
        </p:nvSpPr>
        <p:spPr>
          <a:xfrm>
            <a:off x="777240" y="292608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77724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1" name="Text 9"/>
          <p:cNvSpPr txBox="1"/>
          <p:nvPr/>
        </p:nvSpPr>
        <p:spPr>
          <a:xfrm>
            <a:off x="1371600" y="292608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Ratio of 0.88 or more</a:t>
            </a:r>
            <a:endParaRPr lang="en-US" sz="1600" dirty="0"/>
          </a:p>
        </p:txBody>
      </p:sp>
      <p:sp>
        <p:nvSpPr>
          <p:cNvPr id="12" name="Text 10"/>
          <p:cNvSpPr txBox="1"/>
          <p:nvPr/>
        </p:nvSpPr>
        <p:spPr>
          <a:xfrm>
            <a:off x="777240" y="3566160"/>
            <a:ext cx="3063240"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difflib similarity against the DAM's own title vocabulary; below that, the word is left exactly as typed</a:t>
            </a:r>
            <a:endParaRPr lang="en-US" sz="1500" dirty="0"/>
          </a:p>
        </p:txBody>
      </p:sp>
      <p:sp>
        <p:nvSpPr>
          <p:cNvPr id="13" name="guard-1"/>
          <p:cNvSpPr/>
          <p:nvPr/>
        </p:nvSpPr>
        <p:spPr>
          <a:xfrm>
            <a:off x="4320540" y="2743200"/>
            <a:ext cx="3520440" cy="1965960"/>
          </a:xfrm>
          <a:prstGeom prst="roundRect">
            <a:avLst>
              <a:gd name="adj" fmla="val 3721"/>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4" name="num-2"/>
          <p:cNvSpPr/>
          <p:nvPr/>
        </p:nvSpPr>
        <p:spPr>
          <a:xfrm>
            <a:off x="4549140" y="292608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454914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5143500" y="292608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Words under 4 letters skipped</a:t>
            </a:r>
            <a:endParaRPr lang="en-US" sz="1600" dirty="0"/>
          </a:p>
        </p:txBody>
      </p:sp>
      <p:sp>
        <p:nvSpPr>
          <p:cNvPr id="17" name="Text 15"/>
          <p:cNvSpPr txBox="1"/>
          <p:nvPr/>
        </p:nvSpPr>
        <p:spPr>
          <a:xfrm>
            <a:off x="4549140" y="3566160"/>
            <a:ext cx="3063240"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Edit distance means almost nothing at 1 to 3 letters; almost anything looks close to "is"</a:t>
            </a:r>
            <a:endParaRPr lang="en-US" sz="1500" dirty="0"/>
          </a:p>
        </p:txBody>
      </p:sp>
      <p:sp>
        <p:nvSpPr>
          <p:cNvPr id="18" name="guard-2"/>
          <p:cNvSpPr/>
          <p:nvPr/>
        </p:nvSpPr>
        <p:spPr>
          <a:xfrm>
            <a:off x="8092440" y="2743200"/>
            <a:ext cx="3520440" cy="1965960"/>
          </a:xfrm>
          <a:prstGeom prst="roundRect">
            <a:avLst>
              <a:gd name="adj" fmla="val 3721"/>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9" name="num-3"/>
          <p:cNvSpPr/>
          <p:nvPr/>
        </p:nvSpPr>
        <p:spPr>
          <a:xfrm>
            <a:off x="8321040" y="292608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832104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8915400" y="2926080"/>
            <a:ext cx="2514600" cy="5029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ALL-CAPS words skipped</a:t>
            </a:r>
            <a:endParaRPr lang="en-US" sz="1600" dirty="0"/>
          </a:p>
        </p:txBody>
      </p:sp>
      <p:sp>
        <p:nvSpPr>
          <p:cNvPr id="22" name="Text 20"/>
          <p:cNvSpPr txBox="1"/>
          <p:nvPr/>
        </p:nvSpPr>
        <p:spPr>
          <a:xfrm>
            <a:off x="8321040" y="3566160"/>
            <a:ext cx="3063240" cy="10972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DDG and RDG are acronyms; fuzzy-matching one risks turning it into an unrelated word</a:t>
            </a:r>
            <a:endParaRPr lang="en-US" sz="1500" dirty="0"/>
          </a:p>
        </p:txBody>
      </p:sp>
      <p:sp>
        <p:nvSpPr>
          <p:cNvPr id="23" name="Text 21"/>
          <p:cNvSpPr txBox="1"/>
          <p:nvPr/>
        </p:nvSpPr>
        <p:spPr>
          <a:xfrm>
            <a:off x="548640" y="4983480"/>
            <a:ext cx="11094415" cy="109728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Why not an LLM: </a:t>
            </a:r>
            <a:pPr indent="0" marL="0">
              <a:buNone/>
            </a:pPr>
            <a:r>
              <a:rPr lang="en-US" sz="1600" dirty="0">
                <a:solidFill>
                  <a:schemeClr val="tx1"/>
                </a:solidFill>
                <a:latin typeface="Calibri" pitchFamily="34" charset="0"/>
                <a:ea typeface="Calibri" pitchFamily="34" charset="-122"/>
                <a:cs typeface="Calibri" pitchFamily="34" charset="-120"/>
              </a:rPr>
              <a:t>it works offline, gives the same result every time, adds no latency, and the LLM keeps its single job of rephrasing. Intent words use a looser 0.75 ratio against a tiny verb list, where a wrong guess is cheap.</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agent: an ordered ladder of checks</a:t>
            </a:r>
            <a:endParaRPr lang="en-US" sz="3400" dirty="0"/>
          </a:p>
        </p:txBody>
      </p:sp>
      <p:sp>
        <p:nvSpPr>
          <p:cNvPr id="3" name="step-0"/>
          <p:cNvSpPr/>
          <p:nvPr/>
        </p:nvSpPr>
        <p:spPr>
          <a:xfrm>
            <a:off x="548640" y="1371600"/>
            <a:ext cx="53949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num-1"/>
          <p:cNvSpPr/>
          <p:nvPr/>
        </p:nvSpPr>
        <p:spPr>
          <a:xfrm>
            <a:off x="731520" y="1600200"/>
            <a:ext cx="457200" cy="457200"/>
          </a:xfrm>
          <a:prstGeom prst="ellipse">
            <a:avLst/>
          </a:prstGeom>
          <a:solidFill>
            <a:schemeClr val="accent4"/>
          </a:solidFill>
          <a:ln w="12700">
            <a:solidFill>
              <a:schemeClr val="accent4"/>
            </a:solidFill>
            <a:prstDash val="solid"/>
          </a:ln>
        </p:spPr>
      </p:sp>
      <p:sp>
        <p:nvSpPr>
          <p:cNvPr id="5" name="Text 3"/>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371600" y="1463040"/>
            <a:ext cx="43891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Small talk</a:t>
            </a:r>
            <a:endParaRPr lang="en-US" sz="1600" dirty="0"/>
          </a:p>
        </p:txBody>
      </p:sp>
      <p:sp>
        <p:nvSpPr>
          <p:cNvPr id="7" name="Text 5"/>
          <p:cNvSpPr txBox="1"/>
          <p:nvPr/>
        </p:nvSpPr>
        <p:spPr>
          <a:xfrm>
            <a:off x="1371600" y="1828800"/>
            <a:ext cx="438912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greetings, thanks, help</a:t>
            </a:r>
            <a:endParaRPr lang="en-US" sz="1400" dirty="0"/>
          </a:p>
        </p:txBody>
      </p:sp>
      <p:sp>
        <p:nvSpPr>
          <p:cNvPr id="8" name="step-1"/>
          <p:cNvSpPr/>
          <p:nvPr/>
        </p:nvSpPr>
        <p:spPr>
          <a:xfrm>
            <a:off x="548640" y="2359152"/>
            <a:ext cx="53949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9" name="num-2"/>
          <p:cNvSpPr/>
          <p:nvPr/>
        </p:nvSpPr>
        <p:spPr>
          <a:xfrm>
            <a:off x="731520" y="2587752"/>
            <a:ext cx="457200" cy="457200"/>
          </a:xfrm>
          <a:prstGeom prst="ellipse">
            <a:avLst/>
          </a:prstGeom>
          <a:solidFill>
            <a:schemeClr val="accent4"/>
          </a:solidFill>
          <a:ln w="12700">
            <a:solidFill>
              <a:schemeClr val="accent4"/>
            </a:solidFill>
            <a:prstDash val="solid"/>
          </a:ln>
        </p:spPr>
      </p:sp>
      <p:sp>
        <p:nvSpPr>
          <p:cNvPr id="10" name="Text 8"/>
          <p:cNvSpPr txBox="1"/>
          <p:nvPr/>
        </p:nvSpPr>
        <p:spPr>
          <a:xfrm>
            <a:off x="731520" y="2587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371600" y="2450592"/>
            <a:ext cx="43891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Glossary</a:t>
            </a:r>
            <a:endParaRPr lang="en-US" sz="1600" dirty="0"/>
          </a:p>
        </p:txBody>
      </p:sp>
      <p:sp>
        <p:nvSpPr>
          <p:cNvPr id="12" name="Text 10"/>
          <p:cNvSpPr txBox="1"/>
          <p:nvPr/>
        </p:nvSpPr>
        <p:spPr>
          <a:xfrm>
            <a:off x="1371600" y="2816352"/>
            <a:ext cx="438912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"what does DDG stand for"</a:t>
            </a:r>
            <a:endParaRPr lang="en-US" sz="1400" dirty="0"/>
          </a:p>
        </p:txBody>
      </p:sp>
      <p:sp>
        <p:nvSpPr>
          <p:cNvPr id="13" name="step-2"/>
          <p:cNvSpPr/>
          <p:nvPr/>
        </p:nvSpPr>
        <p:spPr>
          <a:xfrm>
            <a:off x="548640" y="3346704"/>
            <a:ext cx="53949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4" name="num-3"/>
          <p:cNvSpPr/>
          <p:nvPr/>
        </p:nvSpPr>
        <p:spPr>
          <a:xfrm>
            <a:off x="731520" y="3575304"/>
            <a:ext cx="457200" cy="457200"/>
          </a:xfrm>
          <a:prstGeom prst="ellipse">
            <a:avLst/>
          </a:prstGeom>
          <a:solidFill>
            <a:schemeClr val="accent4"/>
          </a:solidFill>
          <a:ln w="12700">
            <a:solidFill>
              <a:schemeClr val="accent4"/>
            </a:solidFill>
            <a:prstDash val="solid"/>
          </a:ln>
        </p:spPr>
      </p:sp>
      <p:sp>
        <p:nvSpPr>
          <p:cNvPr id="15" name="Text 13"/>
          <p:cNvSpPr txBox="1"/>
          <p:nvPr/>
        </p:nvSpPr>
        <p:spPr>
          <a:xfrm>
            <a:off x="731520" y="35753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371600" y="3438144"/>
            <a:ext cx="43891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Action-code legend</a:t>
            </a:r>
            <a:endParaRPr lang="en-US" sz="1600" dirty="0"/>
          </a:p>
        </p:txBody>
      </p:sp>
      <p:sp>
        <p:nvSpPr>
          <p:cNvPr id="17" name="Text 15"/>
          <p:cNvSpPr txBox="1"/>
          <p:nvPr/>
        </p:nvSpPr>
        <p:spPr>
          <a:xfrm>
            <a:off x="1371600" y="3803904"/>
            <a:ext cx="438912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"what does A2 mean"</a:t>
            </a:r>
            <a:endParaRPr lang="en-US" sz="1400" dirty="0"/>
          </a:p>
        </p:txBody>
      </p:sp>
      <p:sp>
        <p:nvSpPr>
          <p:cNvPr id="18" name="step-3"/>
          <p:cNvSpPr/>
          <p:nvPr/>
        </p:nvSpPr>
        <p:spPr>
          <a:xfrm>
            <a:off x="548640" y="4334256"/>
            <a:ext cx="5394960" cy="896112"/>
          </a:xfrm>
          <a:prstGeom prst="roundRect">
            <a:avLst>
              <a:gd name="adj" fmla="val 8163"/>
            </a:avLst>
          </a:prstGeom>
          <a:solidFill>
            <a:schemeClr val="accent6"/>
          </a:solidFill>
          <a:ln w="12700">
            <a:solidFill>
              <a:schemeClr val="accent6"/>
            </a:solidFill>
            <a:prstDash val="solid"/>
          </a:ln>
          <a:effectLst>
            <a:outerShdw sx="100000" sy="100000" kx="0" ky="0" algn="bl" rotWithShape="0" blurRad="101600" dist="25400" dir="5400000">
              <a:srgbClr val="1B2A28">
                <a:alpha val="12000"/>
              </a:srgbClr>
            </a:outerShdw>
          </a:effectLst>
        </p:spPr>
      </p:sp>
      <p:sp>
        <p:nvSpPr>
          <p:cNvPr id="19" name="num-4"/>
          <p:cNvSpPr/>
          <p:nvPr/>
        </p:nvSpPr>
        <p:spPr>
          <a:xfrm>
            <a:off x="731520" y="4562856"/>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731520" y="45628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371600" y="4425696"/>
            <a:ext cx="43891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resolve_query</a:t>
            </a:r>
            <a:endParaRPr lang="en-US" sz="1600" dirty="0"/>
          </a:p>
        </p:txBody>
      </p:sp>
      <p:sp>
        <p:nvSpPr>
          <p:cNvPr id="22" name="Text 20"/>
          <p:cNvSpPr txBox="1"/>
          <p:nvPr/>
        </p:nvSpPr>
        <p:spPr>
          <a:xfrm>
            <a:off x="1371600" y="4791456"/>
            <a:ext cx="438912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id, invalid_id or text_search</a:t>
            </a:r>
            <a:endParaRPr lang="en-US" sz="1400" dirty="0"/>
          </a:p>
        </p:txBody>
      </p:sp>
      <p:sp>
        <p:nvSpPr>
          <p:cNvPr id="23" name="step-4"/>
          <p:cNvSpPr/>
          <p:nvPr/>
        </p:nvSpPr>
        <p:spPr>
          <a:xfrm>
            <a:off x="6309360" y="1371600"/>
            <a:ext cx="53949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4" name="num-5"/>
          <p:cNvSpPr/>
          <p:nvPr/>
        </p:nvSpPr>
        <p:spPr>
          <a:xfrm>
            <a:off x="6492240" y="1600200"/>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6492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7132320" y="1463040"/>
            <a:ext cx="43891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Context carry-over</a:t>
            </a:r>
            <a:endParaRPr lang="en-US" sz="1600" dirty="0"/>
          </a:p>
        </p:txBody>
      </p:sp>
      <p:sp>
        <p:nvSpPr>
          <p:cNvPr id="27" name="Text 25"/>
          <p:cNvSpPr txBox="1"/>
          <p:nvPr/>
        </p:nvSpPr>
        <p:spPr>
          <a:xfrm>
            <a:off x="7132320" y="1828800"/>
            <a:ext cx="438912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only if no digit in the query and match score is under 0.5</a:t>
            </a:r>
            <a:endParaRPr lang="en-US" sz="1400" dirty="0"/>
          </a:p>
        </p:txBody>
      </p:sp>
      <p:sp>
        <p:nvSpPr>
          <p:cNvPr id="28" name="step-5"/>
          <p:cNvSpPr/>
          <p:nvPr/>
        </p:nvSpPr>
        <p:spPr>
          <a:xfrm>
            <a:off x="6309360" y="2359152"/>
            <a:ext cx="5394960" cy="896112"/>
          </a:xfrm>
          <a:prstGeom prst="roundRect">
            <a:avLst>
              <a:gd name="adj" fmla="val 8163"/>
            </a:avLst>
          </a:prstGeom>
          <a:solidFill>
            <a:schemeClr val="accent6"/>
          </a:solidFill>
          <a:ln w="12700">
            <a:solidFill>
              <a:schemeClr val="accent6"/>
            </a:solidFill>
            <a:prstDash val="solid"/>
          </a:ln>
          <a:effectLst>
            <a:outerShdw sx="100000" sy="100000" kx="0" ky="0" algn="bl" rotWithShape="0" blurRad="101600" dist="25400" dir="5400000">
              <a:srgbClr val="1B2A28">
                <a:alpha val="12000"/>
              </a:srgbClr>
            </a:outerShdw>
          </a:effectLst>
        </p:spPr>
      </p:sp>
      <p:sp>
        <p:nvSpPr>
          <p:cNvPr id="29" name="num-6"/>
          <p:cNvSpPr/>
          <p:nvPr/>
        </p:nvSpPr>
        <p:spPr>
          <a:xfrm>
            <a:off x="6492240" y="2587752"/>
            <a:ext cx="457200" cy="457200"/>
          </a:xfrm>
          <a:prstGeom prst="ellipse">
            <a:avLst/>
          </a:prstGeom>
          <a:solidFill>
            <a:schemeClr val="accent2"/>
          </a:solidFill>
          <a:ln w="12700">
            <a:solidFill>
              <a:schemeClr val="accent2"/>
            </a:solidFill>
            <a:prstDash val="solid"/>
          </a:ln>
        </p:spPr>
      </p:sp>
      <p:sp>
        <p:nvSpPr>
          <p:cNvPr id="30" name="Text 28"/>
          <p:cNvSpPr txBox="1"/>
          <p:nvPr/>
        </p:nvSpPr>
        <p:spPr>
          <a:xfrm>
            <a:off x="6492240" y="2587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7132320" y="2450592"/>
            <a:ext cx="43891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Guards</a:t>
            </a:r>
            <a:endParaRPr lang="en-US" sz="1600" dirty="0"/>
          </a:p>
        </p:txBody>
      </p:sp>
      <p:sp>
        <p:nvSpPr>
          <p:cNvPr id="32" name="Text 30"/>
          <p:cNvSpPr txBox="1"/>
          <p:nvPr/>
        </p:nvSpPr>
        <p:spPr>
          <a:xfrm>
            <a:off x="7132320" y="2816352"/>
            <a:ext cx="438912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vague, two close candidates (gap under 0.15), or score under 0.15: ask, don't guess</a:t>
            </a:r>
            <a:endParaRPr lang="en-US" sz="1400" dirty="0"/>
          </a:p>
        </p:txBody>
      </p:sp>
      <p:sp>
        <p:nvSpPr>
          <p:cNvPr id="33" name="step-6"/>
          <p:cNvSpPr/>
          <p:nvPr/>
        </p:nvSpPr>
        <p:spPr>
          <a:xfrm>
            <a:off x="6309360" y="3346704"/>
            <a:ext cx="53949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34" name="num-7"/>
          <p:cNvSpPr/>
          <p:nvPr/>
        </p:nvSpPr>
        <p:spPr>
          <a:xfrm>
            <a:off x="6492240" y="3575304"/>
            <a:ext cx="457200" cy="457200"/>
          </a:xfrm>
          <a:prstGeom prst="ellipse">
            <a:avLst/>
          </a:prstGeom>
          <a:solidFill>
            <a:schemeClr val="accent2"/>
          </a:solidFill>
          <a:ln w="12700">
            <a:solidFill>
              <a:schemeClr val="accent2"/>
            </a:solidFill>
            <a:prstDash val="solid"/>
          </a:ln>
        </p:spPr>
      </p:sp>
      <p:sp>
        <p:nvSpPr>
          <p:cNvPr id="35" name="Text 33"/>
          <p:cNvSpPr txBox="1"/>
          <p:nvPr/>
        </p:nvSpPr>
        <p:spPr>
          <a:xfrm>
            <a:off x="6492240" y="35753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7</a:t>
            </a:r>
            <a:endParaRPr lang="en-US" sz="1600" dirty="0"/>
          </a:p>
        </p:txBody>
      </p:sp>
      <p:sp>
        <p:nvSpPr>
          <p:cNvPr id="36" name="Text 34"/>
          <p:cNvSpPr txBox="1"/>
          <p:nvPr/>
        </p:nvSpPr>
        <p:spPr>
          <a:xfrm>
            <a:off x="7132320" y="3438144"/>
            <a:ext cx="43891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Intent filter</a:t>
            </a:r>
            <a:endParaRPr lang="en-US" sz="1600" dirty="0"/>
          </a:p>
        </p:txBody>
      </p:sp>
      <p:sp>
        <p:nvSpPr>
          <p:cNvPr id="37" name="Text 35"/>
          <p:cNvSpPr txBox="1"/>
          <p:nvPr/>
        </p:nvSpPr>
        <p:spPr>
          <a:xfrm>
            <a:off x="7132320" y="3803904"/>
            <a:ext cx="438912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approve, review, check, initiate, consult, informed</a:t>
            </a:r>
            <a:endParaRPr lang="en-US" sz="1400" dirty="0"/>
          </a:p>
        </p:txBody>
      </p:sp>
      <p:sp>
        <p:nvSpPr>
          <p:cNvPr id="38" name="step-7"/>
          <p:cNvSpPr/>
          <p:nvPr/>
        </p:nvSpPr>
        <p:spPr>
          <a:xfrm>
            <a:off x="6309360" y="4334256"/>
            <a:ext cx="53949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39" name="num-8"/>
          <p:cNvSpPr/>
          <p:nvPr/>
        </p:nvSpPr>
        <p:spPr>
          <a:xfrm>
            <a:off x="6492240" y="4562856"/>
            <a:ext cx="457200" cy="457200"/>
          </a:xfrm>
          <a:prstGeom prst="ellipse">
            <a:avLst/>
          </a:prstGeom>
          <a:solidFill>
            <a:schemeClr val="accent2"/>
          </a:solidFill>
          <a:ln w="12700">
            <a:solidFill>
              <a:schemeClr val="accent2"/>
            </a:solidFill>
            <a:prstDash val="solid"/>
          </a:ln>
        </p:spPr>
      </p:sp>
      <p:sp>
        <p:nvSpPr>
          <p:cNvPr id="40" name="Text 38"/>
          <p:cNvSpPr txBox="1"/>
          <p:nvPr/>
        </p:nvSpPr>
        <p:spPr>
          <a:xfrm>
            <a:off x="6492240" y="45628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8</a:t>
            </a:r>
            <a:endParaRPr lang="en-US" sz="1600" dirty="0"/>
          </a:p>
        </p:txBody>
      </p:sp>
      <p:sp>
        <p:nvSpPr>
          <p:cNvPr id="41" name="Text 39"/>
          <p:cNvSpPr txBox="1"/>
          <p:nvPr/>
        </p:nvSpPr>
        <p:spPr>
          <a:xfrm>
            <a:off x="7132320" y="4425696"/>
            <a:ext cx="43891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Build the answer</a:t>
            </a:r>
            <a:endParaRPr lang="en-US" sz="1600" dirty="0"/>
          </a:p>
        </p:txBody>
      </p:sp>
      <p:sp>
        <p:nvSpPr>
          <p:cNvPr id="42" name="Text 40"/>
          <p:cNvSpPr txBox="1"/>
          <p:nvPr/>
        </p:nvSpPr>
        <p:spPr>
          <a:xfrm>
            <a:off x="7132320" y="4791456"/>
            <a:ext cx="438912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plus mandatory Check/Verify and informed-party notes</a:t>
            </a:r>
            <a:endParaRPr lang="en-US" sz="1400" dirty="0"/>
          </a:p>
        </p:txBody>
      </p:sp>
      <p:sp>
        <p:nvSpPr>
          <p:cNvPr id="43" name="evidence-banner"/>
          <p:cNvSpPr/>
          <p:nvPr/>
        </p:nvSpPr>
        <p:spPr>
          <a:xfrm>
            <a:off x="548640" y="5532120"/>
            <a:ext cx="11094415" cy="640080"/>
          </a:xfrm>
          <a:prstGeom prst="roundRect">
            <a:avLst>
              <a:gd name="adj" fmla="val 11429"/>
            </a:avLst>
          </a:prstGeom>
          <a:solidFill>
            <a:schemeClr val="tx2"/>
          </a:solidFill>
          <a:ln w="12700">
            <a:solidFill>
              <a:schemeClr val="tx2"/>
            </a:solidFill>
            <a:prstDash val="solid"/>
          </a:ln>
        </p:spPr>
      </p:sp>
      <p:sp>
        <p:nvSpPr>
          <p:cNvPr id="44" name="Text 42"/>
          <p:cNvSpPr txBox="1"/>
          <p:nvPr/>
        </p:nvSpPr>
        <p:spPr>
          <a:xfrm>
            <a:off x="868680" y="5532120"/>
            <a:ext cx="10454335" cy="64008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It returns evidence, not just text: method, score, node, and the exact roles the answer was built from.</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Grounded generation: the LLM can't decide</a:t>
            </a:r>
            <a:endParaRPr lang="en-US" sz="3400" dirty="0"/>
          </a:p>
        </p:txBody>
      </p:sp>
      <p:sp>
        <p:nvSpPr>
          <p:cNvPr id="3" name="g-0"/>
          <p:cNvSpPr/>
          <p:nvPr/>
        </p:nvSpPr>
        <p:spPr>
          <a:xfrm>
            <a:off x="548640" y="1417320"/>
            <a:ext cx="237744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548640" y="1618488"/>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Verified facts</a:t>
            </a:r>
            <a:endParaRPr lang="en-US" sz="1600" dirty="0"/>
          </a:p>
        </p:txBody>
      </p:sp>
      <p:sp>
        <p:nvSpPr>
          <p:cNvPr id="5" name="Text 3"/>
          <p:cNvSpPr txBox="1"/>
          <p:nvPr/>
        </p:nvSpPr>
        <p:spPr>
          <a:xfrm>
            <a:off x="640080" y="2039112"/>
            <a:ext cx="219456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roles from the graph</a:t>
            </a:r>
            <a:endParaRPr lang="en-US" sz="1200" dirty="0"/>
          </a:p>
        </p:txBody>
      </p:sp>
      <p:sp>
        <p:nvSpPr>
          <p:cNvPr id="6" name="arrow"/>
          <p:cNvSpPr/>
          <p:nvPr/>
        </p:nvSpPr>
        <p:spPr>
          <a:xfrm>
            <a:off x="2953512" y="2011680"/>
            <a:ext cx="475488" cy="0"/>
          </a:xfrm>
          <a:prstGeom prst="line">
            <a:avLst/>
          </a:prstGeom>
          <a:noFill/>
          <a:ln w="25400">
            <a:solidFill>
              <a:schemeClr val="accent4"/>
            </a:solidFill>
            <a:prstDash val="solid"/>
            <a:tailEnd type="triangle"/>
          </a:ln>
        </p:spPr>
      </p:sp>
      <p:sp>
        <p:nvSpPr>
          <p:cNvPr id="7" name="g-1"/>
          <p:cNvSpPr/>
          <p:nvPr/>
        </p:nvSpPr>
        <p:spPr>
          <a:xfrm>
            <a:off x="3456432" y="1417320"/>
            <a:ext cx="237744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3456432" y="1618488"/>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Strict prompt</a:t>
            </a:r>
            <a:endParaRPr lang="en-US" sz="1600" dirty="0"/>
          </a:p>
        </p:txBody>
      </p:sp>
      <p:sp>
        <p:nvSpPr>
          <p:cNvPr id="9" name="Text 7"/>
          <p:cNvSpPr txBox="1"/>
          <p:nvPr/>
        </p:nvSpPr>
        <p:spPr>
          <a:xfrm>
            <a:off x="3547872" y="2039112"/>
            <a:ext cx="219456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use ONLY these facts, temp 0.2</a:t>
            </a:r>
            <a:endParaRPr lang="en-US" sz="1200" dirty="0"/>
          </a:p>
        </p:txBody>
      </p:sp>
      <p:sp>
        <p:nvSpPr>
          <p:cNvPr id="10" name="arrow"/>
          <p:cNvSpPr/>
          <p:nvPr/>
        </p:nvSpPr>
        <p:spPr>
          <a:xfrm>
            <a:off x="5861304" y="2011680"/>
            <a:ext cx="475488" cy="0"/>
          </a:xfrm>
          <a:prstGeom prst="line">
            <a:avLst/>
          </a:prstGeom>
          <a:noFill/>
          <a:ln w="25400">
            <a:solidFill>
              <a:schemeClr val="accent4"/>
            </a:solidFill>
            <a:prstDash val="solid"/>
            <a:tailEnd type="triangle"/>
          </a:ln>
        </p:spPr>
      </p:sp>
      <p:sp>
        <p:nvSpPr>
          <p:cNvPr id="11" name="g-2"/>
          <p:cNvSpPr/>
          <p:nvPr/>
        </p:nvSpPr>
        <p:spPr>
          <a:xfrm>
            <a:off x="6364224" y="1417320"/>
            <a:ext cx="237744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2" name="Text 10"/>
          <p:cNvSpPr txBox="1"/>
          <p:nvPr/>
        </p:nvSpPr>
        <p:spPr>
          <a:xfrm>
            <a:off x="6364224" y="1618488"/>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LLM rephrase</a:t>
            </a:r>
            <a:endParaRPr lang="en-US" sz="1600" dirty="0"/>
          </a:p>
        </p:txBody>
      </p:sp>
      <p:sp>
        <p:nvSpPr>
          <p:cNvPr id="13" name="Text 11"/>
          <p:cNvSpPr txBox="1"/>
          <p:nvPr/>
        </p:nvSpPr>
        <p:spPr>
          <a:xfrm>
            <a:off x="6455664" y="2039112"/>
            <a:ext cx="219456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Groq or Ollama</a:t>
            </a:r>
            <a:endParaRPr lang="en-US" sz="1200" dirty="0"/>
          </a:p>
        </p:txBody>
      </p:sp>
      <p:sp>
        <p:nvSpPr>
          <p:cNvPr id="14" name="arrow"/>
          <p:cNvSpPr/>
          <p:nvPr/>
        </p:nvSpPr>
        <p:spPr>
          <a:xfrm>
            <a:off x="8769096" y="2011680"/>
            <a:ext cx="475488" cy="0"/>
          </a:xfrm>
          <a:prstGeom prst="line">
            <a:avLst/>
          </a:prstGeom>
          <a:noFill/>
          <a:ln w="25400">
            <a:solidFill>
              <a:schemeClr val="accent4"/>
            </a:solidFill>
            <a:prstDash val="solid"/>
            <a:tailEnd type="triangle"/>
          </a:ln>
        </p:spPr>
      </p:sp>
      <p:sp>
        <p:nvSpPr>
          <p:cNvPr id="15" name="g-3"/>
          <p:cNvSpPr/>
          <p:nvPr/>
        </p:nvSpPr>
        <p:spPr>
          <a:xfrm>
            <a:off x="9272016" y="1417320"/>
            <a:ext cx="2377440" cy="1188720"/>
          </a:xfrm>
          <a:prstGeom prst="roundRect">
            <a:avLst>
              <a:gd name="adj" fmla="val 6154"/>
            </a:avLst>
          </a:prstGeom>
          <a:solidFill>
            <a:schemeClr val="accent1"/>
          </a:solidFill>
          <a:ln w="12700">
            <a:solidFill>
              <a:schemeClr val="accent1"/>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9272016" y="1618488"/>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Grounding check</a:t>
            </a:r>
            <a:endParaRPr lang="en-US" sz="1600" dirty="0"/>
          </a:p>
        </p:txBody>
      </p:sp>
      <p:sp>
        <p:nvSpPr>
          <p:cNvPr id="17" name="Text 15"/>
          <p:cNvSpPr txBox="1"/>
          <p:nvPr/>
        </p:nvSpPr>
        <p:spPr>
          <a:xfrm>
            <a:off x="9363456" y="2039112"/>
            <a:ext cx="2194560" cy="45720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every role name still verbatim?</a:t>
            </a:r>
            <a:endParaRPr lang="en-US" sz="1200" dirty="0"/>
          </a:p>
        </p:txBody>
      </p:sp>
      <p:sp>
        <p:nvSpPr>
          <p:cNvPr id="18" name="pass-card"/>
          <p:cNvSpPr/>
          <p:nvPr/>
        </p:nvSpPr>
        <p:spPr>
          <a:xfrm>
            <a:off x="548640" y="2971800"/>
            <a:ext cx="5440680" cy="1234440"/>
          </a:xfrm>
          <a:prstGeom prst="roundRect">
            <a:avLst>
              <a:gd name="adj" fmla="val 5926"/>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pic>
        <p:nvPicPr>
          <p:cNvPr id="19" name="Image 0" descr="preencoded.png">    </p:cNvPr>
          <p:cNvPicPr>
            <a:picLocks noChangeAspect="1"/>
          </p:cNvPicPr>
          <p:nvPr/>
        </p:nvPicPr>
        <p:blipFill>
          <a:blip r:embed="rId1"/>
          <a:stretch>
            <a:fillRect/>
          </a:stretch>
        </p:blipFill>
        <p:spPr>
          <a:xfrm>
            <a:off x="777240" y="3337560"/>
            <a:ext cx="502920" cy="502920"/>
          </a:xfrm>
          <a:prstGeom prst="rect">
            <a:avLst/>
          </a:prstGeom>
        </p:spPr>
      </p:pic>
      <p:sp>
        <p:nvSpPr>
          <p:cNvPr id="20" name="Text 17"/>
          <p:cNvSpPr txBox="1"/>
          <p:nvPr/>
        </p:nvSpPr>
        <p:spPr>
          <a:xfrm>
            <a:off x="1463040" y="2971800"/>
            <a:ext cx="4343400" cy="123444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Pass: </a:t>
            </a:r>
            <a:pPr indent="0" marL="0">
              <a:buNone/>
            </a:pPr>
            <a:r>
              <a:rPr lang="en-US" sz="1500" dirty="0">
                <a:solidFill>
                  <a:schemeClr val="bg1"/>
                </a:solidFill>
                <a:latin typeface="Calibri" pitchFamily="34" charset="0"/>
                <a:ea typeface="Calibri" pitchFamily="34" charset="-122"/>
                <a:cs typeface="Calibri" pitchFamily="34" charset="-120"/>
              </a:rPr>
              <a:t>show the LLM's phrasing and re-attach the Check/Verify and informed notes untouched</a:t>
            </a:r>
            <a:endParaRPr lang="en-US" sz="1500" dirty="0"/>
          </a:p>
        </p:txBody>
      </p:sp>
      <p:sp>
        <p:nvSpPr>
          <p:cNvPr id="21" name="fail-card"/>
          <p:cNvSpPr/>
          <p:nvPr/>
        </p:nvSpPr>
        <p:spPr>
          <a:xfrm>
            <a:off x="6355080" y="2971800"/>
            <a:ext cx="5440680" cy="1234440"/>
          </a:xfrm>
          <a:prstGeom prst="roundRect">
            <a:avLst>
              <a:gd name="adj" fmla="val 5926"/>
            </a:avLst>
          </a:prstGeom>
          <a:solidFill>
            <a:schemeClr val="accent3"/>
          </a:solidFill>
          <a:ln w="12700">
            <a:solidFill>
              <a:schemeClr val="accent3"/>
            </a:solidFill>
            <a:prstDash val="solid"/>
          </a:ln>
          <a:effectLst>
            <a:outerShdw sx="100000" sy="100000" kx="0" ky="0" algn="bl" rotWithShape="0" blurRad="101600" dist="25400" dir="5400000">
              <a:srgbClr val="1B2A28">
                <a:alpha val="12000"/>
              </a:srgbClr>
            </a:outerShdw>
          </a:effectLst>
        </p:spPr>
      </p:sp>
      <p:sp>
        <p:nvSpPr>
          <p:cNvPr id="22" name="Text 19"/>
          <p:cNvSpPr txBox="1"/>
          <p:nvPr/>
        </p:nvSpPr>
        <p:spPr>
          <a:xfrm>
            <a:off x="6629400" y="2971800"/>
            <a:ext cx="4892040" cy="123444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Fail, error or timeout: </a:t>
            </a:r>
            <a:pPr indent="0" marL="0">
              <a:buNone/>
            </a:pPr>
            <a:r>
              <a:rPr lang="en-US" sz="1500" dirty="0">
                <a:solidFill>
                  <a:schemeClr val="bg1"/>
                </a:solidFill>
                <a:latin typeface="Calibri" pitchFamily="34" charset="0"/>
                <a:ea typeface="Calibri" pitchFamily="34" charset="-122"/>
                <a:cs typeface="Calibri" pitchFamily="34" charset="-120"/>
              </a:rPr>
              <a:t>fall back to the deterministic template answer. It is never bypassed, only optionally restyled.</a:t>
            </a:r>
            <a:endParaRPr lang="en-US" sz="1500" dirty="0"/>
          </a:p>
        </p:txBody>
      </p:sp>
      <p:sp>
        <p:nvSpPr>
          <p:cNvPr id="23" name="Text 20"/>
          <p:cNvSpPr txBox="1"/>
          <p:nvPr/>
        </p:nvSpPr>
        <p:spPr>
          <a:xfrm>
            <a:off x="548640" y="4434840"/>
            <a:ext cx="11094415"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Comparison is normalised (case, whitespace, slash spacing) so harmless formatting isn't a false rejection</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The notes sentence bypasses the LLM: asking it to reproduce every informed role was the biggest cause of fallbacks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Role names, footnote numbers and ids are never translated, even inside a French or Arabic sentence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Two cases never reach the LLM: no node resolved, or no roles recorded</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Hybrid LLM layer: one interface, two engines</a:t>
            </a:r>
            <a:endParaRPr lang="en-US" sz="3400" dirty="0"/>
          </a:p>
        </p:txBody>
      </p:sp>
      <p:sp>
        <p:nvSpPr>
          <p:cNvPr id="3" name="iface"/>
          <p:cNvSpPr/>
          <p:nvPr/>
        </p:nvSpPr>
        <p:spPr>
          <a:xfrm>
            <a:off x="1645920" y="1371600"/>
            <a:ext cx="4937760" cy="868680"/>
          </a:xfrm>
          <a:prstGeom prst="roundRect">
            <a:avLst>
              <a:gd name="adj" fmla="val 8421"/>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1645920" y="1371600"/>
            <a:ext cx="4937760" cy="86868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LLMProvider.chat(system, user)</a:t>
            </a:r>
            <a:endParaRPr lang="en-US" sz="1800" dirty="0"/>
          </a:p>
        </p:txBody>
      </p:sp>
      <p:sp>
        <p:nvSpPr>
          <p:cNvPr id="5" name="arrow"/>
          <p:cNvSpPr/>
          <p:nvPr/>
        </p:nvSpPr>
        <p:spPr>
          <a:xfrm>
            <a:off x="3017520" y="2286000"/>
            <a:ext cx="0" cy="457200"/>
          </a:xfrm>
          <a:prstGeom prst="line">
            <a:avLst/>
          </a:prstGeom>
          <a:noFill/>
          <a:ln w="25400">
            <a:solidFill>
              <a:srgbClr val="5B6B69"/>
            </a:solidFill>
            <a:prstDash val="solid"/>
            <a:tailEnd type="triangle"/>
          </a:ln>
        </p:spPr>
      </p:sp>
      <p:sp>
        <p:nvSpPr>
          <p:cNvPr id="6" name="arrow"/>
          <p:cNvSpPr/>
          <p:nvPr/>
        </p:nvSpPr>
        <p:spPr>
          <a:xfrm>
            <a:off x="5212080" y="2286000"/>
            <a:ext cx="0" cy="457200"/>
          </a:xfrm>
          <a:prstGeom prst="line">
            <a:avLst/>
          </a:prstGeom>
          <a:noFill/>
          <a:ln w="25400">
            <a:solidFill>
              <a:srgbClr val="5B6B69"/>
            </a:solidFill>
            <a:prstDash val="solid"/>
            <a:tailEnd type="triangle"/>
          </a:ln>
        </p:spPr>
      </p:sp>
      <p:sp>
        <p:nvSpPr>
          <p:cNvPr id="7" name="groq"/>
          <p:cNvSpPr/>
          <p:nvPr/>
        </p:nvSpPr>
        <p:spPr>
          <a:xfrm>
            <a:off x="548640" y="2788920"/>
            <a:ext cx="320040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731520" y="2880360"/>
            <a:ext cx="283464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GroqProvider</a:t>
            </a:r>
            <a:endParaRPr lang="en-US" sz="1700" dirty="0"/>
          </a:p>
        </p:txBody>
      </p:sp>
      <p:sp>
        <p:nvSpPr>
          <p:cNvPr id="9" name="Text 7"/>
          <p:cNvSpPr txBox="1"/>
          <p:nvPr/>
        </p:nvSpPr>
        <p:spPr>
          <a:xfrm>
            <a:off x="731520" y="3291840"/>
            <a:ext cx="28346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cloud API, model set by env var, vision-capable</a:t>
            </a:r>
            <a:endParaRPr lang="en-US" sz="1500" dirty="0"/>
          </a:p>
        </p:txBody>
      </p:sp>
      <p:sp>
        <p:nvSpPr>
          <p:cNvPr id="10" name="ollama"/>
          <p:cNvSpPr/>
          <p:nvPr/>
        </p:nvSpPr>
        <p:spPr>
          <a:xfrm>
            <a:off x="4023360" y="2788920"/>
            <a:ext cx="320040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1" name="Text 9"/>
          <p:cNvSpPr txBox="1"/>
          <p:nvPr/>
        </p:nvSpPr>
        <p:spPr>
          <a:xfrm>
            <a:off x="4206240" y="2880360"/>
            <a:ext cx="2834640"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OllamaProvider</a:t>
            </a:r>
            <a:endParaRPr lang="en-US" sz="1700" dirty="0"/>
          </a:p>
        </p:txBody>
      </p:sp>
      <p:sp>
        <p:nvSpPr>
          <p:cNvPr id="12" name="Text 10"/>
          <p:cNvSpPr txBox="1"/>
          <p:nvPr/>
        </p:nvSpPr>
        <p:spPr>
          <a:xfrm>
            <a:off x="4206240" y="3291840"/>
            <a:ext cx="28346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local server, data never leaves the machine</a:t>
            </a:r>
            <a:endParaRPr lang="en-US" sz="1500" dirty="0"/>
          </a:p>
        </p:txBody>
      </p:sp>
      <p:sp>
        <p:nvSpPr>
          <p:cNvPr id="13" name="Text 11"/>
          <p:cNvSpPr txBox="1"/>
          <p:nvPr/>
        </p:nvSpPr>
        <p:spPr>
          <a:xfrm>
            <a:off x="548640" y="4617720"/>
            <a:ext cx="6675120" cy="36576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Both raise one exception: LLMUnavailableError</a:t>
            </a:r>
            <a:endParaRPr lang="en-US" sz="1400" dirty="0"/>
          </a:p>
        </p:txBody>
      </p:sp>
      <p:sp>
        <p:nvSpPr>
          <p:cNvPr id="14" name="Text 12"/>
          <p:cNvSpPr txBox="1"/>
          <p:nvPr/>
        </p:nvSpPr>
        <p:spPr>
          <a:xfrm>
            <a:off x="548640" y="4983480"/>
            <a:ext cx="667512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 callers catch exactly one thing for config, network, timeout or bad-response failures.</a:t>
            </a:r>
            <a:endParaRPr lang="en-US" sz="1400" dirty="0"/>
          </a:p>
        </p:txBody>
      </p:sp>
      <p:sp>
        <p:nvSpPr>
          <p:cNvPr id="15" name="router"/>
          <p:cNvSpPr/>
          <p:nvPr/>
        </p:nvSpPr>
        <p:spPr>
          <a:xfrm>
            <a:off x="7772400" y="1371600"/>
            <a:ext cx="3870655" cy="4023360"/>
          </a:xfrm>
          <a:prstGeom prst="roundRect">
            <a:avLst>
              <a:gd name="adj" fmla="val 1890"/>
            </a:avLst>
          </a:prstGeom>
          <a:solidFill>
            <a:schemeClr val="tx2"/>
          </a:solidFill>
          <a:ln w="12700">
            <a:solidFill>
              <a:schemeClr val="tx2"/>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8046720" y="1554480"/>
            <a:ext cx="3322015" cy="365760"/>
          </a:xfrm>
          <a:prstGeom prst="rect">
            <a:avLst/>
          </a:prstGeom>
          <a:noFill/>
          <a:ln/>
        </p:spPr>
        <p:txBody>
          <a:bodyPr wrap="square" lIns="0" tIns="0" rIns="0" bIns="0" rtlCol="0" anchor="t"/>
          <a:lstStyle/>
          <a:p>
            <a:pPr indent="0" marL="0">
              <a:buNone/>
            </a:pPr>
            <a:r>
              <a:rPr lang="en-US" sz="1700" b="1" dirty="0">
                <a:solidFill>
                  <a:schemeClr val="accent1"/>
                </a:solidFill>
                <a:latin typeface="Courier New" pitchFamily="34" charset="0"/>
                <a:ea typeface="Courier New" pitchFamily="34" charset="-122"/>
                <a:cs typeface="Courier New" pitchFamily="34" charset="-120"/>
              </a:rPr>
              <a:t>resolve_provider(mode)</a:t>
            </a:r>
            <a:endParaRPr lang="en-US" sz="1700" dirty="0"/>
          </a:p>
        </p:txBody>
      </p:sp>
      <p:sp>
        <p:nvSpPr>
          <p:cNvPr id="17" name="Text 15"/>
          <p:cNvSpPr txBox="1"/>
          <p:nvPr/>
        </p:nvSpPr>
        <p:spPr>
          <a:xfrm>
            <a:off x="8046720" y="2103120"/>
            <a:ext cx="3322015" cy="3108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off: deterministic only</a:t>
            </a:r>
            <a:endParaRPr lang="en-US" sz="1500" dirty="0"/>
          </a:p>
          <a:p>
            <a:pPr marL="342900" indent="-3429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ollama or groq: forced</a:t>
            </a:r>
            <a:endParaRPr lang="en-US" sz="1500" dirty="0"/>
          </a:p>
          <a:p>
            <a:pPr marL="342900" indent="-3429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auto: Groq if a key is set, else Ollama if reachable, else off</a:t>
            </a:r>
            <a:endParaRPr lang="en-US" sz="1500" dirty="0"/>
          </a:p>
          <a:p>
            <a:pPr marL="342900" indent="-342900">
              <a:buSzPct val="100000"/>
              <a:buChar char="•"/>
            </a:pPr>
            <a:r>
              <a:rPr lang="en-US" sz="1500" dirty="0">
                <a:solidFill>
                  <a:schemeClr val="bg1"/>
                </a:solidFill>
                <a:latin typeface="Calibri" pitchFamily="34" charset="0"/>
                <a:ea typeface="Calibri" pitchFamily="34" charset="-122"/>
                <a:cs typeface="Calibri" pitchFamily="34" charset="-120"/>
              </a:rPr>
              <a:t>Startup-time choice, not per-token failover</a:t>
            </a:r>
            <a:endParaRPr lang="en-US" sz="1500" dirty="0"/>
          </a:p>
        </p:txBody>
      </p:sp>
      <p:sp>
        <p:nvSpPr>
          <p:cNvPr id="18" name="Text 16"/>
          <p:cNvSpPr txBox="1"/>
          <p:nvPr/>
        </p:nvSpPr>
        <p:spPr>
          <a:xfrm>
            <a:off x="548640" y="5669280"/>
            <a:ext cx="11094415" cy="5029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Why hybrid: cloud quality for the demo, a local option for sensitive data, and the app never goes down because an LLM does.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Multilingual without rebuilding retrieval</a:t>
            </a:r>
            <a:endParaRPr lang="en-US" sz="3400" dirty="0"/>
          </a:p>
        </p:txBody>
      </p:sp>
      <p:sp>
        <p:nvSpPr>
          <p:cNvPr id="3" name="ml-0"/>
          <p:cNvSpPr/>
          <p:nvPr/>
        </p:nvSpPr>
        <p:spPr>
          <a:xfrm>
            <a:off x="548640" y="1463040"/>
            <a:ext cx="201168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640080" y="1691640"/>
            <a:ext cx="1828800" cy="594360"/>
          </a:xfrm>
          <a:prstGeom prst="rect">
            <a:avLst/>
          </a:prstGeom>
          <a:noFill/>
          <a:ln/>
        </p:spPr>
        <p:txBody>
          <a:bodyPr wrap="square" lIns="0" tIns="0" rIns="0" bIns="0" rtlCol="0" anchor="ctr"/>
          <a:lstStyle/>
          <a:p>
            <a:pPr algn="ctr" indent="0" marL="0">
              <a:buNone/>
            </a:pPr>
            <a:r>
              <a:rPr lang="en-US" sz="1500" b="1" dirty="0">
                <a:solidFill>
                  <a:schemeClr val="tx2"/>
                </a:solidFill>
                <a:latin typeface="Calibri" pitchFamily="34" charset="0"/>
                <a:ea typeface="Calibri" pitchFamily="34" charset="-122"/>
                <a:cs typeface="Calibri" pitchFamily="34" charset="-120"/>
              </a:rPr>
              <a:t>Question</a:t>
            </a:r>
            <a:endParaRPr lang="en-US" sz="1500" dirty="0"/>
          </a:p>
        </p:txBody>
      </p:sp>
      <p:sp>
        <p:nvSpPr>
          <p:cNvPr id="5" name="Text 3"/>
          <p:cNvSpPr txBox="1"/>
          <p:nvPr/>
        </p:nvSpPr>
        <p:spPr>
          <a:xfrm>
            <a:off x="640080" y="2331720"/>
            <a:ext cx="1828800" cy="54864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¿Quién aprueba 2.126?</a:t>
            </a:r>
            <a:endParaRPr lang="en-US" sz="1200" dirty="0"/>
          </a:p>
        </p:txBody>
      </p:sp>
      <p:sp>
        <p:nvSpPr>
          <p:cNvPr id="6" name="arrow"/>
          <p:cNvSpPr/>
          <p:nvPr/>
        </p:nvSpPr>
        <p:spPr>
          <a:xfrm>
            <a:off x="2578608" y="2240280"/>
            <a:ext cx="214884" cy="0"/>
          </a:xfrm>
          <a:prstGeom prst="line">
            <a:avLst/>
          </a:prstGeom>
          <a:noFill/>
          <a:ln w="25400">
            <a:solidFill>
              <a:schemeClr val="accent4"/>
            </a:solidFill>
            <a:prstDash val="solid"/>
            <a:tailEnd type="triangle"/>
          </a:ln>
        </p:spPr>
      </p:sp>
      <p:sp>
        <p:nvSpPr>
          <p:cNvPr id="7" name="ml-1"/>
          <p:cNvSpPr/>
          <p:nvPr/>
        </p:nvSpPr>
        <p:spPr>
          <a:xfrm>
            <a:off x="2811780" y="1463040"/>
            <a:ext cx="201168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2903220" y="1691640"/>
            <a:ext cx="1828800" cy="594360"/>
          </a:xfrm>
          <a:prstGeom prst="rect">
            <a:avLst/>
          </a:prstGeom>
          <a:noFill/>
          <a:ln/>
        </p:spPr>
        <p:txBody>
          <a:bodyPr wrap="square" lIns="0" tIns="0" rIns="0" bIns="0" rtlCol="0" anchor="ctr"/>
          <a:lstStyle/>
          <a:p>
            <a:pPr algn="ctr" indent="0" marL="0">
              <a:buNone/>
            </a:pPr>
            <a:r>
              <a:rPr lang="en-US" sz="1500" b="1" dirty="0">
                <a:solidFill>
                  <a:schemeClr val="tx2"/>
                </a:solidFill>
                <a:latin typeface="Calibri" pitchFamily="34" charset="0"/>
                <a:ea typeface="Calibri" pitchFamily="34" charset="-122"/>
                <a:cs typeface="Calibri" pitchFamily="34" charset="-120"/>
              </a:rPr>
              <a:t>looks_non_english</a:t>
            </a:r>
            <a:endParaRPr lang="en-US" sz="1500" dirty="0"/>
          </a:p>
        </p:txBody>
      </p:sp>
      <p:sp>
        <p:nvSpPr>
          <p:cNvPr id="9" name="Text 7"/>
          <p:cNvSpPr txBox="1"/>
          <p:nvPr/>
        </p:nvSpPr>
        <p:spPr>
          <a:xfrm>
            <a:off x="2903220" y="2331720"/>
            <a:ext cx="1828800" cy="54864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regex + word lists, no LLM</a:t>
            </a:r>
            <a:endParaRPr lang="en-US" sz="1200" dirty="0"/>
          </a:p>
        </p:txBody>
      </p:sp>
      <p:sp>
        <p:nvSpPr>
          <p:cNvPr id="10" name="arrow"/>
          <p:cNvSpPr/>
          <p:nvPr/>
        </p:nvSpPr>
        <p:spPr>
          <a:xfrm>
            <a:off x="4841748" y="2240280"/>
            <a:ext cx="214884" cy="0"/>
          </a:xfrm>
          <a:prstGeom prst="line">
            <a:avLst/>
          </a:prstGeom>
          <a:noFill/>
          <a:ln w="25400">
            <a:solidFill>
              <a:schemeClr val="accent4"/>
            </a:solidFill>
            <a:prstDash val="solid"/>
            <a:tailEnd type="triangle"/>
          </a:ln>
        </p:spPr>
      </p:sp>
      <p:sp>
        <p:nvSpPr>
          <p:cNvPr id="11" name="ml-2"/>
          <p:cNvSpPr/>
          <p:nvPr/>
        </p:nvSpPr>
        <p:spPr>
          <a:xfrm>
            <a:off x="5074920" y="1463040"/>
            <a:ext cx="201168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2" name="Text 10"/>
          <p:cNvSpPr txBox="1"/>
          <p:nvPr/>
        </p:nvSpPr>
        <p:spPr>
          <a:xfrm>
            <a:off x="5166360" y="1691640"/>
            <a:ext cx="1828800" cy="594360"/>
          </a:xfrm>
          <a:prstGeom prst="rect">
            <a:avLst/>
          </a:prstGeom>
          <a:noFill/>
          <a:ln/>
        </p:spPr>
        <p:txBody>
          <a:bodyPr wrap="square" lIns="0" tIns="0" rIns="0" bIns="0" rtlCol="0" anchor="ctr"/>
          <a:lstStyle/>
          <a:p>
            <a:pPr algn="ctr" indent="0" marL="0">
              <a:buNone/>
            </a:pPr>
            <a:r>
              <a:rPr lang="en-US" sz="1500" b="1" dirty="0">
                <a:solidFill>
                  <a:schemeClr val="tx2"/>
                </a:solidFill>
                <a:latin typeface="Calibri" pitchFamily="34" charset="0"/>
                <a:ea typeface="Calibri" pitchFamily="34" charset="-122"/>
                <a:cs typeface="Calibri" pitchFamily="34" charset="-120"/>
              </a:rPr>
              <a:t>Translate to English</a:t>
            </a:r>
            <a:endParaRPr lang="en-US" sz="1500" dirty="0"/>
          </a:p>
        </p:txBody>
      </p:sp>
      <p:sp>
        <p:nvSpPr>
          <p:cNvPr id="13" name="Text 11"/>
          <p:cNvSpPr txBox="1"/>
          <p:nvPr/>
        </p:nvSpPr>
        <p:spPr>
          <a:xfrm>
            <a:off x="5166360" y="2331720"/>
            <a:ext cx="1828800" cy="54864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LLM, only if the gate fires</a:t>
            </a:r>
            <a:endParaRPr lang="en-US" sz="1200" dirty="0"/>
          </a:p>
        </p:txBody>
      </p:sp>
      <p:sp>
        <p:nvSpPr>
          <p:cNvPr id="14" name="arrow"/>
          <p:cNvSpPr/>
          <p:nvPr/>
        </p:nvSpPr>
        <p:spPr>
          <a:xfrm>
            <a:off x="7104888" y="2240280"/>
            <a:ext cx="214884" cy="0"/>
          </a:xfrm>
          <a:prstGeom prst="line">
            <a:avLst/>
          </a:prstGeom>
          <a:noFill/>
          <a:ln w="25400">
            <a:solidFill>
              <a:schemeClr val="accent4"/>
            </a:solidFill>
            <a:prstDash val="solid"/>
            <a:tailEnd type="triangle"/>
          </a:ln>
        </p:spPr>
      </p:sp>
      <p:sp>
        <p:nvSpPr>
          <p:cNvPr id="15" name="ml-3"/>
          <p:cNvSpPr/>
          <p:nvPr/>
        </p:nvSpPr>
        <p:spPr>
          <a:xfrm>
            <a:off x="7338060" y="1463040"/>
            <a:ext cx="2011680" cy="1554480"/>
          </a:xfrm>
          <a:prstGeom prst="roundRect">
            <a:avLst>
              <a:gd name="adj" fmla="val 4706"/>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429500" y="1691640"/>
            <a:ext cx="1828800" cy="594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Same English pipeline</a:t>
            </a:r>
            <a:endParaRPr lang="en-US" sz="1500" dirty="0"/>
          </a:p>
        </p:txBody>
      </p:sp>
      <p:sp>
        <p:nvSpPr>
          <p:cNvPr id="17" name="Text 15"/>
          <p:cNvSpPr txBox="1"/>
          <p:nvPr/>
        </p:nvSpPr>
        <p:spPr>
          <a:xfrm>
            <a:off x="7429500" y="2331720"/>
            <a:ext cx="1828800" cy="548640"/>
          </a:xfrm>
          <a:prstGeom prst="rect">
            <a:avLst/>
          </a:prstGeom>
          <a:noFill/>
          <a:ln/>
        </p:spPr>
        <p:txBody>
          <a:bodyPr wrap="square" lIns="0" tIns="0" rIns="0" bIns="0" rtlCol="0" anchor="t"/>
          <a:lstStyle/>
          <a:p>
            <a:pPr algn="ctr" indent="0" marL="0">
              <a:buNone/>
            </a:pPr>
            <a:r>
              <a:rPr lang="en-US" sz="1200" dirty="0">
                <a:solidFill>
                  <a:schemeClr val="bg2"/>
                </a:solidFill>
                <a:latin typeface="Calibri" pitchFamily="34" charset="0"/>
                <a:ea typeface="Calibri" pitchFamily="34" charset="-122"/>
                <a:cs typeface="Calibri" pitchFamily="34" charset="-120"/>
              </a:rPr>
              <a:t>retrieval untouched</a:t>
            </a:r>
            <a:endParaRPr lang="en-US" sz="1200" dirty="0"/>
          </a:p>
        </p:txBody>
      </p:sp>
      <p:sp>
        <p:nvSpPr>
          <p:cNvPr id="18" name="arrow"/>
          <p:cNvSpPr/>
          <p:nvPr/>
        </p:nvSpPr>
        <p:spPr>
          <a:xfrm>
            <a:off x="9368028" y="2240280"/>
            <a:ext cx="214884" cy="0"/>
          </a:xfrm>
          <a:prstGeom prst="line">
            <a:avLst/>
          </a:prstGeom>
          <a:noFill/>
          <a:ln w="25400">
            <a:solidFill>
              <a:schemeClr val="accent4"/>
            </a:solidFill>
            <a:prstDash val="solid"/>
            <a:tailEnd type="triangle"/>
          </a:ln>
        </p:spPr>
      </p:sp>
      <p:sp>
        <p:nvSpPr>
          <p:cNvPr id="19" name="ml-4"/>
          <p:cNvSpPr/>
          <p:nvPr/>
        </p:nvSpPr>
        <p:spPr>
          <a:xfrm>
            <a:off x="9601200" y="1463040"/>
            <a:ext cx="201168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0" name="Text 18"/>
          <p:cNvSpPr txBox="1"/>
          <p:nvPr/>
        </p:nvSpPr>
        <p:spPr>
          <a:xfrm>
            <a:off x="9692640" y="1691640"/>
            <a:ext cx="1828800" cy="594360"/>
          </a:xfrm>
          <a:prstGeom prst="rect">
            <a:avLst/>
          </a:prstGeom>
          <a:noFill/>
          <a:ln/>
        </p:spPr>
        <p:txBody>
          <a:bodyPr wrap="square" lIns="0" tIns="0" rIns="0" bIns="0" rtlCol="0" anchor="ctr"/>
          <a:lstStyle/>
          <a:p>
            <a:pPr algn="ctr" indent="0" marL="0">
              <a:buNone/>
            </a:pPr>
            <a:r>
              <a:rPr lang="en-US" sz="1500" b="1" dirty="0">
                <a:solidFill>
                  <a:schemeClr val="tx2"/>
                </a:solidFill>
                <a:latin typeface="Calibri" pitchFamily="34" charset="0"/>
                <a:ea typeface="Calibri" pitchFamily="34" charset="-122"/>
                <a:cs typeface="Calibri" pitchFamily="34" charset="-120"/>
              </a:rPr>
              <a:t>Phrase in target language</a:t>
            </a:r>
            <a:endParaRPr lang="en-US" sz="1500" dirty="0"/>
          </a:p>
        </p:txBody>
      </p:sp>
      <p:sp>
        <p:nvSpPr>
          <p:cNvPr id="21" name="Text 19"/>
          <p:cNvSpPr txBox="1"/>
          <p:nvPr/>
        </p:nvSpPr>
        <p:spPr>
          <a:xfrm>
            <a:off x="9692640" y="2331720"/>
            <a:ext cx="1828800" cy="54864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role names kept verbatim</a:t>
            </a:r>
            <a:endParaRPr lang="en-US" sz="1200" dirty="0"/>
          </a:p>
        </p:txBody>
      </p:sp>
      <p:sp>
        <p:nvSpPr>
          <p:cNvPr id="22" name="two-langs"/>
          <p:cNvSpPr/>
          <p:nvPr/>
        </p:nvSpPr>
        <p:spPr>
          <a:xfrm>
            <a:off x="548640" y="3429000"/>
            <a:ext cx="5394960" cy="1965960"/>
          </a:xfrm>
          <a:prstGeom prst="roundRect">
            <a:avLst>
              <a:gd name="adj" fmla="val 3721"/>
            </a:avLst>
          </a:prstGeom>
          <a:solidFill>
            <a:schemeClr val="accent6"/>
          </a:solidFill>
          <a:ln w="12700">
            <a:solidFill>
              <a:schemeClr val="accent6"/>
            </a:solidFill>
            <a:prstDash val="solid"/>
          </a:ln>
          <a:effectLst>
            <a:outerShdw sx="100000" sy="100000" kx="0" ky="0" algn="bl" rotWithShape="0" blurRad="101600" dist="25400" dir="5400000">
              <a:srgbClr val="1B2A28">
                <a:alpha val="12000"/>
              </a:srgbClr>
            </a:outerShdw>
          </a:effectLst>
        </p:spPr>
      </p:sp>
      <p:sp>
        <p:nvSpPr>
          <p:cNvPr id="23" name="Text 21"/>
          <p:cNvSpPr txBox="1"/>
          <p:nvPr/>
        </p:nvSpPr>
        <p:spPr>
          <a:xfrm>
            <a:off x="822960" y="3566160"/>
            <a:ext cx="484632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Two decoupled concerns</a:t>
            </a:r>
            <a:endParaRPr lang="en-US" sz="1700" dirty="0"/>
          </a:p>
        </p:txBody>
      </p:sp>
      <p:sp>
        <p:nvSpPr>
          <p:cNvPr id="24" name="Text 22"/>
          <p:cNvSpPr txBox="1"/>
          <p:nvPr/>
        </p:nvSpPr>
        <p:spPr>
          <a:xfrm>
            <a:off x="822960" y="3977640"/>
            <a:ext cx="484632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Question language is always detected from the text. Answer language is the picker's choice, or the detected one when set to Auto. So an English question with the picker on French gets a French answer.</a:t>
            </a:r>
            <a:endParaRPr lang="en-US" sz="1400" dirty="0"/>
          </a:p>
        </p:txBody>
      </p:sp>
      <p:sp>
        <p:nvSpPr>
          <p:cNvPr id="25" name="ui-lang"/>
          <p:cNvSpPr/>
          <p:nvPr/>
        </p:nvSpPr>
        <p:spPr>
          <a:xfrm>
            <a:off x="6309360" y="3429000"/>
            <a:ext cx="5394960" cy="1965960"/>
          </a:xfrm>
          <a:prstGeom prst="roundRect">
            <a:avLst>
              <a:gd name="adj" fmla="val 3721"/>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6" name="Text 24"/>
          <p:cNvSpPr txBox="1"/>
          <p:nvPr/>
        </p:nvSpPr>
        <p:spPr>
          <a:xfrm>
            <a:off x="6583680" y="3566160"/>
            <a:ext cx="484632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The UI follows what you type</a:t>
            </a:r>
            <a:endParaRPr lang="en-US" sz="1700" dirty="0"/>
          </a:p>
        </p:txBody>
      </p:sp>
      <p:sp>
        <p:nvSpPr>
          <p:cNvPr id="27" name="Text 25"/>
          <p:cNvSpPr txBox="1"/>
          <p:nvPr/>
        </p:nvSpPr>
        <p:spPr>
          <a:xfrm>
            <a:off x="6583680" y="3977640"/>
            <a:ext cx="484632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detectLanguage() runs client-side on every keystroke and switches the whole interface (RTL for Arabic). Once an answer returns, the server's LLM-based detection corrects the guess.</a:t>
            </a:r>
            <a:endParaRPr lang="en-US" sz="1400" dirty="0"/>
          </a:p>
        </p:txBody>
      </p:sp>
      <p:sp>
        <p:nvSpPr>
          <p:cNvPr id="28" name="Text 26"/>
          <p:cNvSpPr txBox="1"/>
          <p:nvPr/>
        </p:nvSpPr>
        <p:spPr>
          <a:xfrm>
            <a:off x="548640" y="5623560"/>
            <a:ext cx="11094415" cy="45720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The grounding check runs unchanged in every language, which is why role names are never translated.</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Platform stack and API design</a:t>
            </a:r>
            <a:endParaRPr lang="en-US" sz="3400" dirty="0"/>
          </a:p>
        </p:txBody>
      </p:sp>
      <p:sp>
        <p:nvSpPr>
          <p:cNvPr id="3" name="plat-0"/>
          <p:cNvSpPr/>
          <p:nvPr/>
        </p:nvSpPr>
        <p:spPr>
          <a:xfrm>
            <a:off x="548640" y="1371600"/>
            <a:ext cx="35204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plat-icon-bg-0"/>
          <p:cNvSpPr/>
          <p:nvPr/>
        </p:nvSpPr>
        <p:spPr>
          <a:xfrm>
            <a:off x="777240" y="1554480"/>
            <a:ext cx="685800" cy="68580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932688" y="1709928"/>
            <a:ext cx="374904" cy="374904"/>
          </a:xfrm>
          <a:prstGeom prst="rect">
            <a:avLst/>
          </a:prstGeom>
        </p:spPr>
      </p:pic>
      <p:sp>
        <p:nvSpPr>
          <p:cNvPr id="6" name="Text 3"/>
          <p:cNvSpPr txBox="1"/>
          <p:nvPr/>
        </p:nvSpPr>
        <p:spPr>
          <a:xfrm>
            <a:off x="1600200" y="1600200"/>
            <a:ext cx="2286000" cy="5943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Knowledge</a:t>
            </a:r>
            <a:endParaRPr lang="en-US" sz="1600" dirty="0"/>
          </a:p>
        </p:txBody>
      </p:sp>
      <p:sp>
        <p:nvSpPr>
          <p:cNvPr id="7" name="Text 4"/>
          <p:cNvSpPr txBox="1"/>
          <p:nvPr/>
        </p:nvSpPr>
        <p:spPr>
          <a:xfrm>
            <a:off x="777240" y="2423160"/>
            <a:ext cx="306324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Immutable, in memory: nodes.json loaded once at startup</a:t>
            </a:r>
            <a:endParaRPr lang="en-US" sz="1300" dirty="0"/>
          </a:p>
        </p:txBody>
      </p:sp>
      <p:sp>
        <p:nvSpPr>
          <p:cNvPr id="8" name="plat-1"/>
          <p:cNvSpPr/>
          <p:nvPr/>
        </p:nvSpPr>
        <p:spPr>
          <a:xfrm>
            <a:off x="4320540" y="1371600"/>
            <a:ext cx="35204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9" name="plat-icon-bg-1"/>
          <p:cNvSpPr/>
          <p:nvPr/>
        </p:nvSpPr>
        <p:spPr>
          <a:xfrm>
            <a:off x="4549140" y="1554480"/>
            <a:ext cx="685800" cy="685800"/>
          </a:xfrm>
          <a:prstGeom prst="ellipse">
            <a:avLst/>
          </a:prstGeom>
          <a:solidFill>
            <a:schemeClr val="accent4"/>
          </a:solidFill>
          <a:ln w="12700">
            <a:solidFill>
              <a:schemeClr val="accent4"/>
            </a:solidFill>
            <a:prstDash val="solid"/>
          </a:ln>
        </p:spPr>
      </p:sp>
      <p:pic>
        <p:nvPicPr>
          <p:cNvPr id="10" name="Image 1" descr="preencoded.png">    </p:cNvPr>
          <p:cNvPicPr>
            <a:picLocks noChangeAspect="1"/>
          </p:cNvPicPr>
          <p:nvPr/>
        </p:nvPicPr>
        <p:blipFill>
          <a:blip r:embed="rId2"/>
          <a:stretch>
            <a:fillRect/>
          </a:stretch>
        </p:blipFill>
        <p:spPr>
          <a:xfrm>
            <a:off x="4704588" y="1709928"/>
            <a:ext cx="374904" cy="374904"/>
          </a:xfrm>
          <a:prstGeom prst="rect">
            <a:avLst/>
          </a:prstGeom>
        </p:spPr>
      </p:pic>
      <p:sp>
        <p:nvSpPr>
          <p:cNvPr id="11" name="Text 7"/>
          <p:cNvSpPr txBox="1"/>
          <p:nvPr/>
        </p:nvSpPr>
        <p:spPr>
          <a:xfrm>
            <a:off x="5372100" y="1600200"/>
            <a:ext cx="2286000" cy="5943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Accounts and conversations</a:t>
            </a:r>
            <a:endParaRPr lang="en-US" sz="1600" dirty="0"/>
          </a:p>
        </p:txBody>
      </p:sp>
      <p:sp>
        <p:nvSpPr>
          <p:cNvPr id="12" name="Text 8"/>
          <p:cNvSpPr txBox="1"/>
          <p:nvPr/>
        </p:nvSpPr>
        <p:spPr>
          <a:xfrm>
            <a:off x="4549140" y="2423160"/>
            <a:ext cx="306324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SQLAlchemy to Postgres (Neon); SQLite fallback locally</a:t>
            </a:r>
            <a:endParaRPr lang="en-US" sz="1300" dirty="0"/>
          </a:p>
        </p:txBody>
      </p:sp>
      <p:sp>
        <p:nvSpPr>
          <p:cNvPr id="13" name="plat-2"/>
          <p:cNvSpPr/>
          <p:nvPr/>
        </p:nvSpPr>
        <p:spPr>
          <a:xfrm>
            <a:off x="8092440" y="1371600"/>
            <a:ext cx="352044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4" name="plat-icon-bg-2"/>
          <p:cNvSpPr/>
          <p:nvPr/>
        </p:nvSpPr>
        <p:spPr>
          <a:xfrm>
            <a:off x="8321040" y="1554480"/>
            <a:ext cx="685800" cy="68580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476488" y="1709928"/>
            <a:ext cx="374904" cy="374904"/>
          </a:xfrm>
          <a:prstGeom prst="rect">
            <a:avLst/>
          </a:prstGeom>
        </p:spPr>
      </p:pic>
      <p:sp>
        <p:nvSpPr>
          <p:cNvPr id="16" name="Text 11"/>
          <p:cNvSpPr txBox="1"/>
          <p:nvPr/>
        </p:nvSpPr>
        <p:spPr>
          <a:xfrm>
            <a:off x="9144000" y="1600200"/>
            <a:ext cx="2286000" cy="5943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Attachments</a:t>
            </a:r>
            <a:endParaRPr lang="en-US" sz="1600" dirty="0"/>
          </a:p>
        </p:txBody>
      </p:sp>
      <p:sp>
        <p:nvSpPr>
          <p:cNvPr id="17" name="Text 12"/>
          <p:cNvSpPr txBox="1"/>
          <p:nvPr/>
        </p:nvSpPr>
        <p:spPr>
          <a:xfrm>
            <a:off x="8321040" y="2423160"/>
            <a:ext cx="3063240"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S3-compatible object storage via boto3, access scoped to the conversation</a:t>
            </a:r>
            <a:endParaRPr lang="en-US" sz="1300" dirty="0"/>
          </a:p>
        </p:txBody>
      </p:sp>
      <p:sp>
        <p:nvSpPr>
          <p:cNvPr id="18" name="Text 13"/>
          <p:cNvSpPr txBox="1"/>
          <p:nvPr/>
        </p:nvSpPr>
        <p:spPr>
          <a:xfrm>
            <a:off x="548640" y="3566160"/>
            <a:ext cx="11094415" cy="5029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Different data, different home: immutable knowledge never touches a database; mutable, per-user data must survive a restart.</a:t>
            </a:r>
            <a:endParaRPr lang="en-US" sz="1500" dirty="0"/>
          </a:p>
        </p:txBody>
      </p:sp>
      <p:sp>
        <p:nvSpPr>
          <p:cNvPr id="19" name="code-card"/>
          <p:cNvSpPr/>
          <p:nvPr/>
        </p:nvSpPr>
        <p:spPr>
          <a:xfrm>
            <a:off x="548640" y="4206240"/>
            <a:ext cx="5577840" cy="1828800"/>
          </a:xfrm>
          <a:prstGeom prst="roundRect">
            <a:avLst>
              <a:gd name="adj" fmla="val 3000"/>
            </a:avLst>
          </a:prstGeom>
          <a:solidFill>
            <a:schemeClr val="tx1"/>
          </a:solidFill>
          <a:ln w="12700">
            <a:solidFill>
              <a:schemeClr val="tx1"/>
            </a:solidFill>
            <a:prstDash val="solid"/>
          </a:ln>
        </p:spPr>
      </p:sp>
      <p:sp>
        <p:nvSpPr>
          <p:cNvPr id="20" name="Text 15"/>
          <p:cNvSpPr txBox="1"/>
          <p:nvPr/>
        </p:nvSpPr>
        <p:spPr>
          <a:xfrm>
            <a:off x="731520" y="4343400"/>
            <a:ext cx="5212080" cy="155448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POST /api/ask               GET  /api/events (SSE)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POST /api/auth/signup|login POST /api/uploads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GET  /api/auth/me           POST /api/transcribe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CRUD /api/conversations/*   GET  /api/dashboard/summary</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GET  /api/health            GET  /api/llm/config</a:t>
            </a:r>
            <a:endParaRPr lang="en-US" sz="1200" dirty="0"/>
          </a:p>
        </p:txBody>
      </p:sp>
      <p:sp>
        <p:nvSpPr>
          <p:cNvPr id="21" name="Text 16"/>
          <p:cNvSpPr txBox="1"/>
          <p:nvPr/>
        </p:nvSpPr>
        <p:spPr>
          <a:xfrm>
            <a:off x="6446520" y="4206240"/>
            <a:ext cx="5196535"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FastAPI: Pydantic request models, Depends() for auth, async for SSE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Global handler: JSON 500 with a generic message; the real traceback goes to the logs only</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Dashboard endpoint is admin-only: it exposes organisation-wide query patterns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Security: what is in place</a:t>
            </a:r>
            <a:endParaRPr lang="en-US" sz="3400" dirty="0"/>
          </a:p>
        </p:txBody>
      </p:sp>
      <p:sp>
        <p:nvSpPr>
          <p:cNvPr id="3" name="sec-0"/>
          <p:cNvSpPr/>
          <p:nvPr/>
        </p:nvSpPr>
        <p:spPr>
          <a:xfrm>
            <a:off x="548640" y="1371600"/>
            <a:ext cx="53949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sec-icon-bg-0"/>
          <p:cNvSpPr/>
          <p:nvPr/>
        </p:nvSpPr>
        <p:spPr>
          <a:xfrm>
            <a:off x="731520" y="1554480"/>
            <a:ext cx="594360" cy="59436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877824" y="1700784"/>
            <a:ext cx="301752" cy="301752"/>
          </a:xfrm>
          <a:prstGeom prst="rect">
            <a:avLst/>
          </a:prstGeom>
        </p:spPr>
      </p:pic>
      <p:sp>
        <p:nvSpPr>
          <p:cNvPr id="6" name="Text 3"/>
          <p:cNvSpPr txBox="1"/>
          <p:nvPr/>
        </p:nvSpPr>
        <p:spPr>
          <a:xfrm>
            <a:off x="1508760" y="1481328"/>
            <a:ext cx="42976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bcrypt password hashing</a:t>
            </a:r>
            <a:endParaRPr lang="en-US" sz="1600" dirty="0"/>
          </a:p>
        </p:txBody>
      </p:sp>
      <p:sp>
        <p:nvSpPr>
          <p:cNvPr id="7" name="Text 4"/>
          <p:cNvSpPr txBox="1"/>
          <p:nvPr/>
        </p:nvSpPr>
        <p:spPr>
          <a:xfrm>
            <a:off x="1508760" y="1874520"/>
            <a:ext cx="429768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via passlib; plain passwords never stored</a:t>
            </a:r>
            <a:endParaRPr lang="en-US" sz="1400" dirty="0"/>
          </a:p>
        </p:txBody>
      </p:sp>
      <p:sp>
        <p:nvSpPr>
          <p:cNvPr id="8" name="sec-1"/>
          <p:cNvSpPr/>
          <p:nvPr/>
        </p:nvSpPr>
        <p:spPr>
          <a:xfrm>
            <a:off x="6309360" y="1371600"/>
            <a:ext cx="53949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9" name="sec-icon-bg-1"/>
          <p:cNvSpPr/>
          <p:nvPr/>
        </p:nvSpPr>
        <p:spPr>
          <a:xfrm>
            <a:off x="6492240" y="1554480"/>
            <a:ext cx="594360" cy="59436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6638544" y="1700784"/>
            <a:ext cx="301752" cy="301752"/>
          </a:xfrm>
          <a:prstGeom prst="rect">
            <a:avLst/>
          </a:prstGeom>
        </p:spPr>
      </p:pic>
      <p:sp>
        <p:nvSpPr>
          <p:cNvPr id="11" name="Text 7"/>
          <p:cNvSpPr txBox="1"/>
          <p:nvPr/>
        </p:nvSpPr>
        <p:spPr>
          <a:xfrm>
            <a:off x="7269480" y="1481328"/>
            <a:ext cx="42976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JWT, HS256, 8 hour expiry</a:t>
            </a:r>
            <a:endParaRPr lang="en-US" sz="1600" dirty="0"/>
          </a:p>
        </p:txBody>
      </p:sp>
      <p:sp>
        <p:nvSpPr>
          <p:cNvPr id="12" name="Text 8"/>
          <p:cNvSpPr txBox="1"/>
          <p:nvPr/>
        </p:nvSpPr>
        <p:spPr>
          <a:xfrm>
            <a:off x="7269480" y="1874520"/>
            <a:ext cx="429768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claims: user id, email, role, issued-at, expiry</a:t>
            </a:r>
            <a:endParaRPr lang="en-US" sz="1400" dirty="0"/>
          </a:p>
        </p:txBody>
      </p:sp>
      <p:sp>
        <p:nvSpPr>
          <p:cNvPr id="13" name="sec-2"/>
          <p:cNvSpPr/>
          <p:nvPr/>
        </p:nvSpPr>
        <p:spPr>
          <a:xfrm>
            <a:off x="548640" y="2459736"/>
            <a:ext cx="53949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4" name="sec-icon-bg-2"/>
          <p:cNvSpPr/>
          <p:nvPr/>
        </p:nvSpPr>
        <p:spPr>
          <a:xfrm>
            <a:off x="731520" y="2642616"/>
            <a:ext cx="594360" cy="594360"/>
          </a:xfrm>
          <a:prstGeom prst="ellipse">
            <a:avLst/>
          </a:prstGeom>
          <a:solidFill>
            <a:schemeClr val="accent4"/>
          </a:solidFill>
          <a:ln w="12700">
            <a:solidFill>
              <a:schemeClr val="accent4"/>
            </a:solidFill>
            <a:prstDash val="solid"/>
          </a:ln>
        </p:spPr>
      </p:sp>
      <p:pic>
        <p:nvPicPr>
          <p:cNvPr id="15" name="Image 2" descr="preencoded.png">    </p:cNvPr>
          <p:cNvPicPr>
            <a:picLocks noChangeAspect="1"/>
          </p:cNvPicPr>
          <p:nvPr/>
        </p:nvPicPr>
        <p:blipFill>
          <a:blip r:embed="rId3"/>
          <a:stretch>
            <a:fillRect/>
          </a:stretch>
        </p:blipFill>
        <p:spPr>
          <a:xfrm>
            <a:off x="877824" y="2788920"/>
            <a:ext cx="301752" cy="301752"/>
          </a:xfrm>
          <a:prstGeom prst="rect">
            <a:avLst/>
          </a:prstGeom>
        </p:spPr>
      </p:pic>
      <p:sp>
        <p:nvSpPr>
          <p:cNvPr id="16" name="Text 11"/>
          <p:cNvSpPr txBox="1"/>
          <p:nvPr/>
        </p:nvSpPr>
        <p:spPr>
          <a:xfrm>
            <a:off x="1508760" y="2569464"/>
            <a:ext cx="42976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No account enumeration</a:t>
            </a:r>
            <a:endParaRPr lang="en-US" sz="1600" dirty="0"/>
          </a:p>
        </p:txBody>
      </p:sp>
      <p:sp>
        <p:nvSpPr>
          <p:cNvPr id="17" name="Text 12"/>
          <p:cNvSpPr txBox="1"/>
          <p:nvPr/>
        </p:nvSpPr>
        <p:spPr>
          <a:xfrm>
            <a:off x="1508760" y="2962656"/>
            <a:ext cx="429768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one generic "incorrect email or password" message</a:t>
            </a:r>
            <a:endParaRPr lang="en-US" sz="1400" dirty="0"/>
          </a:p>
        </p:txBody>
      </p:sp>
      <p:sp>
        <p:nvSpPr>
          <p:cNvPr id="18" name="sec-3"/>
          <p:cNvSpPr/>
          <p:nvPr/>
        </p:nvSpPr>
        <p:spPr>
          <a:xfrm>
            <a:off x="6309360" y="2459736"/>
            <a:ext cx="53949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9" name="sec-icon-bg-3"/>
          <p:cNvSpPr/>
          <p:nvPr/>
        </p:nvSpPr>
        <p:spPr>
          <a:xfrm>
            <a:off x="6492240" y="2642616"/>
            <a:ext cx="594360" cy="594360"/>
          </a:xfrm>
          <a:prstGeom prst="ellipse">
            <a:avLst/>
          </a:prstGeom>
          <a:solidFill>
            <a:schemeClr val="accent4"/>
          </a:solidFill>
          <a:ln w="12700">
            <a:solidFill>
              <a:schemeClr val="accent4"/>
            </a:solidFill>
            <a:prstDash val="solid"/>
          </a:ln>
        </p:spPr>
      </p:sp>
      <p:pic>
        <p:nvPicPr>
          <p:cNvPr id="20" name="Image 3" descr="preencoded.png">    </p:cNvPr>
          <p:cNvPicPr>
            <a:picLocks noChangeAspect="1"/>
          </p:cNvPicPr>
          <p:nvPr/>
        </p:nvPicPr>
        <p:blipFill>
          <a:blip r:embed="rId4"/>
          <a:stretch>
            <a:fillRect/>
          </a:stretch>
        </p:blipFill>
        <p:spPr>
          <a:xfrm>
            <a:off x="6638544" y="2788920"/>
            <a:ext cx="301752" cy="301752"/>
          </a:xfrm>
          <a:prstGeom prst="rect">
            <a:avLst/>
          </a:prstGeom>
        </p:spPr>
      </p:pic>
      <p:sp>
        <p:nvSpPr>
          <p:cNvPr id="21" name="Text 15"/>
          <p:cNvSpPr txBox="1"/>
          <p:nvPr/>
        </p:nvSpPr>
        <p:spPr>
          <a:xfrm>
            <a:off x="7269480" y="2569464"/>
            <a:ext cx="42976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Login rate limit</a:t>
            </a:r>
            <a:endParaRPr lang="en-US" sz="1600" dirty="0"/>
          </a:p>
        </p:txBody>
      </p:sp>
      <p:sp>
        <p:nvSpPr>
          <p:cNvPr id="22" name="Text 16"/>
          <p:cNvSpPr txBox="1"/>
          <p:nvPr/>
        </p:nvSpPr>
        <p:spPr>
          <a:xfrm>
            <a:off x="7269480" y="2962656"/>
            <a:ext cx="429768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5 attempts per 5 minutes per IP</a:t>
            </a:r>
            <a:endParaRPr lang="en-US" sz="1400" dirty="0"/>
          </a:p>
        </p:txBody>
      </p:sp>
      <p:sp>
        <p:nvSpPr>
          <p:cNvPr id="23" name="sec-4"/>
          <p:cNvSpPr/>
          <p:nvPr/>
        </p:nvSpPr>
        <p:spPr>
          <a:xfrm>
            <a:off x="548640" y="3547872"/>
            <a:ext cx="53949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4" name="sec-icon-bg-4"/>
          <p:cNvSpPr/>
          <p:nvPr/>
        </p:nvSpPr>
        <p:spPr>
          <a:xfrm>
            <a:off x="731520" y="3730752"/>
            <a:ext cx="594360" cy="594360"/>
          </a:xfrm>
          <a:prstGeom prst="ellipse">
            <a:avLst/>
          </a:prstGeom>
          <a:solidFill>
            <a:schemeClr val="accent1"/>
          </a:solidFill>
          <a:ln w="12700">
            <a:solidFill>
              <a:schemeClr val="accent1"/>
            </a:solidFill>
            <a:prstDash val="solid"/>
          </a:ln>
        </p:spPr>
      </p:sp>
      <p:pic>
        <p:nvPicPr>
          <p:cNvPr id="25" name="Image 4" descr="preencoded.png">    </p:cNvPr>
          <p:cNvPicPr>
            <a:picLocks noChangeAspect="1"/>
          </p:cNvPicPr>
          <p:nvPr/>
        </p:nvPicPr>
        <p:blipFill>
          <a:blip r:embed="rId5"/>
          <a:stretch>
            <a:fillRect/>
          </a:stretch>
        </p:blipFill>
        <p:spPr>
          <a:xfrm>
            <a:off x="877824" y="3877056"/>
            <a:ext cx="301752" cy="301752"/>
          </a:xfrm>
          <a:prstGeom prst="rect">
            <a:avLst/>
          </a:prstGeom>
        </p:spPr>
      </p:pic>
      <p:sp>
        <p:nvSpPr>
          <p:cNvPr id="26" name="Text 19"/>
          <p:cNvSpPr txBox="1"/>
          <p:nvPr/>
        </p:nvSpPr>
        <p:spPr>
          <a:xfrm>
            <a:off x="1508760" y="3657600"/>
            <a:ext cx="42976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Role-based access</a:t>
            </a:r>
            <a:endParaRPr lang="en-US" sz="1600" dirty="0"/>
          </a:p>
        </p:txBody>
      </p:sp>
      <p:sp>
        <p:nvSpPr>
          <p:cNvPr id="27" name="Text 20"/>
          <p:cNvSpPr txBox="1"/>
          <p:nvPr/>
        </p:nvSpPr>
        <p:spPr>
          <a:xfrm>
            <a:off x="1508760" y="4050792"/>
            <a:ext cx="429768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require_admin guards the dashboard; sharing is view-only</a:t>
            </a:r>
            <a:endParaRPr lang="en-US" sz="1400" dirty="0"/>
          </a:p>
        </p:txBody>
      </p:sp>
      <p:sp>
        <p:nvSpPr>
          <p:cNvPr id="28" name="sec-5"/>
          <p:cNvSpPr/>
          <p:nvPr/>
        </p:nvSpPr>
        <p:spPr>
          <a:xfrm>
            <a:off x="6309360" y="3547872"/>
            <a:ext cx="53949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29" name="sec-icon-bg-5"/>
          <p:cNvSpPr/>
          <p:nvPr/>
        </p:nvSpPr>
        <p:spPr>
          <a:xfrm>
            <a:off x="6492240" y="3730752"/>
            <a:ext cx="594360" cy="59436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6638544" y="3877056"/>
            <a:ext cx="301752" cy="301752"/>
          </a:xfrm>
          <a:prstGeom prst="rect">
            <a:avLst/>
          </a:prstGeom>
        </p:spPr>
      </p:pic>
      <p:sp>
        <p:nvSpPr>
          <p:cNvPr id="31" name="Text 23"/>
          <p:cNvSpPr txBox="1"/>
          <p:nvPr/>
        </p:nvSpPr>
        <p:spPr>
          <a:xfrm>
            <a:off x="7269480" y="3657600"/>
            <a:ext cx="42976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Share links</a:t>
            </a:r>
            <a:endParaRPr lang="en-US" sz="1600" dirty="0"/>
          </a:p>
        </p:txBody>
      </p:sp>
      <p:sp>
        <p:nvSpPr>
          <p:cNvPr id="32" name="Text 24"/>
          <p:cNvSpPr txBox="1"/>
          <p:nvPr/>
        </p:nvSpPr>
        <p:spPr>
          <a:xfrm>
            <a:off x="7269480" y="4050792"/>
            <a:ext cx="429768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expiring, revocable, claimed once per account</a:t>
            </a:r>
            <a:endParaRPr lang="en-US" sz="1400" dirty="0"/>
          </a:p>
        </p:txBody>
      </p:sp>
      <p:sp>
        <p:nvSpPr>
          <p:cNvPr id="33" name="sec-6"/>
          <p:cNvSpPr/>
          <p:nvPr/>
        </p:nvSpPr>
        <p:spPr>
          <a:xfrm>
            <a:off x="548640" y="4636008"/>
            <a:ext cx="53949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34" name="sec-icon-bg-6"/>
          <p:cNvSpPr/>
          <p:nvPr/>
        </p:nvSpPr>
        <p:spPr>
          <a:xfrm>
            <a:off x="731520" y="4818888"/>
            <a:ext cx="594360" cy="594360"/>
          </a:xfrm>
          <a:prstGeom prst="ellipse">
            <a:avLst/>
          </a:prstGeom>
          <a:solidFill>
            <a:schemeClr val="accent2"/>
          </a:solidFill>
          <a:ln w="12700">
            <a:solidFill>
              <a:schemeClr val="accent2"/>
            </a:solidFill>
            <a:prstDash val="solid"/>
          </a:ln>
        </p:spPr>
      </p:sp>
      <p:pic>
        <p:nvPicPr>
          <p:cNvPr id="35" name="Image 6" descr="preencoded.png">    </p:cNvPr>
          <p:cNvPicPr>
            <a:picLocks noChangeAspect="1"/>
          </p:cNvPicPr>
          <p:nvPr/>
        </p:nvPicPr>
        <p:blipFill>
          <a:blip r:embed="rId7"/>
          <a:stretch>
            <a:fillRect/>
          </a:stretch>
        </p:blipFill>
        <p:spPr>
          <a:xfrm>
            <a:off x="877824" y="4965192"/>
            <a:ext cx="301752" cy="301752"/>
          </a:xfrm>
          <a:prstGeom prst="rect">
            <a:avLst/>
          </a:prstGeom>
        </p:spPr>
      </p:pic>
      <p:sp>
        <p:nvSpPr>
          <p:cNvPr id="36" name="Text 27"/>
          <p:cNvSpPr txBox="1"/>
          <p:nvPr/>
        </p:nvSpPr>
        <p:spPr>
          <a:xfrm>
            <a:off x="1508760" y="4745736"/>
            <a:ext cx="42976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Scoped attachments</a:t>
            </a:r>
            <a:endParaRPr lang="en-US" sz="1600" dirty="0"/>
          </a:p>
        </p:txBody>
      </p:sp>
      <p:sp>
        <p:nvSpPr>
          <p:cNvPr id="37" name="Text 28"/>
          <p:cNvSpPr txBox="1"/>
          <p:nvPr/>
        </p:nvSpPr>
        <p:spPr>
          <a:xfrm>
            <a:off x="1508760" y="5138928"/>
            <a:ext cx="429768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downloads checked against conversation access</a:t>
            </a:r>
            <a:endParaRPr lang="en-US" sz="1400" dirty="0"/>
          </a:p>
        </p:txBody>
      </p:sp>
      <p:sp>
        <p:nvSpPr>
          <p:cNvPr id="38" name="sec-7"/>
          <p:cNvSpPr/>
          <p:nvPr/>
        </p:nvSpPr>
        <p:spPr>
          <a:xfrm>
            <a:off x="6309360" y="4636008"/>
            <a:ext cx="53949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39" name="sec-icon-bg-7"/>
          <p:cNvSpPr/>
          <p:nvPr/>
        </p:nvSpPr>
        <p:spPr>
          <a:xfrm>
            <a:off x="6492240" y="4818888"/>
            <a:ext cx="594360" cy="594360"/>
          </a:xfrm>
          <a:prstGeom prst="ellipse">
            <a:avLst/>
          </a:prstGeom>
          <a:solidFill>
            <a:schemeClr val="accent4"/>
          </a:solidFill>
          <a:ln w="12700">
            <a:solidFill>
              <a:schemeClr val="accent4"/>
            </a:solidFill>
            <a:prstDash val="solid"/>
          </a:ln>
        </p:spPr>
      </p:sp>
      <p:pic>
        <p:nvPicPr>
          <p:cNvPr id="40" name="Image 7" descr="preencoded.png">    </p:cNvPr>
          <p:cNvPicPr>
            <a:picLocks noChangeAspect="1"/>
          </p:cNvPicPr>
          <p:nvPr/>
        </p:nvPicPr>
        <p:blipFill>
          <a:blip r:embed="rId8"/>
          <a:stretch>
            <a:fillRect/>
          </a:stretch>
        </p:blipFill>
        <p:spPr>
          <a:xfrm>
            <a:off x="6638544" y="4965192"/>
            <a:ext cx="301752" cy="301752"/>
          </a:xfrm>
          <a:prstGeom prst="rect">
            <a:avLst/>
          </a:prstGeom>
        </p:spPr>
      </p:pic>
      <p:sp>
        <p:nvSpPr>
          <p:cNvPr id="41" name="Text 31"/>
          <p:cNvSpPr txBox="1"/>
          <p:nvPr/>
        </p:nvSpPr>
        <p:spPr>
          <a:xfrm>
            <a:off x="7269480" y="4745736"/>
            <a:ext cx="429768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Secrets in the environment</a:t>
            </a:r>
            <a:endParaRPr lang="en-US" sz="1600" dirty="0"/>
          </a:p>
        </p:txBody>
      </p:sp>
      <p:sp>
        <p:nvSpPr>
          <p:cNvPr id="42" name="Text 32"/>
          <p:cNvSpPr txBox="1"/>
          <p:nvPr/>
        </p:nvSpPr>
        <p:spPr>
          <a:xfrm>
            <a:off x="7269480" y="5138928"/>
            <a:ext cx="4297680" cy="411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.env is gitignored; none in the repository</a:t>
            </a:r>
            <a:endParaRPr lang="en-US" sz="1400" dirty="0"/>
          </a:p>
        </p:txBody>
      </p:sp>
      <p:sp>
        <p:nvSpPr>
          <p:cNvPr id="43" name="Text 33"/>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Gaps I know about are on the limitations slide: token in sessionStorage, in-memory rate limiter.</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Frontend and real-time sync</a:t>
            </a:r>
            <a:endParaRPr lang="en-US" sz="3400" dirty="0"/>
          </a:p>
        </p:txBody>
      </p:sp>
      <p:sp>
        <p:nvSpPr>
          <p:cNvPr id="3" name="Text 1"/>
          <p:cNvSpPr txBox="1"/>
          <p:nvPr/>
        </p:nvSpPr>
        <p:spPr>
          <a:xfrm>
            <a:off x="548640" y="1371600"/>
            <a:ext cx="539496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React 18 + Vite, built as independent pages (landing, login, chat, dashboard) so each stays a plain static route in FastAPI</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GSAP for motion, Chart.js for the admin dashboard, layout responsive down to mobile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Interface strings: a hand-translated dictionary (5 languages), not LLM calls, so they are free and stable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Share a conversation by email or QR code; viewers get read-only access</a:t>
            </a:r>
            <a:endParaRPr lang="en-US" sz="1700" dirty="0"/>
          </a:p>
        </p:txBody>
      </p:sp>
      <p:sp>
        <p:nvSpPr>
          <p:cNvPr id="4" name="sse-panel"/>
          <p:cNvSpPr/>
          <p:nvPr/>
        </p:nvSpPr>
        <p:spPr>
          <a:xfrm>
            <a:off x="6309360" y="1371600"/>
            <a:ext cx="5333695" cy="4297680"/>
          </a:xfrm>
          <a:prstGeom prst="roundRect">
            <a:avLst>
              <a:gd name="adj" fmla="val 1702"/>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5" name="Text 3"/>
          <p:cNvSpPr txBox="1"/>
          <p:nvPr/>
        </p:nvSpPr>
        <p:spPr>
          <a:xfrm>
            <a:off x="6583680" y="1508760"/>
            <a:ext cx="4785055"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Real-time: push, with a safety net</a:t>
            </a:r>
            <a:endParaRPr lang="en-US" sz="1600" dirty="0"/>
          </a:p>
        </p:txBody>
      </p:sp>
      <p:sp>
        <p:nvSpPr>
          <p:cNvPr id="6" name="tab"/>
          <p:cNvSpPr/>
          <p:nvPr/>
        </p:nvSpPr>
        <p:spPr>
          <a:xfrm>
            <a:off x="6583680" y="2103120"/>
            <a:ext cx="1554480" cy="822960"/>
          </a:xfrm>
          <a:prstGeom prst="roundRect">
            <a:avLst>
              <a:gd name="adj" fmla="val 8889"/>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sp>
        <p:nvSpPr>
          <p:cNvPr id="7" name="Text 5"/>
          <p:cNvSpPr txBox="1"/>
          <p:nvPr/>
        </p:nvSpPr>
        <p:spPr>
          <a:xfrm>
            <a:off x="6583680" y="2103120"/>
            <a:ext cx="1554480" cy="8229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Browser tab</a:t>
            </a:r>
            <a:endParaRPr lang="en-US" sz="1400" dirty="0"/>
          </a:p>
        </p:txBody>
      </p:sp>
      <p:sp>
        <p:nvSpPr>
          <p:cNvPr id="8" name="queue"/>
          <p:cNvSpPr/>
          <p:nvPr/>
        </p:nvSpPr>
        <p:spPr>
          <a:xfrm>
            <a:off x="8641080" y="2103120"/>
            <a:ext cx="1737360" cy="822960"/>
          </a:xfrm>
          <a:prstGeom prst="roundRect">
            <a:avLst>
              <a:gd name="adj" fmla="val 8889"/>
            </a:avLst>
          </a:prstGeom>
          <a:solidFill>
            <a:schemeClr val="accent1"/>
          </a:solidFill>
          <a:ln w="12700">
            <a:solidFill>
              <a:schemeClr val="accent1"/>
            </a:solidFill>
            <a:prstDash val="solid"/>
          </a:ln>
          <a:effectLst>
            <a:outerShdw sx="100000" sy="100000" kx="0" ky="0" algn="bl" rotWithShape="0" blurRad="101600" dist="25400" dir="5400000">
              <a:srgbClr val="1B2A28">
                <a:alpha val="12000"/>
              </a:srgbClr>
            </a:outerShdw>
          </a:effectLst>
        </p:spPr>
      </p:sp>
      <p:sp>
        <p:nvSpPr>
          <p:cNvPr id="9" name="Text 7"/>
          <p:cNvSpPr txBox="1"/>
          <p:nvPr/>
        </p:nvSpPr>
        <p:spPr>
          <a:xfrm>
            <a:off x="8641080" y="2103120"/>
            <a:ext cx="1737360" cy="822960"/>
          </a:xfrm>
          <a:prstGeom prst="rect">
            <a:avLst/>
          </a:prstGeom>
          <a:noFill/>
          <a:ln/>
        </p:spPr>
        <p:txBody>
          <a:bodyPr wrap="square" lIns="0" tIns="0" rIns="0" bIns="0" rtlCol="0" anchor="ctr"/>
          <a:lstStyle/>
          <a:p>
            <a:pPr algn="ctr" indent="0" marL="0">
              <a:buNone/>
            </a:pPr>
            <a:r>
              <a:rPr lang="en-US" sz="1300" b="1" dirty="0">
                <a:solidFill>
                  <a:schemeClr val="tx2"/>
                </a:solidFill>
                <a:latin typeface="Calibri" pitchFamily="34" charset="0"/>
                <a:ea typeface="Calibri" pitchFamily="34" charset="-122"/>
                <a:cs typeface="Calibri" pitchFamily="34" charset="-120"/>
              </a:rPr>
              <a:t>asyncio.Queue</a:t>
            </a:r>
            <a:endParaRPr lang="en-US" sz="1300" dirty="0"/>
          </a:p>
          <a:p>
            <a:pPr algn="ctr" indent="0" marL="0">
              <a:buNone/>
            </a:pPr>
            <a:r>
              <a:rPr lang="en-US" sz="1300" b="1" dirty="0">
                <a:solidFill>
                  <a:schemeClr val="tx2"/>
                </a:solidFill>
                <a:latin typeface="Calibri" pitchFamily="34" charset="0"/>
                <a:ea typeface="Calibri" pitchFamily="34" charset="-122"/>
                <a:cs typeface="Calibri" pitchFamily="34" charset="-120"/>
              </a:rPr>
              <a:t>per user</a:t>
            </a:r>
            <a:endParaRPr lang="en-US" sz="1300" dirty="0"/>
          </a:p>
        </p:txBody>
      </p:sp>
      <p:sp>
        <p:nvSpPr>
          <p:cNvPr id="10" name="mutation"/>
          <p:cNvSpPr/>
          <p:nvPr/>
        </p:nvSpPr>
        <p:spPr>
          <a:xfrm>
            <a:off x="9052560" y="3749040"/>
            <a:ext cx="1325880" cy="822960"/>
          </a:xfrm>
          <a:prstGeom prst="roundRect">
            <a:avLst>
              <a:gd name="adj" fmla="val 8889"/>
            </a:avLst>
          </a:prstGeom>
          <a:solidFill>
            <a:schemeClr val="accent4"/>
          </a:solidFill>
          <a:ln w="12700">
            <a:solidFill>
              <a:schemeClr val="accent4"/>
            </a:solidFill>
            <a:prstDash val="solid"/>
          </a:ln>
          <a:effectLst>
            <a:outerShdw sx="100000" sy="100000" kx="0" ky="0" algn="bl" rotWithShape="0" blurRad="101600" dist="25400" dir="5400000">
              <a:srgbClr val="1B2A28">
                <a:alpha val="12000"/>
              </a:srgbClr>
            </a:outerShdw>
          </a:effectLst>
        </p:spPr>
      </p:sp>
      <p:sp>
        <p:nvSpPr>
          <p:cNvPr id="11" name="Text 9"/>
          <p:cNvSpPr txBox="1"/>
          <p:nvPr/>
        </p:nvSpPr>
        <p:spPr>
          <a:xfrm>
            <a:off x="9052560" y="3749040"/>
            <a:ext cx="1325880" cy="8229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share, message</a:t>
            </a:r>
            <a:endParaRPr lang="en-US" sz="1200" dirty="0"/>
          </a:p>
        </p:txBody>
      </p:sp>
      <p:sp>
        <p:nvSpPr>
          <p:cNvPr id="12" name="sse-arrow"/>
          <p:cNvSpPr/>
          <p:nvPr/>
        </p:nvSpPr>
        <p:spPr>
          <a:xfrm>
            <a:off x="8595360" y="2514600"/>
            <a:ext cx="-411480" cy="0"/>
          </a:xfrm>
          <a:prstGeom prst="line">
            <a:avLst/>
          </a:prstGeom>
          <a:noFill/>
          <a:ln w="25400">
            <a:solidFill>
              <a:srgbClr val="0F3B36"/>
            </a:solidFill>
            <a:prstDash val="solid"/>
            <a:tailEnd type="triangle"/>
          </a:ln>
        </p:spPr>
      </p:sp>
      <p:sp>
        <p:nvSpPr>
          <p:cNvPr id="13" name="Text 11"/>
          <p:cNvSpPr txBox="1"/>
          <p:nvPr/>
        </p:nvSpPr>
        <p:spPr>
          <a:xfrm>
            <a:off x="8165592" y="2148840"/>
            <a:ext cx="457200" cy="274320"/>
          </a:xfrm>
          <a:prstGeom prst="rect">
            <a:avLst/>
          </a:prstGeom>
          <a:noFill/>
          <a:ln/>
        </p:spPr>
        <p:txBody>
          <a:bodyPr wrap="square" lIns="0" tIns="0" rIns="0" bIns="0" rtlCol="0" anchor="t"/>
          <a:lstStyle/>
          <a:p>
            <a:pPr algn="ctr" indent="0" marL="0">
              <a:buNone/>
            </a:pPr>
            <a:r>
              <a:rPr lang="en-US" sz="1100" b="1" dirty="0">
                <a:solidFill>
                  <a:schemeClr val="tx2"/>
                </a:solidFill>
                <a:latin typeface="Calibri" pitchFamily="34" charset="0"/>
                <a:ea typeface="Calibri" pitchFamily="34" charset="-122"/>
                <a:cs typeface="Calibri" pitchFamily="34" charset="-120"/>
              </a:rPr>
              <a:t>SSE</a:t>
            </a:r>
            <a:endParaRPr lang="en-US" sz="1100" dirty="0"/>
          </a:p>
        </p:txBody>
      </p:sp>
      <p:sp>
        <p:nvSpPr>
          <p:cNvPr id="14" name="arrow"/>
          <p:cNvSpPr/>
          <p:nvPr/>
        </p:nvSpPr>
        <p:spPr>
          <a:xfrm>
            <a:off x="9692640" y="3703320"/>
            <a:ext cx="0" cy="-731520"/>
          </a:xfrm>
          <a:prstGeom prst="line">
            <a:avLst/>
          </a:prstGeom>
          <a:noFill/>
          <a:ln w="25400">
            <a:solidFill>
              <a:srgbClr val="0F3B36"/>
            </a:solidFill>
            <a:prstDash val="solid"/>
            <a:tailEnd type="triangle"/>
          </a:ln>
        </p:spPr>
      </p:sp>
      <p:sp>
        <p:nvSpPr>
          <p:cNvPr id="15" name="Text 13"/>
          <p:cNvSpPr txBox="1"/>
          <p:nvPr/>
        </p:nvSpPr>
        <p:spPr>
          <a:xfrm>
            <a:off x="6583680" y="3246120"/>
            <a:ext cx="2926080" cy="274320"/>
          </a:xfrm>
          <a:prstGeom prst="rect">
            <a:avLst/>
          </a:prstGeom>
          <a:noFill/>
          <a:ln/>
        </p:spPr>
        <p:txBody>
          <a:bodyPr wrap="square" lIns="0" tIns="0" rIns="0" bIns="0" rtlCol="0" anchor="t"/>
          <a:lstStyle/>
          <a:p>
            <a:pPr algn="r" indent="0" marL="0">
              <a:buNone/>
            </a:pPr>
            <a:r>
              <a:rPr lang="en-US" sz="1200" i="1" dirty="0">
                <a:solidFill>
                  <a:schemeClr val="accent4"/>
                </a:solidFill>
                <a:latin typeface="Calibri" pitchFamily="34" charset="0"/>
                <a:ea typeface="Calibri" pitchFamily="34" charset="-122"/>
                <a:cs typeface="Calibri" pitchFamily="34" charset="-120"/>
              </a:rPr>
              <a:t>notify_user()</a:t>
            </a:r>
            <a:endParaRPr lang="en-US" sz="1200" dirty="0"/>
          </a:p>
        </p:txBody>
      </p:sp>
      <p:sp>
        <p:nvSpPr>
          <p:cNvPr id="16" name="Text 14"/>
          <p:cNvSpPr txBox="1"/>
          <p:nvPr/>
        </p:nvSpPr>
        <p:spPr>
          <a:xfrm>
            <a:off x="6583680" y="4709160"/>
            <a:ext cx="4785055" cy="8686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Plus a 30 second poll, because proxies silently drop long-lived streams. Per-process: multiple instances would need Redis pub/sub.</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Testing: bugs become regression tests</a:t>
            </a:r>
            <a:endParaRPr lang="en-US" sz="3400" dirty="0"/>
          </a:p>
        </p:txBody>
      </p:sp>
      <p:graphicFrame>
        <p:nvGraphicFramePr>
          <p:cNvPr id="3" name="Chart 0" descr=""/>
          <p:cNvGraphicFramePr/>
          <p:nvPr/>
        </p:nvGraphicFramePr>
        <p:xfrm>
          <a:off x="548640" y="137160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4" name="test-stat"/>
          <p:cNvSpPr/>
          <p:nvPr/>
        </p:nvSpPr>
        <p:spPr>
          <a:xfrm>
            <a:off x="6766560" y="1371600"/>
            <a:ext cx="4876495" cy="1280160"/>
          </a:xfrm>
          <a:prstGeom prst="roundRect">
            <a:avLst>
              <a:gd name="adj" fmla="val 5714"/>
            </a:avLst>
          </a:prstGeom>
          <a:solidFill>
            <a:schemeClr val="accent2"/>
          </a:solidFill>
          <a:ln w="12700">
            <a:solidFill>
              <a:schemeClr val="accent2"/>
            </a:solidFill>
            <a:prstDash val="solid"/>
          </a:ln>
          <a:effectLst>
            <a:outerShdw sx="100000" sy="100000" kx="0" ky="0" algn="bl" rotWithShape="0" blurRad="101600" dist="25400" dir="5400000">
              <a:srgbClr val="1B2A28">
                <a:alpha val="12000"/>
              </a:srgbClr>
            </a:outerShdw>
          </a:effectLst>
        </p:spPr>
      </p:sp>
      <p:sp>
        <p:nvSpPr>
          <p:cNvPr id="5" name="Text 2"/>
          <p:cNvSpPr txBox="1"/>
          <p:nvPr/>
        </p:nvSpPr>
        <p:spPr>
          <a:xfrm>
            <a:off x="7040880" y="1417320"/>
            <a:ext cx="1645920" cy="1188720"/>
          </a:xfrm>
          <a:prstGeom prst="rect">
            <a:avLst/>
          </a:prstGeom>
          <a:noFill/>
          <a:ln/>
        </p:spPr>
        <p:txBody>
          <a:bodyPr wrap="square" lIns="0" tIns="0" rIns="0" bIns="0" rtlCol="0" anchor="ctr"/>
          <a:lstStyle/>
          <a:p>
            <a:pPr indent="0" marL="0">
              <a:buNone/>
            </a:pPr>
            <a:r>
              <a:rPr lang="en-US" sz="5200" b="1" dirty="0">
                <a:solidFill>
                  <a:schemeClr val="bg1"/>
                </a:solidFill>
                <a:latin typeface="Cambria" pitchFamily="34" charset="0"/>
                <a:ea typeface="Cambria" pitchFamily="34" charset="-122"/>
                <a:cs typeface="Cambria" pitchFamily="34" charset="-120"/>
              </a:rPr>
              <a:t>375</a:t>
            </a:r>
            <a:endParaRPr lang="en-US" sz="5200" dirty="0"/>
          </a:p>
        </p:txBody>
      </p:sp>
      <p:sp>
        <p:nvSpPr>
          <p:cNvPr id="6" name="Text 3"/>
          <p:cNvSpPr txBox="1"/>
          <p:nvPr/>
        </p:nvSpPr>
        <p:spPr>
          <a:xfrm>
            <a:off x="8686800" y="1417320"/>
            <a:ext cx="2773375" cy="118872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test functions across 37 files; 492 cases once parametrised</a:t>
            </a:r>
            <a:endParaRPr lang="en-US" sz="1400" dirty="0"/>
          </a:p>
        </p:txBody>
      </p:sp>
      <p:sp>
        <p:nvSpPr>
          <p:cNvPr id="7" name="Text 4"/>
          <p:cNvSpPr txBox="1"/>
          <p:nvPr/>
        </p:nvSpPr>
        <p:spPr>
          <a:xfrm>
            <a:off x="6766560" y="2926080"/>
            <a:ext cx="4876495"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Every bug fixed became a regression test, usually from a real PDF page or screenshot (tests/fixtures/known_cases.py)</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LLM paths are tested with stubbed providers, so the grounding check is verified without a network</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Frontend: source-level assertions plus live verification after each change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Not yet: browser or component tests, and a retrieval accuracy benchmark</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Real bugs I found and fixed</a:t>
            </a:r>
            <a:endParaRPr lang="en-US" sz="3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43200"/>
                <a:gridCol w="4572000"/>
                <a:gridCol w="3776472"/>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Bug</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Symptom</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Title misattribution</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wrapped title was stolen by the next task</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Forward-attach only when no task is open</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Fused digits ("C13")</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Level and footnote disagreed depending on pdfplumber's tokenization</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Character geometry: size and alignment</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Invalid code, wrong task</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"3.999" matched an unrelated task through shared words</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Separate invalid_id outcome with suggestions</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Context carry-over misfire</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Action-code questions answered for the previous task</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Carry over only with no digit and a weak match</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Frequent LLM fallback</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Grounding check rejected valid rephrasings</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Scoped facts, notes re-attached, normalised spacing</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Groq 404 in production</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Default model had been deprecated</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Model name via environment variable</a:t>
                      </a:r>
                      <a:endParaRPr lang="en-US" sz="1400" dirty="0">
                        <a:latin typeface="Calibri" charset="0"/>
                        <a:ea typeface="Calibri" charset="0"/>
                        <a:cs typeface="Calibri" charset="0"/>
                      </a:endParaRPr>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Each one was found against real data, documented in docs/decisions.md with the reasoning, and pinned by a test.</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Known limitations, stated up front</a:t>
            </a:r>
            <a:endParaRPr lang="en-US" sz="3400" dirty="0"/>
          </a:p>
        </p:txBody>
      </p:sp>
      <p:sp>
        <p:nvSpPr>
          <p:cNvPr id="3" name="lim-0"/>
          <p:cNvSpPr/>
          <p:nvPr/>
        </p:nvSpPr>
        <p:spPr>
          <a:xfrm>
            <a:off x="548640" y="1371600"/>
            <a:ext cx="352044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pic>
        <p:nvPicPr>
          <p:cNvPr id="4" name="Image 0" descr="preencoded.png">    </p:cNvPr>
          <p:cNvPicPr>
            <a:picLocks noChangeAspect="1"/>
          </p:cNvPicPr>
          <p:nvPr/>
        </p:nvPicPr>
        <p:blipFill>
          <a:blip r:embed="rId1"/>
          <a:stretch>
            <a:fillRect/>
          </a:stretch>
        </p:blipFill>
        <p:spPr>
          <a:xfrm>
            <a:off x="777240" y="1572768"/>
            <a:ext cx="292608" cy="292608"/>
          </a:xfrm>
          <a:prstGeom prst="rect">
            <a:avLst/>
          </a:prstGeom>
        </p:spPr>
      </p:pic>
      <p:sp>
        <p:nvSpPr>
          <p:cNvPr id="5" name="Text 2"/>
          <p:cNvSpPr txBox="1"/>
          <p:nvPr/>
        </p:nvSpPr>
        <p:spPr>
          <a:xfrm>
            <a:off x="1188720"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Retrieval is not benchmarked</a:t>
            </a:r>
            <a:endParaRPr lang="en-US" sz="1500" dirty="0"/>
          </a:p>
        </p:txBody>
      </p:sp>
      <p:sp>
        <p:nvSpPr>
          <p:cNvPr id="6" name="Text 3"/>
          <p:cNvSpPr txBox="1"/>
          <p:nvPr/>
        </p:nvSpPr>
        <p:spPr>
          <a:xfrm>
            <a:off x="777240" y="2057400"/>
            <a:ext cx="306324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 labeled question set, so no precision@k</a:t>
            </a:r>
            <a:endParaRPr lang="en-US" sz="1400" dirty="0"/>
          </a:p>
        </p:txBody>
      </p:sp>
      <p:sp>
        <p:nvSpPr>
          <p:cNvPr id="7" name="Text 4"/>
          <p:cNvSpPr txBox="1"/>
          <p:nvPr/>
        </p:nvSpPr>
        <p:spPr>
          <a:xfrm>
            <a:off x="777240" y="2743200"/>
            <a:ext cx="3063240" cy="7315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Next: </a:t>
            </a:r>
            <a:pPr indent="0" marL="0">
              <a:buNone/>
            </a:pPr>
            <a:r>
              <a:rPr lang="en-US" sz="1400" dirty="0">
                <a:solidFill>
                  <a:schemeClr val="tx1"/>
                </a:solidFill>
                <a:latin typeface="Calibri" pitchFamily="34" charset="0"/>
                <a:ea typeface="Calibri" pitchFamily="34" charset="-122"/>
                <a:cs typeface="Calibri" pitchFamily="34" charset="-120"/>
              </a:rPr>
              <a:t>Build a 50-question gold set; report top-1 and top-3</a:t>
            </a:r>
            <a:endParaRPr lang="en-US" sz="1400" dirty="0"/>
          </a:p>
        </p:txBody>
      </p:sp>
      <p:sp>
        <p:nvSpPr>
          <p:cNvPr id="8" name="lim-1"/>
          <p:cNvSpPr/>
          <p:nvPr/>
        </p:nvSpPr>
        <p:spPr>
          <a:xfrm>
            <a:off x="4320540" y="1371600"/>
            <a:ext cx="352044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pic>
        <p:nvPicPr>
          <p:cNvPr id="9" name="Image 1" descr="preencoded.png">    </p:cNvPr>
          <p:cNvPicPr>
            <a:picLocks noChangeAspect="1"/>
          </p:cNvPicPr>
          <p:nvPr/>
        </p:nvPicPr>
        <p:blipFill>
          <a:blip r:embed="rId2"/>
          <a:stretch>
            <a:fillRect/>
          </a:stretch>
        </p:blipFill>
        <p:spPr>
          <a:xfrm>
            <a:off x="4549140" y="1572768"/>
            <a:ext cx="292608" cy="292608"/>
          </a:xfrm>
          <a:prstGeom prst="rect">
            <a:avLst/>
          </a:prstGeom>
        </p:spPr>
      </p:pic>
      <p:sp>
        <p:nvSpPr>
          <p:cNvPr id="10" name="Text 6"/>
          <p:cNvSpPr txBox="1"/>
          <p:nvPr/>
        </p:nvSpPr>
        <p:spPr>
          <a:xfrm>
            <a:off x="4960620"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Search is lexical</a:t>
            </a:r>
            <a:endParaRPr lang="en-US" sz="1500" dirty="0"/>
          </a:p>
        </p:txBody>
      </p:sp>
      <p:sp>
        <p:nvSpPr>
          <p:cNvPr id="11" name="Text 7"/>
          <p:cNvSpPr txBox="1"/>
          <p:nvPr/>
        </p:nvSpPr>
        <p:spPr>
          <a:xfrm>
            <a:off x="4549140" y="2057400"/>
            <a:ext cx="306324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Paraphrases with new vocabulary score low</a:t>
            </a:r>
            <a:endParaRPr lang="en-US" sz="1400" dirty="0"/>
          </a:p>
        </p:txBody>
      </p:sp>
      <p:sp>
        <p:nvSpPr>
          <p:cNvPr id="12" name="Text 8"/>
          <p:cNvSpPr txBox="1"/>
          <p:nvPr/>
        </p:nvSpPr>
        <p:spPr>
          <a:xfrm>
            <a:off x="4549140" y="2743200"/>
            <a:ext cx="3063240" cy="7315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Next: </a:t>
            </a:r>
            <a:pPr indent="0" marL="0">
              <a:buNone/>
            </a:pPr>
            <a:r>
              <a:rPr lang="en-US" sz="1400" dirty="0">
                <a:solidFill>
                  <a:schemeClr val="tx1"/>
                </a:solidFill>
                <a:latin typeface="Calibri" pitchFamily="34" charset="0"/>
                <a:ea typeface="Calibri" pitchFamily="34" charset="-122"/>
                <a:cs typeface="Calibri" pitchFamily="34" charset="-120"/>
              </a:rPr>
              <a:t>Embedding reranker on the TF-IDF top 5</a:t>
            </a:r>
            <a:endParaRPr lang="en-US" sz="1400" dirty="0"/>
          </a:p>
        </p:txBody>
      </p:sp>
      <p:sp>
        <p:nvSpPr>
          <p:cNvPr id="13" name="lim-2"/>
          <p:cNvSpPr/>
          <p:nvPr/>
        </p:nvSpPr>
        <p:spPr>
          <a:xfrm>
            <a:off x="8092440" y="1371600"/>
            <a:ext cx="352044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pic>
        <p:nvPicPr>
          <p:cNvPr id="14" name="Image 2" descr="preencoded.png">    </p:cNvPr>
          <p:cNvPicPr>
            <a:picLocks noChangeAspect="1"/>
          </p:cNvPicPr>
          <p:nvPr/>
        </p:nvPicPr>
        <p:blipFill>
          <a:blip r:embed="rId3"/>
          <a:stretch>
            <a:fillRect/>
          </a:stretch>
        </p:blipFill>
        <p:spPr>
          <a:xfrm>
            <a:off x="8321040" y="1572768"/>
            <a:ext cx="292608" cy="292608"/>
          </a:xfrm>
          <a:prstGeom prst="rect">
            <a:avLst/>
          </a:prstGeom>
        </p:spPr>
      </p:pic>
      <p:sp>
        <p:nvSpPr>
          <p:cNvPr id="15" name="Text 10"/>
          <p:cNvSpPr txBox="1"/>
          <p:nvPr/>
        </p:nvSpPr>
        <p:spPr>
          <a:xfrm>
            <a:off x="8732520"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Parser tuned to one PDF</a:t>
            </a:r>
            <a:endParaRPr lang="en-US" sz="1500" dirty="0"/>
          </a:p>
        </p:txBody>
      </p:sp>
      <p:sp>
        <p:nvSpPr>
          <p:cNvPr id="16" name="Text 11"/>
          <p:cNvSpPr txBox="1"/>
          <p:nvPr/>
        </p:nvSpPr>
        <p:spPr>
          <a:xfrm>
            <a:off x="8321040" y="2057400"/>
            <a:ext cx="306324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8.0 / 2.0 / 8.0 pt thresholds measured here</a:t>
            </a:r>
            <a:endParaRPr lang="en-US" sz="1400" dirty="0"/>
          </a:p>
        </p:txBody>
      </p:sp>
      <p:sp>
        <p:nvSpPr>
          <p:cNvPr id="17" name="Text 12"/>
          <p:cNvSpPr txBox="1"/>
          <p:nvPr/>
        </p:nvSpPr>
        <p:spPr>
          <a:xfrm>
            <a:off x="8321040" y="2743200"/>
            <a:ext cx="3063240" cy="7315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Next: </a:t>
            </a:r>
            <a:pPr indent="0" marL="0">
              <a:buNone/>
            </a:pPr>
            <a:r>
              <a:rPr lang="en-US" sz="1400" dirty="0">
                <a:solidFill>
                  <a:schemeClr val="tx1"/>
                </a:solidFill>
                <a:latin typeface="Calibri" pitchFamily="34" charset="0"/>
                <a:ea typeface="Calibri" pitchFamily="34" charset="-122"/>
                <a:cs typeface="Calibri" pitchFamily="34" charset="-120"/>
              </a:rPr>
              <a:t>Keep fixtures; re-measure for a new layout</a:t>
            </a:r>
            <a:endParaRPr lang="en-US" sz="1400" dirty="0"/>
          </a:p>
        </p:txBody>
      </p:sp>
      <p:sp>
        <p:nvSpPr>
          <p:cNvPr id="18" name="lim-3"/>
          <p:cNvSpPr/>
          <p:nvPr/>
        </p:nvSpPr>
        <p:spPr>
          <a:xfrm>
            <a:off x="548640" y="3703320"/>
            <a:ext cx="352044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pic>
        <p:nvPicPr>
          <p:cNvPr id="19" name="Image 3" descr="preencoded.png">    </p:cNvPr>
          <p:cNvPicPr>
            <a:picLocks noChangeAspect="1"/>
          </p:cNvPicPr>
          <p:nvPr/>
        </p:nvPicPr>
        <p:blipFill>
          <a:blip r:embed="rId4"/>
          <a:stretch>
            <a:fillRect/>
          </a:stretch>
        </p:blipFill>
        <p:spPr>
          <a:xfrm>
            <a:off x="777240" y="3904488"/>
            <a:ext cx="292608" cy="292608"/>
          </a:xfrm>
          <a:prstGeom prst="rect">
            <a:avLst/>
          </a:prstGeom>
        </p:spPr>
      </p:pic>
      <p:sp>
        <p:nvSpPr>
          <p:cNvPr id="20" name="Text 14"/>
          <p:cNvSpPr txBox="1"/>
          <p:nvPr/>
        </p:nvSpPr>
        <p:spPr>
          <a:xfrm>
            <a:off x="1188720" y="3840480"/>
            <a:ext cx="26974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Grounding check is one-sided</a:t>
            </a:r>
            <a:endParaRPr lang="en-US" sz="1500" dirty="0"/>
          </a:p>
        </p:txBody>
      </p:sp>
      <p:sp>
        <p:nvSpPr>
          <p:cNvPr id="21" name="Text 15"/>
          <p:cNvSpPr txBox="1"/>
          <p:nvPr/>
        </p:nvSpPr>
        <p:spPr>
          <a:xfrm>
            <a:off x="777240" y="4389120"/>
            <a:ext cx="306324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Verifies roles present, not that nothing extra appeared</a:t>
            </a:r>
            <a:endParaRPr lang="en-US" sz="1400" dirty="0"/>
          </a:p>
        </p:txBody>
      </p:sp>
      <p:sp>
        <p:nvSpPr>
          <p:cNvPr id="22" name="Text 16"/>
          <p:cNvSpPr txBox="1"/>
          <p:nvPr/>
        </p:nvSpPr>
        <p:spPr>
          <a:xfrm>
            <a:off x="777240" y="5074920"/>
            <a:ext cx="3063240" cy="7315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Next: </a:t>
            </a:r>
            <a:pPr indent="0" marL="0">
              <a:buNone/>
            </a:pPr>
            <a:r>
              <a:rPr lang="en-US" sz="1400" dirty="0">
                <a:solidFill>
                  <a:schemeClr val="tx1"/>
                </a:solidFill>
                <a:latin typeface="Calibri" pitchFamily="34" charset="0"/>
                <a:ea typeface="Calibri" pitchFamily="34" charset="-122"/>
                <a:cs typeface="Calibri" pitchFamily="34" charset="-120"/>
              </a:rPr>
              <a:t>Add an unlisted-role and level check</a:t>
            </a:r>
            <a:endParaRPr lang="en-US" sz="1400" dirty="0"/>
          </a:p>
        </p:txBody>
      </p:sp>
      <p:sp>
        <p:nvSpPr>
          <p:cNvPr id="23" name="lim-4"/>
          <p:cNvSpPr/>
          <p:nvPr/>
        </p:nvSpPr>
        <p:spPr>
          <a:xfrm>
            <a:off x="4320540" y="3703320"/>
            <a:ext cx="352044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pic>
        <p:nvPicPr>
          <p:cNvPr id="24" name="Image 4" descr="preencoded.png">    </p:cNvPr>
          <p:cNvPicPr>
            <a:picLocks noChangeAspect="1"/>
          </p:cNvPicPr>
          <p:nvPr/>
        </p:nvPicPr>
        <p:blipFill>
          <a:blip r:embed="rId5"/>
          <a:stretch>
            <a:fillRect/>
          </a:stretch>
        </p:blipFill>
        <p:spPr>
          <a:xfrm>
            <a:off x="4549140" y="3904488"/>
            <a:ext cx="292608" cy="292608"/>
          </a:xfrm>
          <a:prstGeom prst="rect">
            <a:avLst/>
          </a:prstGeom>
        </p:spPr>
      </p:pic>
      <p:sp>
        <p:nvSpPr>
          <p:cNvPr id="25" name="Text 18"/>
          <p:cNvSpPr txBox="1"/>
          <p:nvPr/>
        </p:nvSpPr>
        <p:spPr>
          <a:xfrm>
            <a:off x="4960620" y="3840480"/>
            <a:ext cx="26974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Single-instance state</a:t>
            </a:r>
            <a:endParaRPr lang="en-US" sz="1500" dirty="0"/>
          </a:p>
        </p:txBody>
      </p:sp>
      <p:sp>
        <p:nvSpPr>
          <p:cNvPr id="26" name="Text 19"/>
          <p:cNvSpPr txBox="1"/>
          <p:nvPr/>
        </p:nvSpPr>
        <p:spPr>
          <a:xfrm>
            <a:off x="4549140" y="4389120"/>
            <a:ext cx="306324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Rate limiter and SSE hub live in process memory</a:t>
            </a:r>
            <a:endParaRPr lang="en-US" sz="1400" dirty="0"/>
          </a:p>
        </p:txBody>
      </p:sp>
      <p:sp>
        <p:nvSpPr>
          <p:cNvPr id="27" name="Text 20"/>
          <p:cNvSpPr txBox="1"/>
          <p:nvPr/>
        </p:nvSpPr>
        <p:spPr>
          <a:xfrm>
            <a:off x="4549140" y="5074920"/>
            <a:ext cx="3063240" cy="7315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Next: </a:t>
            </a:r>
            <a:pPr indent="0" marL="0">
              <a:buNone/>
            </a:pPr>
            <a:r>
              <a:rPr lang="en-US" sz="1400" dirty="0">
                <a:solidFill>
                  <a:schemeClr val="tx1"/>
                </a:solidFill>
                <a:latin typeface="Calibri" pitchFamily="34" charset="0"/>
                <a:ea typeface="Calibri" pitchFamily="34" charset="-122"/>
                <a:cs typeface="Calibri" pitchFamily="34" charset="-120"/>
              </a:rPr>
              <a:t>Redis for both before scaling out</a:t>
            </a:r>
            <a:endParaRPr lang="en-US" sz="1400" dirty="0"/>
          </a:p>
        </p:txBody>
      </p:sp>
      <p:sp>
        <p:nvSpPr>
          <p:cNvPr id="28" name="lim-5"/>
          <p:cNvSpPr/>
          <p:nvPr/>
        </p:nvSpPr>
        <p:spPr>
          <a:xfrm>
            <a:off x="8092440" y="3703320"/>
            <a:ext cx="352044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pic>
        <p:nvPicPr>
          <p:cNvPr id="29" name="Image 5" descr="preencoded.png">    </p:cNvPr>
          <p:cNvPicPr>
            <a:picLocks noChangeAspect="1"/>
          </p:cNvPicPr>
          <p:nvPr/>
        </p:nvPicPr>
        <p:blipFill>
          <a:blip r:embed="rId6"/>
          <a:stretch>
            <a:fillRect/>
          </a:stretch>
        </p:blipFill>
        <p:spPr>
          <a:xfrm>
            <a:off x="8321040" y="3904488"/>
            <a:ext cx="292608" cy="292608"/>
          </a:xfrm>
          <a:prstGeom prst="rect">
            <a:avLst/>
          </a:prstGeom>
        </p:spPr>
      </p:pic>
      <p:sp>
        <p:nvSpPr>
          <p:cNvPr id="30" name="Text 22"/>
          <p:cNvSpPr txBox="1"/>
          <p:nvPr/>
        </p:nvSpPr>
        <p:spPr>
          <a:xfrm>
            <a:off x="8732520" y="3840480"/>
            <a:ext cx="269748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Keyword intent, first match wins</a:t>
            </a:r>
            <a:endParaRPr lang="en-US" sz="1500" dirty="0"/>
          </a:p>
        </p:txBody>
      </p:sp>
      <p:sp>
        <p:nvSpPr>
          <p:cNvPr id="31" name="Text 23"/>
          <p:cNvSpPr txBox="1"/>
          <p:nvPr/>
        </p:nvSpPr>
        <p:spPr>
          <a:xfrm>
            <a:off x="8321040" y="4389120"/>
            <a:ext cx="306324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Substring match; two verbs in one question answer one</a:t>
            </a:r>
            <a:endParaRPr lang="en-US" sz="1400" dirty="0"/>
          </a:p>
        </p:txBody>
      </p:sp>
      <p:sp>
        <p:nvSpPr>
          <p:cNvPr id="32" name="Text 24"/>
          <p:cNvSpPr txBox="1"/>
          <p:nvPr/>
        </p:nvSpPr>
        <p:spPr>
          <a:xfrm>
            <a:off x="8321040" y="5074920"/>
            <a:ext cx="3063240" cy="7315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Next: </a:t>
            </a:r>
            <a:pPr indent="0" marL="0">
              <a:buNone/>
            </a:pPr>
            <a:r>
              <a:rPr lang="en-US" sz="1400" dirty="0">
                <a:solidFill>
                  <a:schemeClr val="tx1"/>
                </a:solidFill>
                <a:latin typeface="Calibri" pitchFamily="34" charset="0"/>
                <a:ea typeface="Calibri" pitchFamily="34" charset="-122"/>
                <a:cs typeface="Calibri" pitchFamily="34" charset="-120"/>
              </a:rPr>
              <a:t>Score all intents; ask when ambiguous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Jury questions: the approach (1 of 3)</a:t>
            </a:r>
            <a:endParaRPr lang="en-US" sz="3400" dirty="0"/>
          </a:p>
        </p:txBody>
      </p:sp>
      <p:sp>
        <p:nvSpPr>
          <p:cNvPr id="3" name="qa- of 3)0"/>
          <p:cNvSpPr/>
          <p:nvPr/>
        </p:nvSpPr>
        <p:spPr>
          <a:xfrm>
            <a:off x="548640" y="1371600"/>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822960" y="1499616"/>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5" name="Text 3"/>
          <p:cNvSpPr txBox="1"/>
          <p:nvPr/>
        </p:nvSpPr>
        <p:spPr>
          <a:xfrm>
            <a:off x="1371600" y="1517904"/>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Why not just give the PDF to an LLM?</a:t>
            </a:r>
            <a:endParaRPr lang="en-US" sz="1900" dirty="0"/>
          </a:p>
        </p:txBody>
      </p:sp>
      <p:sp>
        <p:nvSpPr>
          <p:cNvPr id="6" name="Text 4"/>
          <p:cNvSpPr txBox="1"/>
          <p:nvPr/>
        </p:nvSpPr>
        <p:spPr>
          <a:xfrm>
            <a:off x="1371600" y="1993392"/>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Because a fluent wrong approver looks legitimate. Retrieval is deterministic and every role comes from the graph; the LLM only restyles, and a verifier checks it.</a:t>
            </a:r>
            <a:endParaRPr lang="en-US" sz="1500" dirty="0"/>
          </a:p>
        </p:txBody>
      </p:sp>
      <p:sp>
        <p:nvSpPr>
          <p:cNvPr id="7" name="qa- of 3)1"/>
          <p:cNvSpPr/>
          <p:nvPr/>
        </p:nvSpPr>
        <p:spPr>
          <a:xfrm>
            <a:off x="548640" y="2999232"/>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822960" y="3127248"/>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9" name="Text 7"/>
          <p:cNvSpPr txBox="1"/>
          <p:nvPr/>
        </p:nvSpPr>
        <p:spPr>
          <a:xfrm>
            <a:off x="1371600" y="3145536"/>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Why TF-IDF in 2026?</a:t>
            </a:r>
            <a:endParaRPr lang="en-US" sz="1900" dirty="0"/>
          </a:p>
        </p:txBody>
      </p:sp>
      <p:sp>
        <p:nvSpPr>
          <p:cNvPr id="10" name="Text 8"/>
          <p:cNvSpPr txBox="1"/>
          <p:nvPr/>
        </p:nvSpPr>
        <p:spPr>
          <a:xfrm>
            <a:off x="1371600" y="3621024"/>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327 short titles, no labeled pairs, explainable scores, a light install. The gap is paraphrase; intent synonyms and typo correction narrow it, and an embedding reranker is the stated next step.</a:t>
            </a:r>
            <a:endParaRPr lang="en-US" sz="1500" dirty="0"/>
          </a:p>
        </p:txBody>
      </p:sp>
      <p:sp>
        <p:nvSpPr>
          <p:cNvPr id="11" name="qa- of 3)2"/>
          <p:cNvSpPr/>
          <p:nvPr/>
        </p:nvSpPr>
        <p:spPr>
          <a:xfrm>
            <a:off x="548640" y="4626864"/>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2" name="Text 10"/>
          <p:cNvSpPr txBox="1"/>
          <p:nvPr/>
        </p:nvSpPr>
        <p:spPr>
          <a:xfrm>
            <a:off x="822960" y="4754880"/>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13" name="Text 11"/>
          <p:cNvSpPr txBox="1"/>
          <p:nvPr/>
        </p:nvSpPr>
        <p:spPr>
          <a:xfrm>
            <a:off x="1371600" y="4773168"/>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How do you know the parser is correct?</a:t>
            </a:r>
            <a:endParaRPr lang="en-US" sz="1900" dirty="0"/>
          </a:p>
        </p:txBody>
      </p:sp>
      <p:sp>
        <p:nvSpPr>
          <p:cNvPr id="14" name="Text 12"/>
          <p:cNvSpPr txBox="1"/>
          <p:nvPr/>
        </p:nvSpPr>
        <p:spPr>
          <a:xfrm>
            <a:off x="1371600" y="5248656"/>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Checked on real pages and screenshots, with each bug turned into a fixture. 0.56% of roles stay unresolved and are reported. I have not done a full ground-truth audit of all 1,776 rows.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Jury questions: the AI layer (2 of 3)</a:t>
            </a:r>
            <a:endParaRPr lang="en-US" sz="3400" dirty="0"/>
          </a:p>
        </p:txBody>
      </p:sp>
      <p:sp>
        <p:nvSpPr>
          <p:cNvPr id="3" name="qa- of 3)0"/>
          <p:cNvSpPr/>
          <p:nvPr/>
        </p:nvSpPr>
        <p:spPr>
          <a:xfrm>
            <a:off x="548640" y="1371600"/>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822960" y="1499616"/>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5" name="Text 3"/>
          <p:cNvSpPr txBox="1"/>
          <p:nvPr/>
        </p:nvSpPr>
        <p:spPr>
          <a:xfrm>
            <a:off x="1371600" y="1517904"/>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Can the LLM still hallucinate?</a:t>
            </a:r>
            <a:endParaRPr lang="en-US" sz="1900" dirty="0"/>
          </a:p>
        </p:txBody>
      </p:sp>
      <p:sp>
        <p:nvSpPr>
          <p:cNvPr id="6" name="Text 4"/>
          <p:cNvSpPr txBox="1"/>
          <p:nvPr/>
        </p:nvSpPr>
        <p:spPr>
          <a:xfrm>
            <a:off x="1371600" y="1993392"/>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Missing or renamed roles are caught and trigger the template fallback. An added role or a changed level is not detected today; the prompt forbids it and temperature is 0.2. A negative check is the fix.</a:t>
            </a:r>
            <a:endParaRPr lang="en-US" sz="1500" dirty="0"/>
          </a:p>
        </p:txBody>
      </p:sp>
      <p:sp>
        <p:nvSpPr>
          <p:cNvPr id="7" name="qa- of 3)1"/>
          <p:cNvSpPr/>
          <p:nvPr/>
        </p:nvSpPr>
        <p:spPr>
          <a:xfrm>
            <a:off x="548640" y="2999232"/>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822960" y="3127248"/>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9" name="Text 7"/>
          <p:cNvSpPr txBox="1"/>
          <p:nvPr/>
        </p:nvSpPr>
        <p:spPr>
          <a:xfrm>
            <a:off x="1371600" y="3145536"/>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What if Groq is down or the key leaks?</a:t>
            </a:r>
            <a:endParaRPr lang="en-US" sz="1900" dirty="0"/>
          </a:p>
        </p:txBody>
      </p:sp>
      <p:sp>
        <p:nvSpPr>
          <p:cNvPr id="10" name="Text 8"/>
          <p:cNvSpPr txBox="1"/>
          <p:nvPr/>
        </p:nvSpPr>
        <p:spPr>
          <a:xfrm>
            <a:off x="1371600" y="3621024"/>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LLMUnavailableError triggers the deterministic answer, so the app works with the LLM off. Keys live only in environment variables and .env is gitignored. A leaked key is rotated at the provider.</a:t>
            </a:r>
            <a:endParaRPr lang="en-US" sz="1500" dirty="0"/>
          </a:p>
        </p:txBody>
      </p:sp>
      <p:sp>
        <p:nvSpPr>
          <p:cNvPr id="11" name="qa- of 3)2"/>
          <p:cNvSpPr/>
          <p:nvPr/>
        </p:nvSpPr>
        <p:spPr>
          <a:xfrm>
            <a:off x="548640" y="4626864"/>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2" name="Text 10"/>
          <p:cNvSpPr txBox="1"/>
          <p:nvPr/>
        </p:nvSpPr>
        <p:spPr>
          <a:xfrm>
            <a:off x="822960" y="4754880"/>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13" name="Text 11"/>
          <p:cNvSpPr txBox="1"/>
          <p:nvPr/>
        </p:nvSpPr>
        <p:spPr>
          <a:xfrm>
            <a:off x="1371600" y="4773168"/>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Why not train your own model?</a:t>
            </a:r>
            <a:endParaRPr lang="en-US" sz="1900" dirty="0"/>
          </a:p>
        </p:txBody>
      </p:sp>
      <p:sp>
        <p:nvSpPr>
          <p:cNvPr id="14" name="Text 12"/>
          <p:cNvSpPr txBox="1"/>
          <p:nvPr/>
        </p:nvSpPr>
        <p:spPr>
          <a:xfrm>
            <a:off x="1371600" y="5248656"/>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With 327 titles and no labeled queries it would overfit and look better without being better. A pretrained model plus a measured benchmark is the honest route.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Jury questions: the platform (3 of 3)</a:t>
            </a:r>
            <a:endParaRPr lang="en-US" sz="3400" dirty="0"/>
          </a:p>
        </p:txBody>
      </p:sp>
      <p:sp>
        <p:nvSpPr>
          <p:cNvPr id="3" name="qa- of 3)0"/>
          <p:cNvSpPr/>
          <p:nvPr/>
        </p:nvSpPr>
        <p:spPr>
          <a:xfrm>
            <a:off x="548640" y="1371600"/>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4" name="Text 2"/>
          <p:cNvSpPr txBox="1"/>
          <p:nvPr/>
        </p:nvSpPr>
        <p:spPr>
          <a:xfrm>
            <a:off x="822960" y="1499616"/>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5" name="Text 3"/>
          <p:cNvSpPr txBox="1"/>
          <p:nvPr/>
        </p:nvSpPr>
        <p:spPr>
          <a:xfrm>
            <a:off x="1371600" y="1517904"/>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Why a graph and not a table?</a:t>
            </a:r>
            <a:endParaRPr lang="en-US" sz="1900" dirty="0"/>
          </a:p>
        </p:txBody>
      </p:sp>
      <p:sp>
        <p:nvSpPr>
          <p:cNvPr id="6" name="Text 4"/>
          <p:cNvSpPr txBox="1"/>
          <p:nvPr/>
        </p:nvSpPr>
        <p:spPr>
          <a:xfrm>
            <a:off x="1371600" y="1993392"/>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Role-to-task is many-to-many with typed edges, and reference redirects (1.117.2 pointing to 2.120) are traversals. NetworkX keeps it in memory, with no server to run.</a:t>
            </a:r>
            <a:endParaRPr lang="en-US" sz="1500" dirty="0"/>
          </a:p>
        </p:txBody>
      </p:sp>
      <p:sp>
        <p:nvSpPr>
          <p:cNvPr id="7" name="qa- of 3)1"/>
          <p:cNvSpPr/>
          <p:nvPr/>
        </p:nvSpPr>
        <p:spPr>
          <a:xfrm>
            <a:off x="548640" y="2999232"/>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822960" y="3127248"/>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9" name="Text 7"/>
          <p:cNvSpPr txBox="1"/>
          <p:nvPr/>
        </p:nvSpPr>
        <p:spPr>
          <a:xfrm>
            <a:off x="1371600" y="3145536"/>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Why JWT in sessionStorage?</a:t>
            </a:r>
            <a:endParaRPr lang="en-US" sz="1900" dirty="0"/>
          </a:p>
        </p:txBody>
      </p:sp>
      <p:sp>
        <p:nvSpPr>
          <p:cNvPr id="10" name="Text 8"/>
          <p:cNvSpPr txBox="1"/>
          <p:nvPr/>
        </p:nvSpPr>
        <p:spPr>
          <a:xfrm>
            <a:off x="1371600" y="3621024"/>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stateless API on one small service. Trade-off: a script-readable token versus a cookie plus CSRF handling. The eight-hour expiry bounds the exposure.</a:t>
            </a:r>
            <a:endParaRPr lang="en-US" sz="1500" dirty="0"/>
          </a:p>
        </p:txBody>
      </p:sp>
      <p:sp>
        <p:nvSpPr>
          <p:cNvPr id="11" name="qa- of 3)2"/>
          <p:cNvSpPr/>
          <p:nvPr/>
        </p:nvSpPr>
        <p:spPr>
          <a:xfrm>
            <a:off x="548640" y="4626864"/>
            <a:ext cx="11094415" cy="1481328"/>
          </a:xfrm>
          <a:prstGeom prst="roundRect">
            <a:avLst>
              <a:gd name="adj" fmla="val 4938"/>
            </a:avLst>
          </a:prstGeom>
          <a:solidFill>
            <a:schemeClr val="bg2"/>
          </a:solidFill>
          <a:ln w="12700">
            <a:solidFill>
              <a:schemeClr val="bg2"/>
            </a:solidFill>
            <a:prstDash val="solid"/>
          </a:ln>
          <a:effectLst>
            <a:outerShdw sx="100000" sy="100000" kx="0" ky="0" algn="bl" rotWithShape="0" blurRad="101600" dist="25400" dir="5400000">
              <a:srgbClr val="1B2A28">
                <a:alpha val="12000"/>
              </a:srgbClr>
            </a:outerShdw>
          </a:effectLst>
        </p:spPr>
      </p:sp>
      <p:sp>
        <p:nvSpPr>
          <p:cNvPr id="12" name="Text 10"/>
          <p:cNvSpPr txBox="1"/>
          <p:nvPr/>
        </p:nvSpPr>
        <p:spPr>
          <a:xfrm>
            <a:off x="822960" y="4754880"/>
            <a:ext cx="45720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Q</a:t>
            </a:r>
            <a:endParaRPr lang="en-US" sz="2400" dirty="0"/>
          </a:p>
        </p:txBody>
      </p:sp>
      <p:sp>
        <p:nvSpPr>
          <p:cNvPr id="13" name="Text 11"/>
          <p:cNvSpPr txBox="1"/>
          <p:nvPr/>
        </p:nvSpPr>
        <p:spPr>
          <a:xfrm>
            <a:off x="1371600" y="4773168"/>
            <a:ext cx="9905695" cy="41148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How would it scale?</a:t>
            </a:r>
            <a:endParaRPr lang="en-US" sz="1900" dirty="0"/>
          </a:p>
        </p:txBody>
      </p:sp>
      <p:sp>
        <p:nvSpPr>
          <p:cNvPr id="14" name="Text 12"/>
          <p:cNvSpPr txBox="1"/>
          <p:nvPr/>
        </p:nvSpPr>
        <p:spPr>
          <a:xfrm>
            <a:off x="1371600" y="5248656"/>
            <a:ext cx="9905695" cy="804672"/>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graph is immutable and cheap to replicate. Only the SSE hub and the rate limiter hold state in process memory, and both move to Redis before running several instances.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548640"/>
            <a:ext cx="5486400" cy="6400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Live demo path</a:t>
            </a:r>
            <a:endParaRPr lang="en-US" sz="3600" dirty="0"/>
          </a:p>
        </p:txBody>
      </p:sp>
      <p:sp>
        <p:nvSpPr>
          <p:cNvPr id="3" name="num-1"/>
          <p:cNvSpPr/>
          <p:nvPr/>
        </p:nvSpPr>
        <p:spPr>
          <a:xfrm>
            <a:off x="548640" y="146304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34440" y="1417320"/>
            <a:ext cx="630936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who approves 2.126</a:t>
            </a:r>
            <a:endParaRPr lang="en-US" sz="1600" dirty="0"/>
          </a:p>
        </p:txBody>
      </p:sp>
      <p:sp>
        <p:nvSpPr>
          <p:cNvPr id="6" name="Text 4"/>
          <p:cNvSpPr txBox="1"/>
          <p:nvPr/>
        </p:nvSpPr>
        <p:spPr>
          <a:xfrm>
            <a:off x="1234440" y="1764792"/>
            <a:ext cx="63093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id lookup: certainty, plus mandatory notes</a:t>
            </a:r>
            <a:endParaRPr lang="en-US" sz="1300" dirty="0"/>
          </a:p>
        </p:txBody>
      </p:sp>
      <p:sp>
        <p:nvSpPr>
          <p:cNvPr id="7" name="num-2"/>
          <p:cNvSpPr/>
          <p:nvPr/>
        </p:nvSpPr>
        <p:spPr>
          <a:xfrm>
            <a:off x="548640" y="2212848"/>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 y="2212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34440" y="2167128"/>
            <a:ext cx="630936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who needs to be informed for quarterly mission program</a:t>
            </a:r>
            <a:endParaRPr lang="en-US" sz="1600" dirty="0"/>
          </a:p>
        </p:txBody>
      </p:sp>
      <p:sp>
        <p:nvSpPr>
          <p:cNvPr id="10" name="Text 8"/>
          <p:cNvSpPr txBox="1"/>
          <p:nvPr/>
        </p:nvSpPr>
        <p:spPr>
          <a:xfrm>
            <a:off x="1234440" y="2514600"/>
            <a:ext cx="63093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text search, same node</a:t>
            </a:r>
            <a:endParaRPr lang="en-US" sz="1300" dirty="0"/>
          </a:p>
        </p:txBody>
      </p:sp>
      <p:sp>
        <p:nvSpPr>
          <p:cNvPr id="11" name="num-3"/>
          <p:cNvSpPr/>
          <p:nvPr/>
        </p:nvSpPr>
        <p:spPr>
          <a:xfrm>
            <a:off x="548640" y="2962656"/>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548640" y="29626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234440" y="2916936"/>
            <a:ext cx="630936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who aproves the qaurterly mision program</a:t>
            </a:r>
            <a:endParaRPr lang="en-US" sz="1600" dirty="0"/>
          </a:p>
        </p:txBody>
      </p:sp>
      <p:sp>
        <p:nvSpPr>
          <p:cNvPr id="14" name="Text 12"/>
          <p:cNvSpPr txBox="1"/>
          <p:nvPr/>
        </p:nvSpPr>
        <p:spPr>
          <a:xfrm>
            <a:off x="1234440" y="3264408"/>
            <a:ext cx="63093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typo tolerance, same answer</a:t>
            </a:r>
            <a:endParaRPr lang="en-US" sz="1300" dirty="0"/>
          </a:p>
        </p:txBody>
      </p:sp>
      <p:sp>
        <p:nvSpPr>
          <p:cNvPr id="15" name="num-4"/>
          <p:cNvSpPr/>
          <p:nvPr/>
        </p:nvSpPr>
        <p:spPr>
          <a:xfrm>
            <a:off x="548640" y="3712464"/>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548640" y="37124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234440" y="3666744"/>
            <a:ext cx="630936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what does DDG stand for</a:t>
            </a:r>
            <a:endParaRPr lang="en-US" sz="1600" dirty="0"/>
          </a:p>
        </p:txBody>
      </p:sp>
      <p:sp>
        <p:nvSpPr>
          <p:cNvPr id="18" name="Text 16"/>
          <p:cNvSpPr txBox="1"/>
          <p:nvPr/>
        </p:nvSpPr>
        <p:spPr>
          <a:xfrm>
            <a:off x="1234440" y="4014216"/>
            <a:ext cx="63093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glossary, offline</a:t>
            </a:r>
            <a:endParaRPr lang="en-US" sz="1300" dirty="0"/>
          </a:p>
        </p:txBody>
      </p:sp>
      <p:sp>
        <p:nvSpPr>
          <p:cNvPr id="19" name="num-5"/>
          <p:cNvSpPr/>
          <p:nvPr/>
        </p:nvSpPr>
        <p:spPr>
          <a:xfrm>
            <a:off x="548640" y="4462272"/>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548640" y="44622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1234440" y="4416552"/>
            <a:ext cx="630936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who approves 3.999</a:t>
            </a:r>
            <a:endParaRPr lang="en-US" sz="1600" dirty="0"/>
          </a:p>
        </p:txBody>
      </p:sp>
      <p:sp>
        <p:nvSpPr>
          <p:cNvPr id="22" name="Text 20"/>
          <p:cNvSpPr txBox="1"/>
          <p:nvPr/>
        </p:nvSpPr>
        <p:spPr>
          <a:xfrm>
            <a:off x="1234440" y="4764024"/>
            <a:ext cx="63093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a code that doesn't exist: honest refusal</a:t>
            </a:r>
            <a:endParaRPr lang="en-US" sz="1300" dirty="0"/>
          </a:p>
        </p:txBody>
      </p:sp>
      <p:sp>
        <p:nvSpPr>
          <p:cNvPr id="23" name="num-6"/>
          <p:cNvSpPr/>
          <p:nvPr/>
        </p:nvSpPr>
        <p:spPr>
          <a:xfrm>
            <a:off x="548640" y="5212080"/>
            <a:ext cx="457200" cy="457200"/>
          </a:xfrm>
          <a:prstGeom prst="ellipse">
            <a:avLst/>
          </a:prstGeom>
          <a:solidFill>
            <a:schemeClr val="accent1"/>
          </a:solidFill>
          <a:ln w="12700">
            <a:solidFill>
              <a:schemeClr val="accent1"/>
            </a:solidFill>
            <a:prstDash val="solid"/>
          </a:ln>
        </p:spPr>
      </p:sp>
      <p:sp>
        <p:nvSpPr>
          <p:cNvPr id="24" name="Text 22"/>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6</a:t>
            </a:r>
            <a:endParaRPr lang="en-US" sz="1600" dirty="0"/>
          </a:p>
        </p:txBody>
      </p:sp>
      <p:sp>
        <p:nvSpPr>
          <p:cNvPr id="25" name="Text 23"/>
          <p:cNvSpPr txBox="1"/>
          <p:nvPr/>
        </p:nvSpPr>
        <p:spPr>
          <a:xfrm>
            <a:off x="1234440" y="5166360"/>
            <a:ext cx="630936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the same question in French, picker on Auto</a:t>
            </a:r>
            <a:endParaRPr lang="en-US" sz="1600" dirty="0"/>
          </a:p>
        </p:txBody>
      </p:sp>
      <p:sp>
        <p:nvSpPr>
          <p:cNvPr id="26" name="Text 24"/>
          <p:cNvSpPr txBox="1"/>
          <p:nvPr/>
        </p:nvSpPr>
        <p:spPr>
          <a:xfrm>
            <a:off x="1234440" y="5513832"/>
            <a:ext cx="63093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UI and answer switch language</a:t>
            </a:r>
            <a:endParaRPr lang="en-US" sz="1300" dirty="0"/>
          </a:p>
        </p:txBody>
      </p:sp>
      <p:sp>
        <p:nvSpPr>
          <p:cNvPr id="27" name="next-card"/>
          <p:cNvSpPr/>
          <p:nvPr/>
        </p:nvSpPr>
        <p:spPr>
          <a:xfrm>
            <a:off x="7955280" y="1371600"/>
            <a:ext cx="3687775" cy="4526280"/>
          </a:xfrm>
          <a:prstGeom prst="roundRect">
            <a:avLst>
              <a:gd name="adj" fmla="val 1984"/>
            </a:avLst>
          </a:prstGeom>
          <a:solidFill>
            <a:schemeClr val="accent2"/>
          </a:solidFill>
          <a:ln w="12700">
            <a:solidFill>
              <a:schemeClr val="accent2"/>
            </a:solidFill>
            <a:prstDash val="solid"/>
          </a:ln>
        </p:spPr>
      </p:sp>
      <p:sp>
        <p:nvSpPr>
          <p:cNvPr id="28" name="Text 26"/>
          <p:cNvSpPr txBox="1"/>
          <p:nvPr/>
        </p:nvSpPr>
        <p:spPr>
          <a:xfrm>
            <a:off x="8229600" y="1554480"/>
            <a:ext cx="3139135"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Next steps</a:t>
            </a:r>
            <a:endParaRPr lang="en-US" sz="2400" dirty="0"/>
          </a:p>
        </p:txBody>
      </p:sp>
      <p:sp>
        <p:nvSpPr>
          <p:cNvPr id="29" name="Text 27"/>
          <p:cNvSpPr txBox="1"/>
          <p:nvPr/>
        </p:nvSpPr>
        <p:spPr>
          <a:xfrm>
            <a:off x="8229600" y="2148840"/>
            <a:ext cx="3139135"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50-question gold set and a retrieval KPI</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Embedding reranker on TF-IDF top 5</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Negative grounding check for extra roles</a:t>
            </a:r>
            <a:endParaRPr lang="en-US" sz="1500" dirty="0"/>
          </a:p>
          <a:p>
            <a:pPr marL="342900" indent="-342900">
              <a:buSzPct val="100000"/>
              <a:buChar char="•"/>
            </a:pPr>
            <a:r>
              <a:rPr lang="en-US" sz="1500" dirty="0">
                <a:solidFill>
                  <a:schemeClr val="bg1"/>
                </a:solidFill>
                <a:latin typeface="Calibri" pitchFamily="34" charset="0"/>
                <a:ea typeface="Calibri" pitchFamily="34" charset="-122"/>
                <a:cs typeface="Calibri" pitchFamily="34" charset="-120"/>
              </a:rPr>
              <a:t>Hermetic CI and component tests</a:t>
            </a:r>
            <a:endParaRPr lang="en-US" sz="1500" dirty="0"/>
          </a:p>
        </p:txBody>
      </p:sp>
      <p:sp>
        <p:nvSpPr>
          <p:cNvPr id="30" name="Text 28"/>
          <p:cNvSpPr txBox="1"/>
          <p:nvPr/>
        </p:nvSpPr>
        <p:spPr>
          <a:xfrm>
            <a:off x="548640" y="5989320"/>
            <a:ext cx="64008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Thank you. Questions?</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DAM Defense">
  <a:themeElements>
    <a:clrScheme name="DAM Defense">
      <a:dk1>
        <a:srgbClr val="1B2A28"/>
      </a:dk1>
      <a:lt1>
        <a:srgbClr val="FFFFFF"/>
      </a:lt1>
      <a:dk2>
        <a:srgbClr val="0F3B36"/>
      </a:dk2>
      <a:lt2>
        <a:srgbClr val="E7F1EF"/>
      </a:lt2>
      <a:accent1>
        <a:srgbClr val="E8A33D"/>
      </a:accent1>
      <a:accent2>
        <a:srgbClr val="2A7F77"/>
      </a:accent2>
      <a:accent3>
        <a:srgbClr val="C8553D"/>
      </a:accent3>
      <a:accent4>
        <a:srgbClr val="5B6B69"/>
      </a:accent4>
      <a:accent5>
        <a:srgbClr val="9DC3BD"/>
      </a:accent5>
      <a:accent6>
        <a:srgbClr val="F6E3BC"/>
      </a:accent6>
      <a:hlink>
        <a:srgbClr val="2A7F77"/>
      </a:hlink>
      <a:folHlink>
        <a:srgbClr val="5B6B69"/>
      </a:folHlink>
    </a:clrScheme>
    <a:fontScheme name="DAM Def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DAM AI Agent: technical defense</dc:title>
  <dc:subject>PptxGenJS Presentation</dc:subject>
  <dc:creator>Adem Mrabet</dc:creator>
  <cp:lastModifiedBy>Adem Mrabet</cp:lastModifiedBy>
  <cp:revision>1</cp:revision>
  <dcterms:created xsi:type="dcterms:W3CDTF">2026-10-13T17:07:46Z</dcterms:created>
  <dcterms:modified xsi:type="dcterms:W3CDTF">2026-10-13T17:07:46Z</dcterms:modified>
</cp:coreProperties>
</file>